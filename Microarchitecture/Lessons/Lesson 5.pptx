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26"/>
  </p:notesMasterIdLst>
  <p:handoutMasterIdLst>
    <p:handoutMasterId r:id="rId27"/>
  </p:handoutMasterIdLst>
  <p:sldIdLst>
    <p:sldId id="262" r:id="rId2"/>
    <p:sldId id="415" r:id="rId3"/>
    <p:sldId id="432" r:id="rId4"/>
    <p:sldId id="435" r:id="rId5"/>
    <p:sldId id="433" r:id="rId6"/>
    <p:sldId id="416" r:id="rId7"/>
    <p:sldId id="431" r:id="rId8"/>
    <p:sldId id="434" r:id="rId9"/>
    <p:sldId id="440" r:id="rId10"/>
    <p:sldId id="438" r:id="rId11"/>
    <p:sldId id="437" r:id="rId12"/>
    <p:sldId id="439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5" r:id="rId23"/>
    <p:sldId id="456" r:id="rId24"/>
    <p:sldId id="430" r:id="rId25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FF33"/>
    <a:srgbClr val="5449E1"/>
    <a:srgbClr val="210C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99" d="100"/>
          <a:sy n="99" d="100"/>
        </p:scale>
        <p:origin x="184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struction_pipelining" TargetMode="External"/><Relationship Id="rId2" Type="http://schemas.openxmlformats.org/officeDocument/2006/relationships/hyperlink" Target="http://www.eecs.harvard.edu/cs146-246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uperscalar_processor" TargetMode="External"/><Relationship Id="rId5" Type="http://schemas.openxmlformats.org/officeDocument/2006/relationships/hyperlink" Target="https://www.cise.ufl.edu/~mssz/CompOrg/CDA-proc.html#:~:text=Processor%20(CPU)%20is%20the%20active,%2C%20registers%2C%20and%20internal%20buses" TargetMode="External"/><Relationship Id="rId4" Type="http://schemas.openxmlformats.org/officeDocument/2006/relationships/hyperlink" Target="https://cstaleem.com/pipelining-and-non-pipelin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Architecture ECE4375 / ECE5375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Parts of a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Non-Pipelined CPUs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Hazards introduction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 File </a:t>
            </a:r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Parts of a CPU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Datapath: Hardware that performs all required operations within a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Control: Hardware that tells the </a:t>
            </a:r>
            <a:r>
              <a:rPr lang="en-US" dirty="0" err="1"/>
              <a:t>datapath</a:t>
            </a:r>
            <a:r>
              <a:rPr lang="en-US" dirty="0"/>
              <a:t> what to do to process the instructions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Decoder –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Arithmetic Logic Unit (ALU / FU) - Datapath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 File – Datapath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 / Data Memory – Datapath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Pipeline Registers – Datapath </a:t>
            </a:r>
            <a:br>
              <a:rPr lang="en-US" dirty="0"/>
            </a:br>
            <a:r>
              <a:rPr lang="en-US" dirty="0"/>
              <a:t>(pipelined only)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438969-A9CA-A83B-D44C-817C2B51D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208" y="2136633"/>
            <a:ext cx="3383985" cy="435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7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Cycle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Stage: Next instruction if fetched from memory and placed in the instruction register (IR)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Decode Stage: Once in the IR a control word is generated to manipulate the </a:t>
            </a:r>
            <a:r>
              <a:rPr lang="en-US" dirty="0" err="1"/>
              <a:t>datapath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Execute Stage: The ALU perform the required operation.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Writeback Stage: The results of the operation are written back into the register file.</a:t>
            </a:r>
          </a:p>
        </p:txBody>
      </p:sp>
    </p:spTree>
    <p:extLst>
      <p:ext uri="{BB962C8B-B14F-4D97-AF65-F5344CB8AC3E}">
        <p14:creationId xmlns:p14="http://schemas.microsoft.com/office/powerpoint/2010/main" val="417910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a Non-Pipelined/Sequential CPU?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CPU that executes one instruction per clock cycle using a state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all the work in a single stage (a large 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Runs at relatively low frequencies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Execution takes relatively larger number of cycles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8" name="Picture 4" descr="non-pipelining in COA">
            <a:extLst>
              <a:ext uri="{FF2B5EF4-FFF2-40B4-BE49-F238E27FC236}">
                <a16:creationId xmlns:a16="http://schemas.microsoft.com/office/drawing/2014/main" id="{7943F8BB-4F0D-1B7E-4E69-CEE363A07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90" y="3578984"/>
            <a:ext cx="7392019" cy="273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12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Pipelining?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Technique for implementing instruction-level parallelism within a single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objective is to ensure that all parts of a CPU are always in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Otherwise, it would be wasteful!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Divide instructions into sequential steps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These steps are performed by different CPU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instruction parts are processed in parallel</a:t>
            </a:r>
          </a:p>
        </p:txBody>
      </p:sp>
      <p:pic>
        <p:nvPicPr>
          <p:cNvPr id="9" name="Picture 2" descr="Pipelining in COA">
            <a:extLst>
              <a:ext uri="{FF2B5EF4-FFF2-40B4-BE49-F238E27FC236}">
                <a16:creationId xmlns:a16="http://schemas.microsoft.com/office/drawing/2014/main" id="{B6AFB899-9FB8-4060-5B9B-C9035DFB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439" y="4157043"/>
            <a:ext cx="4408653" cy="215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23C0B0-C96B-64D3-32F9-9F4723F25BA6}"/>
              </a:ext>
            </a:extLst>
          </p:cNvPr>
          <p:cNvSpPr txBox="1"/>
          <p:nvPr/>
        </p:nvSpPr>
        <p:spPr>
          <a:xfrm>
            <a:off x="457200" y="4684816"/>
            <a:ext cx="32479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to be confused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Multi-threading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Multi-processing (multiple CPUs)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Superscalar design</a:t>
            </a:r>
          </a:p>
        </p:txBody>
      </p:sp>
    </p:spTree>
    <p:extLst>
      <p:ext uri="{BB962C8B-B14F-4D97-AF65-F5344CB8AC3E}">
        <p14:creationId xmlns:p14="http://schemas.microsoft.com/office/powerpoint/2010/main" val="3966020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Advantages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CPU utilization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clock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Execution rate equal to 1 instruction per cycle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instruction throughput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stages equates to more instructions processed in parallel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Also allows higher frequencies</a:t>
            </a:r>
          </a:p>
        </p:txBody>
      </p:sp>
    </p:spTree>
    <p:extLst>
      <p:ext uri="{BB962C8B-B14F-4D97-AF65-F5344CB8AC3E}">
        <p14:creationId xmlns:p14="http://schemas.microsoft.com/office/powerpoint/2010/main" val="194293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Disadvantages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complexity (in some ways)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latency with increased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design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Pipelining introduces hazards! (more on this later)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Structural hazards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hazards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Control hazards</a:t>
            </a:r>
          </a:p>
        </p:txBody>
      </p:sp>
    </p:spTree>
    <p:extLst>
      <p:ext uri="{BB962C8B-B14F-4D97-AF65-F5344CB8AC3E}">
        <p14:creationId xmlns:p14="http://schemas.microsoft.com/office/powerpoint/2010/main" val="427130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Hazards?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766046"/>
            <a:ext cx="78485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Hazards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Situations that prevent the next instruction from executing in its designated clock cycle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Hazards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two different instructions want to use the same hardware resource in the same cycle (resource conflict)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Hazards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an instruction depends on the result of a previous instruction that exposes overlapping of instructions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 Hazards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Pipelining of PC-modifying instructions (branch, jump, interrupts!)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67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Hazards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two or more instructions in the pipeline require the use of the  same resource (superscalar CPU)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Instructions must then be executed in series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Two instructions add and subtract are in the execute stage. They both need the ALU to execute.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45B482E-F917-9679-F327-814CDCB07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538" y="3117273"/>
            <a:ext cx="5574397" cy="3254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2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instructions that enter the pipeline have data dependencies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After Write (RAW)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Example: (inst. 2 tries to read R2 before inst. 1 writes to it)</a:t>
            </a:r>
            <a:br>
              <a:rPr lang="en-US" dirty="0"/>
            </a:br>
            <a:r>
              <a:rPr lang="en-US" dirty="0"/>
              <a:t>add R2, R5, R3</a:t>
            </a:r>
            <a:br>
              <a:rPr lang="en-US" dirty="0"/>
            </a:br>
            <a:r>
              <a:rPr lang="en-US" dirty="0"/>
              <a:t>add R4, R2, R3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After Read (WAR) - superscalar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Example: (inst. 2 tries to write to R5 before it is read by inst. 1)</a:t>
            </a:r>
            <a:br>
              <a:rPr lang="en-US" dirty="0"/>
            </a:br>
            <a:r>
              <a:rPr lang="en-US" dirty="0"/>
              <a:t>add R4, R1, R5</a:t>
            </a:r>
            <a:br>
              <a:rPr lang="en-US" dirty="0"/>
            </a:br>
            <a:r>
              <a:rPr lang="en-US" dirty="0"/>
              <a:t>add R5, R1, R2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After Write </a:t>
            </a:r>
            <a:r>
              <a:rPr lang="en-US"/>
              <a:t>(WAW) </a:t>
            </a:r>
            <a:r>
              <a:rPr lang="en-US" dirty="0"/>
              <a:t>– superscalar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Example: (inst. 2 tries to write to R2 before it is written by inst. 1)</a:t>
            </a:r>
            <a:br>
              <a:rPr lang="en-US" dirty="0"/>
            </a:br>
            <a:r>
              <a:rPr lang="en-US" dirty="0"/>
              <a:t>add R2, R4, R7</a:t>
            </a:r>
            <a:br>
              <a:rPr lang="en-US" dirty="0"/>
            </a:br>
            <a:r>
              <a:rPr lang="en-US" dirty="0"/>
              <a:t>add R2, R1, R3</a:t>
            </a:r>
          </a:p>
        </p:txBody>
      </p:sp>
    </p:spTree>
    <p:extLst>
      <p:ext uri="{BB962C8B-B14F-4D97-AF65-F5344CB8AC3E}">
        <p14:creationId xmlns:p14="http://schemas.microsoft.com/office/powerpoint/2010/main" val="259847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Control/Branch Hazards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CPU makes wrong branching predictions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Results in filling the pipeline with incorrect instructions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Pipeline must then be flushed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</a:p>
          <a:p>
            <a:pPr lvl="1"/>
            <a:r>
              <a:rPr lang="en-US" dirty="0"/>
              <a:t>LD R1, #0x0002</a:t>
            </a:r>
          </a:p>
          <a:p>
            <a:pPr lvl="1"/>
            <a:r>
              <a:rPr lang="en-US" dirty="0"/>
              <a:t>LD R2, #0</a:t>
            </a:r>
          </a:p>
          <a:p>
            <a:r>
              <a:rPr lang="en-US" dirty="0"/>
              <a:t>Loop:</a:t>
            </a:r>
          </a:p>
          <a:p>
            <a:pPr lvl="1"/>
            <a:r>
              <a:rPr lang="en-US" dirty="0"/>
              <a:t>INC R2</a:t>
            </a:r>
          </a:p>
          <a:p>
            <a:pPr lvl="1"/>
            <a:r>
              <a:rPr lang="en-US" dirty="0"/>
              <a:t>DEC R1</a:t>
            </a:r>
            <a:br>
              <a:rPr lang="en-US" dirty="0"/>
            </a:br>
            <a:r>
              <a:rPr lang="en-US" dirty="0"/>
              <a:t>BNZ Loop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 R2, &amp;0x1000</a:t>
            </a:r>
          </a:p>
          <a:p>
            <a:pPr lvl="1"/>
            <a:r>
              <a:rPr lang="en-US" dirty="0"/>
              <a:t>ST R1, &amp;0x2000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8C600F-11D6-027C-062B-0CD7913C7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193702"/>
              </p:ext>
            </p:extLst>
          </p:nvPr>
        </p:nvGraphicFramePr>
        <p:xfrm>
          <a:off x="3802083" y="4505925"/>
          <a:ext cx="1219200" cy="1289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1752302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ST R1, &amp;0x2000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0726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ST R2, &amp;0x1000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5363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BNZ Loop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657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DEC R1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502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INC R2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0709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LD R2, #0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9431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LD R1, #0x0002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544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42EE2E-5242-4B50-755C-4FF24B0FF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17128"/>
              </p:ext>
            </p:extLst>
          </p:nvPr>
        </p:nvGraphicFramePr>
        <p:xfrm>
          <a:off x="5875724" y="3953475"/>
          <a:ext cx="1219200" cy="184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03170289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ST R1, &amp;0x2000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2671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ST R2, &amp;0x1000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1652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BNZ Loop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225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DEC R1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66103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INC R2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7285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BNZ Loop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2364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DEC R1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1731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INC R2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5168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LD R2, #0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8962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LD R1, #0x0002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0876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5609A79-B632-2C8D-69C5-8E638C86785A}"/>
              </a:ext>
            </a:extLst>
          </p:cNvPr>
          <p:cNvSpPr txBox="1"/>
          <p:nvPr/>
        </p:nvSpPr>
        <p:spPr>
          <a:xfrm>
            <a:off x="3981597" y="3768809"/>
            <a:ext cx="860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Wrong</a:t>
            </a:r>
          </a:p>
          <a:p>
            <a:pPr algn="ctr"/>
            <a:r>
              <a:rPr lang="en-US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E50E0-29FC-5125-15B2-02AAE6E57BA0}"/>
              </a:ext>
            </a:extLst>
          </p:cNvPr>
          <p:cNvSpPr txBox="1"/>
          <p:nvPr/>
        </p:nvSpPr>
        <p:spPr>
          <a:xfrm>
            <a:off x="6123687" y="3147400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Right</a:t>
            </a:r>
          </a:p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24481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Structural Hazards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Stall / Bubbles – Low Cost, Simple (+)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Increases CPI (-)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Try to use for rare events in high-performance CPUs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Remember NOPs?</a:t>
            </a:r>
          </a:p>
          <a:p>
            <a:pPr lvl="1"/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Duplicate Resources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Decreases CPI (+)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Increases cost (area), possibly cycle time (-)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for cheap resources, frequent cases </a:t>
            </a:r>
          </a:p>
        </p:txBody>
      </p:sp>
    </p:spTree>
    <p:extLst>
      <p:ext uri="{BB962C8B-B14F-4D97-AF65-F5344CB8AC3E}">
        <p14:creationId xmlns:p14="http://schemas.microsoft.com/office/powerpoint/2010/main" val="268515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Data Hazards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a couple of choices…..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Stall whenever we have a RAW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Huge performance penalty, dependencies are common!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Bypass/Forwarding to minimize the problem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is ready by end of EXE (Add) or MEM (Load)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Basic idea: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Add comparator for each combination of destination and source registers that can have RAW hazards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dirty="0" err="1"/>
              <a:t>muxes</a:t>
            </a:r>
            <a:r>
              <a:rPr lang="en-US" dirty="0"/>
              <a:t> to </a:t>
            </a:r>
            <a:r>
              <a:rPr lang="en-US" dirty="0" err="1"/>
              <a:t>datapath</a:t>
            </a:r>
            <a:r>
              <a:rPr lang="en-US" dirty="0"/>
              <a:t> to select proper value instead of register file</a:t>
            </a:r>
          </a:p>
          <a:p>
            <a:pPr lvl="2"/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Only stall when absolutely necessary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Schedule the instructions!!!!</a:t>
            </a:r>
          </a:p>
        </p:txBody>
      </p:sp>
    </p:spTree>
    <p:extLst>
      <p:ext uri="{BB962C8B-B14F-4D97-AF65-F5344CB8AC3E}">
        <p14:creationId xmlns:p14="http://schemas.microsoft.com/office/powerpoint/2010/main" val="3217746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Data Hazards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270660"/>
            <a:ext cx="851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 CPU used a 2-to-1 multiplexor to</a:t>
            </a:r>
            <a:br>
              <a:rPr lang="en-US" dirty="0"/>
            </a:br>
            <a:r>
              <a:rPr lang="en-US" dirty="0"/>
              <a:t>forward the output of the function unit</a:t>
            </a:r>
            <a:br>
              <a:rPr lang="en-US" dirty="0"/>
            </a:br>
            <a:r>
              <a:rPr lang="en-US" dirty="0"/>
              <a:t>to the next instruction in the pipeline </a:t>
            </a:r>
            <a:br>
              <a:rPr lang="en-US" dirty="0"/>
            </a:br>
            <a:r>
              <a:rPr lang="en-US" dirty="0"/>
              <a:t>if needed.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Additionally, the same multiplexor</a:t>
            </a:r>
            <a:br>
              <a:rPr lang="en-US" dirty="0"/>
            </a:br>
            <a:r>
              <a:rPr lang="en-US" dirty="0"/>
              <a:t>forwards the result of a memory </a:t>
            </a:r>
            <a:br>
              <a:rPr lang="en-US" dirty="0"/>
            </a:br>
            <a:r>
              <a:rPr lang="en-US" dirty="0"/>
              <a:t>operation to the next instruction if</a:t>
            </a:r>
            <a:br>
              <a:rPr lang="en-US" dirty="0"/>
            </a:br>
            <a:r>
              <a:rPr lang="en-US" dirty="0"/>
              <a:t>needed.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6E5F6-FFE3-FC7F-AD4C-631F5018D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88" y="1211283"/>
            <a:ext cx="4103306" cy="527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04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Control Hazards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Stall the pipeline until result is known.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bad with deep pipelines!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adder (additional hardware) in the instruction decode (ID) stage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Additional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Additional complexity in the ID stage leads to added propagation delays negating some of the benefits of pipelining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some sort of branch prediction hardware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 average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67% of conditional branches are taken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60% of forward branches are taken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85% of backward branches are taken</a:t>
            </a:r>
            <a:br>
              <a:rPr lang="en-US" dirty="0"/>
            </a:br>
            <a:r>
              <a:rPr lang="en-US" dirty="0"/>
              <a:t>(loops)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100% of unconditional branches are taken</a:t>
            </a:r>
          </a:p>
        </p:txBody>
      </p:sp>
    </p:spTree>
    <p:extLst>
      <p:ext uri="{BB962C8B-B14F-4D97-AF65-F5344CB8AC3E}">
        <p14:creationId xmlns:p14="http://schemas.microsoft.com/office/powerpoint/2010/main" val="3904606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Interrupts?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Interrupts occur mainly due to factors that are external to the CPU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Their occurrence can not be predicted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CPU must execute code pointed to by the interrupt vector table (IVT)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options: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Flush the pipeline and set PC to the required address to begin execution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Fastest interrupt servicing (less interrupt delay)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 instructions in pipeline to finish execution and then set PC to the required address to begin execution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Slowest interrupt servicing (more interrupt delay)</a:t>
            </a:r>
          </a:p>
        </p:txBody>
      </p:sp>
    </p:spTree>
    <p:extLst>
      <p:ext uri="{BB962C8B-B14F-4D97-AF65-F5344CB8AC3E}">
        <p14:creationId xmlns:p14="http://schemas.microsoft.com/office/powerpoint/2010/main" val="177539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Multi-Cycle Operations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Basic RISC pipeline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operations take 1 cycle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Unfortunately, not the case in real processors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FP add, Integer/FP Multiply can be 2-6 cycles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20-50 cycles for integer/FP divide, square root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 to pipeline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 in number of clock cycles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Number of operands varies</a:t>
            </a:r>
          </a:p>
        </p:txBody>
      </p:sp>
    </p:spTree>
    <p:extLst>
      <p:ext uri="{BB962C8B-B14F-4D97-AF65-F5344CB8AC3E}">
        <p14:creationId xmlns:p14="http://schemas.microsoft.com/office/powerpoint/2010/main" val="3044730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Multi-Cycle Operations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example, longer latency in FP unit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 may continue for as long as FP takes to finish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Assume four separate ALUs </a:t>
            </a:r>
            <a:r>
              <a:rPr lang="en-US"/>
              <a:t>(Superscalar)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Integer unit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FP/Integer Multiplier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FP Adder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FP/Integer Divider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 stalls all instruction behind it if it can not proceed to EX</a:t>
            </a:r>
          </a:p>
        </p:txBody>
      </p:sp>
    </p:spTree>
    <p:extLst>
      <p:ext uri="{BB962C8B-B14F-4D97-AF65-F5344CB8AC3E}">
        <p14:creationId xmlns:p14="http://schemas.microsoft.com/office/powerpoint/2010/main" val="100561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Instruction Scheduling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Scheduling tries to re-arrange instructions to improve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Types of scheduling methods: Static and Dynamic 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static scheduling, the compiler / programmer arranges instructions to better utilize CPU resources and avoid hazards.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dynamic scheduling the CPU hardware re-arranges instructions at runtime to reduce stalls and maximize hardware utilization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Why hardware and not compiler?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Code Portability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More information available dynamically (run-time)</a:t>
            </a:r>
          </a:p>
          <a:p>
            <a:pPr lvl="2"/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Not everyone uses “</a:t>
            </a:r>
            <a:r>
              <a:rPr lang="en-US" dirty="0" err="1"/>
              <a:t>gcc</a:t>
            </a:r>
            <a:r>
              <a:rPr lang="en-US" dirty="0"/>
              <a:t> –O3”</a:t>
            </a:r>
          </a:p>
        </p:txBody>
      </p:sp>
    </p:spTree>
    <p:extLst>
      <p:ext uri="{BB962C8B-B14F-4D97-AF65-F5344CB8AC3E}">
        <p14:creationId xmlns:p14="http://schemas.microsoft.com/office/powerpoint/2010/main" val="3457989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37926"/>
            <a:ext cx="7848600" cy="731519"/>
          </a:xfrm>
        </p:spPr>
        <p:txBody>
          <a:bodyPr>
            <a:noAutofit/>
          </a:bodyPr>
          <a:lstStyle/>
          <a:p>
            <a:r>
              <a:rPr lang="en-US" sz="3200" dirty="0"/>
              <a:t>Instruction Level Parallelism (ILP) and Scheduling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FDF22-9117-3E8C-48F2-1CC39BF95E4E}"/>
              </a:ext>
            </a:extLst>
          </p:cNvPr>
          <p:cNvSpPr txBox="1"/>
          <p:nvPr/>
        </p:nvSpPr>
        <p:spPr>
          <a:xfrm>
            <a:off x="326571" y="1128152"/>
            <a:ext cx="85146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ILP drives a lot of CPU architecture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ILP requires Dynamic instruction scheduling. Examples of dynamic scheduling algorithms are: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Scoreboarding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Tomasulo’s</a:t>
            </a:r>
            <a:r>
              <a:rPr lang="en-US" dirty="0"/>
              <a:t> Algorithm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Superscalar / Multiple instruction issue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Hardware Speculation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of these things work well together</a:t>
            </a:r>
          </a:p>
        </p:txBody>
      </p:sp>
    </p:spTree>
    <p:extLst>
      <p:ext uri="{BB962C8B-B14F-4D97-AF65-F5344CB8AC3E}">
        <p14:creationId xmlns:p14="http://schemas.microsoft.com/office/powerpoint/2010/main" val="2207832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Divide the Instruction Decode (ID) stage into two stages, </a:t>
            </a:r>
            <a:r>
              <a:rPr lang="en-US" b="1" dirty="0"/>
              <a:t>Issue</a:t>
            </a:r>
            <a:r>
              <a:rPr lang="en-US" dirty="0"/>
              <a:t> and </a:t>
            </a:r>
            <a:r>
              <a:rPr lang="en-US" b="1" dirty="0"/>
              <a:t>Read Operands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– Nothing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Issue</a:t>
            </a:r>
            <a:r>
              <a:rPr lang="en-US" dirty="0"/>
              <a:t>: In this stage we decode the instruction and check for structural hazards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we have a structural hazard, stall the instruction.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Stalled instruction sits in the instruction buffer.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Executable instructions move down the pipeline.</a:t>
            </a:r>
          </a:p>
          <a:p>
            <a:pPr lvl="2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Size of buffer is also a structural hazard.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Scoreboarding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1747EB-4435-05D3-AFB2-A2343193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52" y="5028218"/>
            <a:ext cx="7493385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56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Operand Stage: Here we now check for data hazards.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Check scoreboard to see if source operands are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Are source operands available?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Check to ensure that no other early instructions will write to the source registers.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Check to ensure none of the ALUs / function units will write to the source registers.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Dispatch</a:t>
            </a:r>
            <a:r>
              <a:rPr lang="en-US" dirty="0"/>
              <a:t> when hazards are cleared.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Scoreboarding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2/25/2026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1747EB-4435-05D3-AFB2-A2343193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52" y="4695706"/>
            <a:ext cx="7493385" cy="14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73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2/25/2026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2"/>
              </a:rPr>
              <a:t>http://www.eecs.harvard.edu/cs146-246/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3"/>
              </a:rPr>
              <a:t>https://en.wikipedia.org/wiki/Instruction_pipelining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4"/>
              </a:rPr>
              <a:t>https://cstaleem.com/pipelining-and-non-pipelining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hlinkClick r:id="rId5"/>
              </a:rPr>
              <a:t>https://www.cise.ufl.edu/~mssz/CompOrg/CDA-proc.html#:~:text=Processor%20(CPU)%20is%20the%20active,%2C%20registers%2C%20and%20internal%20buses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hlinkClick r:id="rId6"/>
              </a:rPr>
              <a:t>https://en.wikipedia.org/wiki/Superscalar_processor</a:t>
            </a: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14447</TotalTime>
  <Words>1568</Words>
  <Application>Microsoft Office PowerPoint</Application>
  <PresentationFormat>On-screen Show (4:3)</PresentationFormat>
  <Paragraphs>353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2_Office Theme</vt:lpstr>
      <vt:lpstr>PowerPoint Presentation</vt:lpstr>
      <vt:lpstr>Presentation Outline</vt:lpstr>
      <vt:lpstr>Basic Parts of a CPU</vt:lpstr>
      <vt:lpstr>Instruction Cycle</vt:lpstr>
      <vt:lpstr>What is a Non-Pipelined/Sequential CPU?</vt:lpstr>
      <vt:lpstr>What is Pipelining?</vt:lpstr>
      <vt:lpstr>Pipelining Advantages</vt:lpstr>
      <vt:lpstr>Pipelining Disadvantages</vt:lpstr>
      <vt:lpstr>Hazards?</vt:lpstr>
      <vt:lpstr>Structural Hazards</vt:lpstr>
      <vt:lpstr>Data Hazards</vt:lpstr>
      <vt:lpstr>Control/Branch Hazards</vt:lpstr>
      <vt:lpstr>Resolving Structural Hazards</vt:lpstr>
      <vt:lpstr>Resolving Data Hazards</vt:lpstr>
      <vt:lpstr>Resolving Data Hazards</vt:lpstr>
      <vt:lpstr>Resolving Control Hazards</vt:lpstr>
      <vt:lpstr>What About Interrupts?</vt:lpstr>
      <vt:lpstr>Multi-Cycle Operations</vt:lpstr>
      <vt:lpstr>Multi-Cycle Operations</vt:lpstr>
      <vt:lpstr>Instruction Scheduling</vt:lpstr>
      <vt:lpstr>Instruction Level Parallelism (ILP) and Scheduling</vt:lpstr>
      <vt:lpstr>Scoreboarding</vt:lpstr>
      <vt:lpstr>Scoreboarding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Argenis Bilbao</cp:lastModifiedBy>
  <cp:revision>1483</cp:revision>
  <dcterms:created xsi:type="dcterms:W3CDTF">2007-11-05T15:07:41Z</dcterms:created>
  <dcterms:modified xsi:type="dcterms:W3CDTF">2026-02-25T14:59:57Z</dcterms:modified>
</cp:coreProperties>
</file>