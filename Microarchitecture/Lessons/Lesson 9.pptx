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1">
  <p:sldMasterIdLst>
    <p:sldMasterId id="2147483833" r:id="rId1"/>
  </p:sldMasterIdLst>
  <p:notesMasterIdLst>
    <p:notesMasterId r:id="rId34"/>
  </p:notesMasterIdLst>
  <p:handoutMasterIdLst>
    <p:handoutMasterId r:id="rId35"/>
  </p:handoutMasterIdLst>
  <p:sldIdLst>
    <p:sldId id="262" r:id="rId2"/>
    <p:sldId id="415" r:id="rId3"/>
    <p:sldId id="454" r:id="rId4"/>
    <p:sldId id="455" r:id="rId5"/>
    <p:sldId id="456" r:id="rId6"/>
    <p:sldId id="457" r:id="rId7"/>
    <p:sldId id="458" r:id="rId8"/>
    <p:sldId id="459" r:id="rId9"/>
    <p:sldId id="460" r:id="rId10"/>
    <p:sldId id="461" r:id="rId11"/>
    <p:sldId id="462" r:id="rId12"/>
    <p:sldId id="463" r:id="rId13"/>
    <p:sldId id="464" r:id="rId14"/>
    <p:sldId id="465" r:id="rId15"/>
    <p:sldId id="466" r:id="rId16"/>
    <p:sldId id="467" r:id="rId17"/>
    <p:sldId id="468" r:id="rId18"/>
    <p:sldId id="469" r:id="rId19"/>
    <p:sldId id="470" r:id="rId20"/>
    <p:sldId id="471" r:id="rId21"/>
    <p:sldId id="472" r:id="rId22"/>
    <p:sldId id="473" r:id="rId23"/>
    <p:sldId id="474" r:id="rId24"/>
    <p:sldId id="475" r:id="rId25"/>
    <p:sldId id="476" r:id="rId26"/>
    <p:sldId id="477" r:id="rId27"/>
    <p:sldId id="479" r:id="rId28"/>
    <p:sldId id="478" r:id="rId29"/>
    <p:sldId id="480" r:id="rId30"/>
    <p:sldId id="481" r:id="rId31"/>
    <p:sldId id="482" r:id="rId32"/>
    <p:sldId id="430" r:id="rId33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CBE"/>
    <a:srgbClr val="FF0000"/>
    <a:srgbClr val="66FF33"/>
    <a:srgbClr val="544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6" autoAdjust="0"/>
    <p:restoredTop sz="99548" autoAdjust="0"/>
  </p:normalViewPr>
  <p:slideViewPr>
    <p:cSldViewPr snapToGrid="0">
      <p:cViewPr varScale="1">
        <p:scale>
          <a:sx n="52" d="100"/>
          <a:sy n="52" d="100"/>
        </p:scale>
        <p:origin x="16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480"/>
    </p:cViewPr>
  </p:sorterViewPr>
  <p:notesViewPr>
    <p:cSldViewPr snapToGrid="0">
      <p:cViewPr varScale="1">
        <p:scale>
          <a:sx n="85" d="100"/>
          <a:sy n="85" d="100"/>
        </p:scale>
        <p:origin x="-3786" y="-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D84709DF-3BD8-402F-80E3-8C612EC5F261}" type="datetimeFigureOut">
              <a:rPr lang="en-US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F4709C4-D4EF-4A59-93AC-CDE74B2DBF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17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E4D6C9-0F27-4334-9BAD-4BF9A16E0770}" type="datetimeFigureOut">
              <a:rPr lang="en-US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767"/>
            <a:ext cx="5608320" cy="415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45158B6-2379-4B93-B466-8093E86C688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226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05300"/>
            <a:ext cx="6400800" cy="7715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5" y="91368"/>
            <a:ext cx="7848600" cy="731519"/>
          </a:xfrm>
        </p:spPr>
        <p:txBody>
          <a:bodyPr>
            <a:normAutofit/>
          </a:bodyPr>
          <a:lstStyle>
            <a:lvl1pPr>
              <a:defRPr sz="4000" b="1" kern="3000" spc="-100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797"/>
          <a:stretch/>
        </p:blipFill>
        <p:spPr>
          <a:xfrm>
            <a:off x="87410" y="82255"/>
            <a:ext cx="512666" cy="749746"/>
          </a:xfrm>
          <a:prstGeom prst="rect">
            <a:avLst/>
          </a:prstGeom>
        </p:spPr>
      </p:pic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4572000" y="981075"/>
            <a:ext cx="0" cy="545782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77042" y="3543300"/>
            <a:ext cx="8989916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161925" y="981075"/>
            <a:ext cx="4257675" cy="24384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87313" y="3709988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15"/>
          </p:nvPr>
        </p:nvSpPr>
        <p:spPr>
          <a:xfrm>
            <a:off x="4734671" y="3709987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16"/>
          </p:nvPr>
        </p:nvSpPr>
        <p:spPr>
          <a:xfrm>
            <a:off x="4734671" y="981075"/>
            <a:ext cx="4332287" cy="242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  <p:extLst>
      <p:ext uri="{BB962C8B-B14F-4D97-AF65-F5344CB8AC3E}">
        <p14:creationId xmlns:p14="http://schemas.microsoft.com/office/powerpoint/2010/main" val="161356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78486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373063" y="6591300"/>
            <a:ext cx="1752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5C08211-4AFA-4DCC-83B4-664F54295857}" type="datetime1">
              <a:rPr lang="en-US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6913" y="6591300"/>
            <a:ext cx="2782887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2950" y="6551613"/>
            <a:ext cx="205105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B77A210C-9675-4AF8-BB4A-75C22F228B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pitt.edu/~juy9/" TargetMode="External"/><Relationship Id="rId2" Type="http://schemas.openxmlformats.org/officeDocument/2006/relationships/hyperlink" Target="http://www.eecs.harvard.edu/cs146-246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Cache_cohere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903672"/>
            <a:ext cx="7315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ECE4375 / ECE5375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Argenis Bilbao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01435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Presentation Outline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766046"/>
            <a:ext cx="78485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deeper look into Caches and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Direct mapped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Fully associative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82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 </a:t>
            </a:r>
            <a:r>
              <a:rPr lang="en-US" sz="1800" b="1" i="0" u="none" strike="noStrike" baseline="0" dirty="0">
                <a:latin typeface="+mj-lt"/>
              </a:rPr>
              <a:t>direct mapped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cache is the simplest approach: each main memory address maps to exactly one cache block.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For example, on the right is a 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16-byte main memory and a 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4-byte cache (four 1-byte blocks).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Memory locations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0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4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8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and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12 </a:t>
            </a:r>
            <a:b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all map to cache block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0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Addresses </a:t>
            </a:r>
            <a:r>
              <a:rPr lang="en-US" sz="1800" b="0" i="0" u="none" strike="noStrike" baseline="0" dirty="0">
                <a:solidFill>
                  <a:srgbClr val="3232FF"/>
                </a:solidFill>
                <a:latin typeface="+mj-lt"/>
              </a:rPr>
              <a:t>1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1800" b="0" i="0" u="none" strike="noStrike" baseline="0" dirty="0">
                <a:solidFill>
                  <a:srgbClr val="3232FF"/>
                </a:solidFill>
                <a:latin typeface="+mj-lt"/>
              </a:rPr>
              <a:t>5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1800" b="0" i="0" u="none" strike="noStrike" baseline="0" dirty="0">
                <a:solidFill>
                  <a:srgbClr val="3232FF"/>
                </a:solidFill>
                <a:latin typeface="+mj-lt"/>
              </a:rPr>
              <a:t>9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and </a:t>
            </a:r>
            <a:r>
              <a:rPr lang="en-US" sz="1800" b="0" i="0" u="none" strike="noStrike" baseline="0" dirty="0">
                <a:solidFill>
                  <a:srgbClr val="3232FF"/>
                </a:solidFill>
                <a:latin typeface="+mj-lt"/>
              </a:rPr>
              <a:t>13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map to 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cache block </a:t>
            </a:r>
            <a:r>
              <a:rPr lang="en-US" sz="1800" b="0" i="0" u="none" strike="noStrike" baseline="0" dirty="0">
                <a:solidFill>
                  <a:srgbClr val="3232FF"/>
                </a:solidFill>
                <a:latin typeface="+mj-lt"/>
              </a:rPr>
              <a:t>1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How can we compute this 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mapping?</a:t>
            </a:r>
            <a:endParaRPr lang="en-US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Location?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B75BA-1DED-D11B-D1BB-2F2C90FB1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809" y="1830826"/>
            <a:ext cx="4730993" cy="459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7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An equivalent way to find the placement of a memory address in the cache is to look at the least significant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</a:rPr>
              <a:t>k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bits of the address.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With our four-byte cache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we would inspect the two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least significant bits of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our memory addresses.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Again, you can see that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address 14 (11</a:t>
            </a: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10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in binary)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maps to cache block 2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(</a:t>
            </a: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10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in binary).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Taking the least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</a:rPr>
              <a:t>k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bits of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 binary value is the same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as computing that value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mod 2</a:t>
            </a:r>
            <a:r>
              <a:rPr lang="en-US" sz="1800" b="0" i="1" u="none" strike="noStrike" baseline="30000" dirty="0">
                <a:solidFill>
                  <a:srgbClr val="000000"/>
                </a:solidFill>
                <a:latin typeface="+mj-lt"/>
              </a:rPr>
              <a:t>k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  <a:endParaRPr lang="en-US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Look no Further Than The Least-Significant Bits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B75BA-1DED-D11B-D1BB-2F2C90FB1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2809" y="1875427"/>
            <a:ext cx="4730993" cy="450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73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The second question was how to determine whether or not the data we’re interested in is already stored in the cache.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If we want to read memory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address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</a:rPr>
              <a:t>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, we can use the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mod trick to determine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which cache block would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contain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</a:rPr>
              <a:t>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But other addresses might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</a:rPr>
              <a:t>also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map to the same cache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block. How can we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distinguish between them?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For instance, cache block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2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could contain data from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addresses </a:t>
            </a: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2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6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10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</a:rPr>
              <a:t>or </a:t>
            </a: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14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  <a:endParaRPr lang="en-US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How Can We Find Data?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B75BA-1DED-D11B-D1BB-2F2C90FB1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2809" y="1875427"/>
            <a:ext cx="4730993" cy="450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16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We need to add </a:t>
            </a:r>
            <a:r>
              <a:rPr lang="en-US" sz="1800" b="1" i="0" u="none" strike="noStrike" baseline="0" dirty="0">
                <a:latin typeface="+mj-lt"/>
              </a:rPr>
              <a:t>tags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to the cache, which supply the rest of the address bits to let us distinguish between different memory locations that map to the same cache block.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 need Tags!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B75BA-1DED-D11B-D1BB-2F2C90FB1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2949" y="2356747"/>
            <a:ext cx="6118101" cy="374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38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Now we can tell exactly which addresses of main memory are stored in the cache, by concatenating the cache block tags with the block indices.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 need Tags!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B75BA-1DED-D11B-D1BB-2F2C90FB1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077" y="2179124"/>
            <a:ext cx="7633845" cy="210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83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When started, the cache is empty and does not contain valid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We should account for this by adding a </a:t>
            </a:r>
            <a:r>
              <a:rPr lang="en-US" sz="1800" b="1" i="0" u="none" strike="noStrike" baseline="0" dirty="0">
                <a:latin typeface="+mj-lt"/>
              </a:rPr>
              <a:t>valid bit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for each cache block.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When the system is initialized, all the valid bits are set to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When data is loaded into a particular cache block, the corresponding valid bit is set to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So, the cache contains more than just copies of the data in memory; it also has bits to help us find data within the cache and verify its validity.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Valid Bit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B75BA-1DED-D11B-D1BB-2F2C90FB1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077" y="3490694"/>
            <a:ext cx="7633845" cy="180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877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When the CPU tries to read from memory, the address will be sent to a </a:t>
            </a:r>
            <a:r>
              <a:rPr lang="en-US" sz="1800" b="1" i="0" u="none" strike="noStrike" baseline="0" dirty="0">
                <a:latin typeface="+mj-lt"/>
              </a:rPr>
              <a:t>cache controller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The lowest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+mj-lt"/>
              </a:rPr>
              <a:t>k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bits of the address will index a block in the cache.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If the block is valid and the tag matches the upper (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+mj-lt"/>
              </a:rPr>
              <a:t>m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-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+mj-lt"/>
              </a:rPr>
              <a:t>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) bits of the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+mj-lt"/>
              </a:rPr>
              <a:t>m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-bit address, then that data will be sent to the CPU.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Here is a diagram of a 32-bit memory address and a 210-byte cache.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Happens On a Cache Hit?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B75BA-1DED-D11B-D1BB-2F2C90FB1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0672" y="3573821"/>
            <a:ext cx="6782655" cy="273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20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After data is read from main memory, putting a copy of that data into the cache is straight forward.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The lowest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+mj-lt"/>
              </a:rPr>
              <a:t>k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bits of the address specify a cache block.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The upper (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+mj-lt"/>
              </a:rPr>
              <a:t>m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-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+mj-lt"/>
              </a:rPr>
              <a:t>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) address bits are stored in the block’s tag field.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The data from main memory is stored in the block’s data field.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The valid bit is set to 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Block Loading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B75BA-1DED-D11B-D1BB-2F2C90FB1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0545" y="3680703"/>
            <a:ext cx="6442909" cy="273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38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What we can do is make the cache block size </a:t>
            </a:r>
            <a:r>
              <a:rPr lang="en-US" sz="1800" b="1" i="0" u="none" strike="noStrike" baseline="0" dirty="0">
                <a:latin typeface="+mj-lt"/>
              </a:rPr>
              <a:t>larger than one byte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Here we use two-byte blocks, so we can load the cache with two bytes at a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If we read from address 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12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, the data in addresses 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12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</a:rPr>
              <a:t>and </a:t>
            </a: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13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would both be 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copied to cache block </a:t>
            </a: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2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About Spatial Locality?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B75BA-1DED-D11B-D1BB-2F2C90FB1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27958" y="2386940"/>
            <a:ext cx="5058842" cy="395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089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Now how can we figure out where data should be placed in the cache?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It’s time for </a:t>
            </a:r>
            <a:r>
              <a:rPr lang="en-US" sz="1800" b="1" i="0" u="none" strike="noStrike" baseline="0" dirty="0">
                <a:latin typeface="+mj-lt"/>
              </a:rPr>
              <a:t>block addresses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! If the cache block size is 2</a:t>
            </a:r>
            <a:r>
              <a:rPr lang="en-US" sz="1800" b="0" i="1" u="none" strike="noStrike" baseline="30000" dirty="0">
                <a:solidFill>
                  <a:srgbClr val="000000"/>
                </a:solidFill>
                <a:latin typeface="+mj-lt"/>
              </a:rPr>
              <a:t>n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bytes, we can conceptually split the main memory into 2</a:t>
            </a:r>
            <a:r>
              <a:rPr lang="en-US" sz="1800" b="0" i="1" u="none" strike="noStrike" baseline="30000" dirty="0">
                <a:solidFill>
                  <a:srgbClr val="000000"/>
                </a:solidFill>
                <a:latin typeface="+mj-lt"/>
              </a:rPr>
              <a:t>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-byte 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chunks too.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To determine the block address of a byte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address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</a:rPr>
              <a:t>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, you can do the integer division</a:t>
            </a:r>
          </a:p>
          <a:p>
            <a:endParaRPr lang="en-US" sz="1800" b="0" i="1" u="none" strike="noStrike" baseline="0" dirty="0">
              <a:solidFill>
                <a:srgbClr val="3232FF"/>
              </a:solidFill>
              <a:latin typeface="+mj-lt"/>
            </a:endParaRPr>
          </a:p>
          <a:p>
            <a:r>
              <a:rPr lang="en-US" i="1" dirty="0">
                <a:solidFill>
                  <a:srgbClr val="3232FF"/>
                </a:solidFill>
                <a:latin typeface="+mj-lt"/>
              </a:rPr>
              <a:t>	</a:t>
            </a:r>
            <a:r>
              <a:rPr lang="en-US" sz="1800" b="0" i="1" u="none" strike="noStrike" baseline="0" dirty="0">
                <a:solidFill>
                  <a:srgbClr val="3232FF"/>
                </a:solidFill>
                <a:latin typeface="+mj-lt"/>
              </a:rPr>
              <a:t>i </a:t>
            </a:r>
            <a:r>
              <a:rPr lang="en-US" sz="1800" b="0" i="0" u="none" strike="noStrike" baseline="0" dirty="0">
                <a:solidFill>
                  <a:srgbClr val="3232FF"/>
                </a:solidFill>
                <a:latin typeface="+mj-lt"/>
              </a:rPr>
              <a:t>/ 2</a:t>
            </a:r>
            <a:r>
              <a:rPr lang="en-US" sz="1800" b="0" i="1" u="none" strike="noStrike" baseline="30000" dirty="0">
                <a:solidFill>
                  <a:srgbClr val="3232FF"/>
                </a:solidFill>
                <a:latin typeface="+mj-lt"/>
              </a:rPr>
              <a:t>n</a:t>
            </a:r>
          </a:p>
          <a:p>
            <a:endParaRPr lang="en-US" sz="1800" b="0" i="0" u="none" strike="noStrike" baseline="0" dirty="0">
              <a:solidFill>
                <a:srgbClr val="3232FF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Our example has two-byte cache blocks, so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we can think of a 16-byte main memory as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an “8-block” main memory instead.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For instance, memory addresses </a:t>
            </a: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12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and </a:t>
            </a: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13 </a:t>
            </a:r>
            <a:b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both correspond to block address </a:t>
            </a: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6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, since </a:t>
            </a: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12 / 2 = 6</a:t>
            </a:r>
            <a:b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and </a:t>
            </a: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13 / 2 = 6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Need For Block Addresses Arise!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B75BA-1DED-D11B-D1BB-2F2C90FB1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8609" y="2042910"/>
            <a:ext cx="2505694" cy="437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689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Let’s say we have a cache with 2</a:t>
            </a:r>
            <a:r>
              <a:rPr lang="en-US" sz="1800" b="0" i="1" u="none" strike="noStrike" baseline="300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k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blocks, each containing 2</a:t>
            </a:r>
            <a:r>
              <a:rPr lang="en-US" sz="1800" b="0" i="1" u="none" strike="noStrike" baseline="300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n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bytes.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We can determine where a byte of data belongs in this cache by looking at its address in main memory.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1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k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bits of the address will select one of the 2</a:t>
            </a:r>
            <a:r>
              <a:rPr lang="en-US" b="0" i="1" u="none" strike="noStrike" baseline="300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k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cache blocks.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The lowest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n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bits are now a </a:t>
            </a:r>
            <a:r>
              <a:rPr lang="en-US" b="1" i="0" u="none" strike="noStrike" baseline="0" dirty="0">
                <a:latin typeface="+mj-lt"/>
                <a:cs typeface="Times New Roman" panose="02020603050405020304" pitchFamily="18" charset="0"/>
              </a:rPr>
              <a:t>block offset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that decides which of the 2</a:t>
            </a:r>
            <a:r>
              <a:rPr lang="en-US" b="0" i="1" u="none" strike="noStrike" baseline="300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n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bytes in the cache block will store the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Looking for Data In a Multi-Byte Block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8B2E8C-62C5-0492-F452-10D6416AE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331" y="3650039"/>
            <a:ext cx="5607338" cy="7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2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For the addresses below, what byte is read from the cache (or is there a miss)?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1010, 1110, 0001, 1101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 Quick Exercise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8B2E8C-62C5-0492-F452-10D6416AE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3179" y="1875795"/>
            <a:ext cx="5177642" cy="428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75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The direct-mapped cache is easy: Indices and offsets can be computed with bit operators or simple arithmetic, because each memory address belongs in exactly one block.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But what happens if a 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program uses addresses 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800" b="0" i="0" u="none" strike="noStrike" baseline="0" dirty="0">
                <a:solidFill>
                  <a:srgbClr val="00CC00"/>
                </a:solidFill>
                <a:latin typeface="+mj-lt"/>
              </a:rPr>
              <a:t>2, 6, 2, 6, 2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, …? Collisions!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Disadvantage of Direct Mapping Caches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8B2E8C-62C5-0492-F452-10D6416AE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0651" y="1831246"/>
            <a:ext cx="4360528" cy="428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64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A </a:t>
            </a:r>
            <a:r>
              <a:rPr lang="en-US" sz="1800" b="1" i="0" u="none" strike="noStrike" baseline="0" dirty="0">
                <a:latin typeface="Trebuchet MS" panose="020B0603020202020204" pitchFamily="34" charset="0"/>
              </a:rPr>
              <a:t>fully associative cache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permits data to be stored in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any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cache block, instead of forcing each memory address into one particular block.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When data is fetched from memory, it can be placed in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any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unused block of the cache.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This way we’ll never have a conflict between two or more memory addresses which map to a single cache block.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In the previous example, we might put memory address 2 in cache block 2, and address 6 in block 3. Then subsequent repeated accesses to 2 and 6 would all be hits instead of misses.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If all the blocks are already in use, it’s usually best to replace the </a:t>
            </a:r>
            <a:r>
              <a:rPr lang="en-US" sz="1800" b="1" i="0" u="none" strike="noStrike" baseline="0" dirty="0">
                <a:latin typeface="Trebuchet MS" panose="020B0603020202020204" pitchFamily="34" charset="0"/>
              </a:rPr>
              <a:t>least recently used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one, assuming that if it hasn’t used it in a while, it won’t be needed again anytime soon.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Fully Associative Cache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482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However, a fully associative cache is expensive to implement.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Because there is 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no index field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in the address anymore, the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entire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address must be used as the tag, increasing the total cache size.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Data could be anywhere in the cache, so we must check the tag of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every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cache block. That’s a lot of comparators!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Pay The Price?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178C0C-1292-002C-2212-768E5273D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784" y="2882478"/>
            <a:ext cx="6895481" cy="353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16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950021"/>
            <a:ext cx="85146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An intermediate possibility is a </a:t>
            </a:r>
            <a:r>
              <a:rPr lang="en-US" sz="1800" b="1" i="0" u="none" strike="noStrike" baseline="0" dirty="0">
                <a:latin typeface="+mj-lt"/>
              </a:rPr>
              <a:t>set-associative cache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The cache is divided into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+mj-lt"/>
              </a:rPr>
              <a:t>groups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of blocks, called </a:t>
            </a:r>
            <a:r>
              <a:rPr lang="en-US" b="1" i="0" u="none" strike="noStrike" baseline="0" dirty="0">
                <a:latin typeface="+mj-lt"/>
              </a:rPr>
              <a:t>sets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Each memory address maps to exactly one set in the cache, but data may be placed in any block within that set.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If each set has </a:t>
            </a:r>
            <a:r>
              <a:rPr lang="en-US" sz="1800" b="0" i="0" u="none" strike="noStrike" dirty="0">
                <a:solidFill>
                  <a:srgbClr val="000000"/>
                </a:solidFill>
                <a:latin typeface="+mj-lt"/>
              </a:rPr>
              <a:t>2</a:t>
            </a:r>
            <a:r>
              <a:rPr lang="en-US" sz="1800" b="0" i="1" u="none" strike="noStrike" baseline="30000" dirty="0">
                <a:solidFill>
                  <a:srgbClr val="000000"/>
                </a:solidFill>
                <a:latin typeface="+mj-lt"/>
              </a:rPr>
              <a:t>x</a:t>
            </a:r>
            <a:r>
              <a:rPr lang="en-US" sz="1800" b="0" i="1" u="none" strike="noStrike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latin typeface="+mj-lt"/>
              </a:rPr>
              <a:t>blocks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, the cache is an </a:t>
            </a:r>
            <a:r>
              <a:rPr lang="en-US" sz="1800" b="1" i="0" u="none" strike="noStrike" baseline="0" dirty="0">
                <a:latin typeface="+mj-lt"/>
              </a:rPr>
              <a:t>2</a:t>
            </a:r>
            <a:r>
              <a:rPr lang="en-US" sz="1800" b="1" i="1" u="none" strike="noStrike" baseline="30000" dirty="0">
                <a:latin typeface="+mj-lt"/>
              </a:rPr>
              <a:t>x</a:t>
            </a:r>
            <a:r>
              <a:rPr lang="en-US" sz="1800" b="1" i="0" u="none" strike="noStrike" baseline="0" dirty="0">
                <a:latin typeface="+mj-lt"/>
              </a:rPr>
              <a:t>-way associative cache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Here are several possible organizations of an eight-block cache.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Set Associative Cache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0D1A55-FA84-396D-89D8-809A9C662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480" y="4125090"/>
            <a:ext cx="6617040" cy="22924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498F05-21EF-8C88-C484-71E4DA9A0099}"/>
              </a:ext>
            </a:extLst>
          </p:cNvPr>
          <p:cNvSpPr txBox="1"/>
          <p:nvPr/>
        </p:nvSpPr>
        <p:spPr>
          <a:xfrm>
            <a:off x="1203873" y="3601870"/>
            <a:ext cx="1766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1-way associativity</a:t>
            </a:r>
          </a:p>
          <a:p>
            <a:pPr algn="ctr"/>
            <a:r>
              <a:rPr lang="en-US" sz="1400" dirty="0"/>
              <a:t>8 sets, 1 block each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DB03A-68CD-143A-4134-E2D1D380BA8F}"/>
              </a:ext>
            </a:extLst>
          </p:cNvPr>
          <p:cNvSpPr txBox="1"/>
          <p:nvPr/>
        </p:nvSpPr>
        <p:spPr>
          <a:xfrm>
            <a:off x="3803120" y="3601870"/>
            <a:ext cx="1856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2-way associativity</a:t>
            </a:r>
          </a:p>
          <a:p>
            <a:pPr algn="ctr"/>
            <a:r>
              <a:rPr lang="en-US" sz="1400" dirty="0"/>
              <a:t>4 sets, 2 blocks each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68B711-8B11-7DF7-04A8-329B7D8B2BCF}"/>
              </a:ext>
            </a:extLst>
          </p:cNvPr>
          <p:cNvSpPr txBox="1"/>
          <p:nvPr/>
        </p:nvSpPr>
        <p:spPr>
          <a:xfrm>
            <a:off x="6278595" y="3601870"/>
            <a:ext cx="1766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4-way associativity</a:t>
            </a:r>
          </a:p>
          <a:p>
            <a:pPr algn="ctr"/>
            <a:r>
              <a:rPr lang="en-US" sz="1400" dirty="0"/>
              <a:t>2 sets, 4 block each</a:t>
            </a:r>
          </a:p>
        </p:txBody>
      </p:sp>
    </p:spTree>
    <p:extLst>
      <p:ext uri="{BB962C8B-B14F-4D97-AF65-F5344CB8AC3E}">
        <p14:creationId xmlns:p14="http://schemas.microsoft.com/office/powerpoint/2010/main" val="3585032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950021"/>
            <a:ext cx="851460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We can determine where a memory address belongs in an associative cache in a similar way as before.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If a cache has 2</a:t>
            </a:r>
            <a:r>
              <a:rPr lang="en-US" sz="1800" b="0" i="1" u="none" strike="noStrike" baseline="30000" dirty="0">
                <a:solidFill>
                  <a:srgbClr val="000000"/>
                </a:solidFill>
                <a:latin typeface="+mj-lt"/>
              </a:rPr>
              <a:t>s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sets and each block has 2</a:t>
            </a:r>
            <a:r>
              <a:rPr lang="en-US" sz="1800" b="0" i="1" u="none" strike="noStrike" baseline="30000" dirty="0">
                <a:solidFill>
                  <a:srgbClr val="000000"/>
                </a:solidFill>
                <a:latin typeface="+mj-lt"/>
              </a:rPr>
              <a:t>n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bytes, the memory address can be partitioned as follows.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Our arithmetic computations now compute a </a:t>
            </a:r>
            <a:r>
              <a:rPr lang="en-US" sz="1800" b="1" i="0" u="none" strike="noStrike" baseline="0" dirty="0">
                <a:latin typeface="+mj-lt"/>
              </a:rPr>
              <a:t>set index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, to select a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</a:rPr>
              <a:t>set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within the cache instead of an individual block.</a:t>
            </a: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r>
              <a:rPr lang="en-US" sz="1800" b="0" i="0" u="none" strike="noStrike" baseline="0" dirty="0">
                <a:latin typeface="+mj-lt"/>
              </a:rPr>
              <a:t>Block Offset = Memory Address mod 2</a:t>
            </a:r>
            <a:r>
              <a:rPr lang="en-US" sz="1800" b="0" i="1" u="none" strike="noStrike" baseline="30000" dirty="0">
                <a:latin typeface="+mj-lt"/>
              </a:rPr>
              <a:t>n</a:t>
            </a:r>
          </a:p>
          <a:p>
            <a:endParaRPr lang="en-US" sz="1800" b="0" i="0" u="none" strike="noStrike" baseline="0" dirty="0">
              <a:latin typeface="+mj-lt"/>
            </a:endParaRPr>
          </a:p>
          <a:p>
            <a:r>
              <a:rPr lang="en-US" sz="1800" b="0" i="0" u="none" strike="noStrike" baseline="0" dirty="0">
                <a:latin typeface="+mj-lt"/>
              </a:rPr>
              <a:t>Block Address = Memory Address / 2</a:t>
            </a:r>
            <a:r>
              <a:rPr lang="en-US" sz="1800" b="0" i="1" u="none" strike="noStrike" baseline="30000" dirty="0">
                <a:latin typeface="+mj-lt"/>
              </a:rPr>
              <a:t>n</a:t>
            </a:r>
          </a:p>
          <a:p>
            <a:endParaRPr lang="en-US" sz="1800" b="0" i="0" u="none" strike="noStrike" baseline="0" dirty="0">
              <a:latin typeface="+mj-lt"/>
            </a:endParaRPr>
          </a:p>
          <a:p>
            <a:r>
              <a:rPr lang="en-US" sz="1800" b="0" i="0" u="none" strike="noStrike" baseline="0" dirty="0">
                <a:latin typeface="+mj-lt"/>
              </a:rPr>
              <a:t>Set Index = Block Address mod 2</a:t>
            </a:r>
            <a:r>
              <a:rPr lang="en-US" sz="1800" b="0" i="1" u="none" strike="noStrike" baseline="30000" dirty="0">
                <a:latin typeface="+mj-lt"/>
              </a:rPr>
              <a:t>s</a:t>
            </a:r>
            <a:endParaRPr lang="en-US" sz="1800" b="0" i="0" u="none" strike="noStrike" baseline="30000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Locating a Set Associative Block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559581-3707-979F-A572-0A4EBB291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060" y="2390136"/>
            <a:ext cx="5435879" cy="72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05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950021"/>
            <a:ext cx="8514608" cy="3211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Where would data from memory byte address 6195d be placed, assuming the eight-block cache designs below, with 16 bytes per block?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6195d in binary is 0001 1000 0</a:t>
            </a:r>
            <a:r>
              <a:rPr lang="en-US" sz="1600" b="0" i="0" u="none" strike="noStrike" baseline="0" dirty="0">
                <a:solidFill>
                  <a:srgbClr val="92D050"/>
                </a:solidFill>
                <a:latin typeface="+mj-lt"/>
              </a:rPr>
              <a:t>011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0" i="0" u="none" strike="noStrike" baseline="0" dirty="0">
                <a:solidFill>
                  <a:srgbClr val="210CBE"/>
                </a:solidFill>
                <a:latin typeface="+mj-lt"/>
              </a:rPr>
              <a:t>0011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Each block has 16 bytes, so the </a:t>
            </a:r>
            <a:r>
              <a:rPr lang="en-US" sz="1600" b="0" i="0" u="none" strike="noStrike" baseline="0" dirty="0">
                <a:solidFill>
                  <a:srgbClr val="3232CC"/>
                </a:solidFill>
                <a:latin typeface="+mj-lt"/>
              </a:rPr>
              <a:t>lowest 4 bits are the block offset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For the 1-way cache, the next three bits (</a:t>
            </a:r>
            <a:r>
              <a:rPr lang="en-US" sz="1600" b="0" i="0" u="none" strike="noStrike" baseline="0" dirty="0">
                <a:solidFill>
                  <a:srgbClr val="00CC00"/>
                </a:solidFill>
                <a:latin typeface="+mj-lt"/>
              </a:rPr>
              <a:t>011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) are the set index.</a:t>
            </a:r>
            <a:b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For the 2-way cache, the next two bits (</a:t>
            </a:r>
            <a:r>
              <a:rPr lang="en-US" sz="1600" b="0" i="0" u="none" strike="noStrike" baseline="0" dirty="0">
                <a:solidFill>
                  <a:srgbClr val="00CC00"/>
                </a:solidFill>
                <a:latin typeface="+mj-lt"/>
              </a:rPr>
              <a:t>11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) are the set index.</a:t>
            </a:r>
            <a:b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</a:b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For the 4-way cache, the next one bit (</a:t>
            </a:r>
            <a:r>
              <a:rPr lang="en-US" sz="1600" b="0" i="0" u="none" strike="noStrike" baseline="0" dirty="0">
                <a:solidFill>
                  <a:srgbClr val="00CC00"/>
                </a:solidFill>
                <a:latin typeface="+mj-lt"/>
              </a:rPr>
              <a:t>1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) is the set index.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The data may go in </a:t>
            </a:r>
            <a:r>
              <a:rPr lang="en-US" sz="1600" b="0" i="1" u="none" strike="noStrike" baseline="0" dirty="0">
                <a:solidFill>
                  <a:srgbClr val="000000"/>
                </a:solidFill>
                <a:latin typeface="+mj-lt"/>
              </a:rPr>
              <a:t>any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block, shown in green, within the correct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0" i="0" u="none" strike="noStrike" baseline="30000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Locating a Set Associative Block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3A516C-DDB5-28C3-1E9C-3014EC1B1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130" y="4013859"/>
            <a:ext cx="5801740" cy="246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87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950021"/>
            <a:ext cx="8514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By now you may have noticed the 1-way set associative cache is the same as a </a:t>
            </a:r>
            <a:r>
              <a:rPr lang="en-US" sz="1800" b="1" i="0" u="none" strike="noStrike" baseline="0" dirty="0">
                <a:latin typeface="+mj-lt"/>
              </a:rPr>
              <a:t>direct-mapped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cache.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Similarly, if a cache has 2</a:t>
            </a:r>
            <a:r>
              <a:rPr lang="en-US" sz="1800" b="0" i="1" u="none" strike="noStrike" baseline="30000" dirty="0">
                <a:solidFill>
                  <a:srgbClr val="000000"/>
                </a:solidFill>
                <a:latin typeface="+mj-lt"/>
              </a:rPr>
              <a:t>k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blocks, a 2</a:t>
            </a:r>
            <a:r>
              <a:rPr lang="en-US" sz="1800" b="0" i="1" u="none" strike="noStrike" baseline="30000" dirty="0">
                <a:solidFill>
                  <a:srgbClr val="000000"/>
                </a:solidFill>
                <a:latin typeface="+mj-lt"/>
              </a:rPr>
              <a:t>k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-way set associative cache would be the same as a </a:t>
            </a:r>
            <a:r>
              <a:rPr lang="en-US" sz="1800" b="1" i="0" u="none" strike="noStrike" baseline="0" dirty="0">
                <a:latin typeface="+mj-lt"/>
              </a:rPr>
              <a:t>fully-associative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cache.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Set Associative Caches Are Just An Idea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AB5C22-3C1E-8FB2-A882-688CBD040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86" y="2600526"/>
            <a:ext cx="8306227" cy="35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859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991587"/>
            <a:ext cx="85146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Larger </a:t>
            </a:r>
            <a:r>
              <a:rPr lang="en-US" sz="1800" b="1" i="0" u="none" strike="noStrike" baseline="0" dirty="0">
                <a:latin typeface="+mj-lt"/>
              </a:rPr>
              <a:t>block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sizes can take advantage of </a:t>
            </a:r>
            <a:r>
              <a:rPr lang="en-US" sz="1800" b="1" i="0" u="none" strike="noStrike" baseline="0" dirty="0">
                <a:latin typeface="+mj-lt"/>
              </a:rPr>
              <a:t>spatial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1800" b="1" i="0" u="none" strike="noStrike" baseline="0" dirty="0">
                <a:latin typeface="+mj-lt"/>
              </a:rPr>
              <a:t>locality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by loading data from not just one address, but also nearby addresses, into the cache.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u="none" strike="noStrike" baseline="0">
                <a:latin typeface="+mj-lt"/>
              </a:rPr>
              <a:t>Set-Associative</a:t>
            </a:r>
            <a:r>
              <a:rPr lang="en-US" sz="1800" b="0" i="0" u="none" strike="noStrike" baseline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1800" b="1" i="0" u="none" strike="noStrike" baseline="0" dirty="0">
                <a:latin typeface="+mj-lt"/>
              </a:rPr>
              <a:t>caches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assign each memory address to a particular set within the cache, but not to any specific block within that set.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Set sizes range from 1 (</a:t>
            </a:r>
            <a:r>
              <a:rPr lang="en-US" b="1" i="0" u="none" strike="noStrike" baseline="0" dirty="0">
                <a:latin typeface="+mj-lt"/>
              </a:rPr>
              <a:t>direct-mapped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) to 2</a:t>
            </a:r>
            <a:r>
              <a:rPr lang="en-US" b="0" i="1" u="none" strike="noStrike" baseline="30000" dirty="0">
                <a:solidFill>
                  <a:srgbClr val="000000"/>
                </a:solidFill>
                <a:latin typeface="+mj-lt"/>
              </a:rPr>
              <a:t>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(</a:t>
            </a:r>
            <a:r>
              <a:rPr lang="en-US" b="1" i="0" u="none" strike="noStrike" baseline="0" dirty="0">
                <a:latin typeface="+mj-lt"/>
              </a:rPr>
              <a:t>fully associative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Larger sets and higher associativity lead to fewer cache conflicts and lower miss rates, but they also increase the hardware cost.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In practice, 2-way through 16-way set-associative caches strike a good balance between lower miss rates and higher costs.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Summary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811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926269"/>
            <a:ext cx="851460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02122"/>
                </a:solidFill>
                <a:latin typeface="Arial" panose="020B0604020202020204" pitchFamily="34" charset="0"/>
              </a:rPr>
              <a:t>C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ache coherence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refers to the consistency or discrepancy of the cached value and the value located in main memory or within other cache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Cache coherence problems will arise when the CPU modifies (writes) a value in the cache.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u="none" strike="noStrike" baseline="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latin typeface="Arial" panose="020B0604020202020204" pitchFamily="34" charset="0"/>
              </a:rPr>
              <a:t>At some point we need to write the contents of the cache back to main memory.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u="none" strike="noStrike" baseline="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A 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+mj-lt"/>
              </a:rPr>
              <a:t>write-through cache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forces all writes to update both the cache </a:t>
            </a:r>
            <a:r>
              <a:rPr lang="en-US" b="0" i="0" u="none" strike="noStrike" baseline="0">
                <a:solidFill>
                  <a:srgbClr val="000000"/>
                </a:solidFill>
                <a:latin typeface="+mj-lt"/>
              </a:rPr>
              <a:t>and the main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memory.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Simple to implement and keeps cache and memory consistent.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Wastes memory bandwidth.</a:t>
            </a: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About Cache Coherence?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F240EB-3707-4EE7-6EF1-3A2C06E36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990" y="3723276"/>
            <a:ext cx="6236020" cy="212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574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997522"/>
            <a:ext cx="851460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a write-back cache, the memory is not updated until the cache block needs to be replaced (e.g., when loading data into a full cache set).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example, we might write some data to the cache at first, leaving it inconsistent with the main memory as shown before.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cache block is marked “dirty” to indicate this inconsistency.</a:t>
            </a: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Subsequent reads to the same memory address?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writes to same block?</a:t>
            </a: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Write-back Caches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D8386D-0375-DB0E-A5D8-E1497252C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903" y="2768922"/>
            <a:ext cx="6674193" cy="194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98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997522"/>
            <a:ext cx="85146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advantage of write-back caches is that not all write operations need to access main memory, as it does with write-through caches.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a single address is frequently written to, then it doesn’t pay to keep writing that data through to main memory.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several bytes within the same cache block are modified, they will only force one memory write operation at write-back time.</a:t>
            </a: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Write-back Caches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869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997522"/>
            <a:ext cx="85146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A second scenario is if we try to write to an address that is not already contained in the cache; this is called a 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+mj-lt"/>
              </a:rPr>
              <a:t>write miss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Let’s say we want to store 21763 into Mem[1101 0110] but we find that address is not currently in the cache.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When we update Mem[1101 0110], should we also load it into the cache?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We have two choices on a write miss: Make room for new data or don’t.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Write Misses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741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997522"/>
            <a:ext cx="85146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With a 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+mj-lt"/>
              </a:rPr>
              <a:t>write around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policy, the write operation goes directly to main memory without affecting the cache.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This is good when data is written but not immediately used again, in which case there’s no point to load it into the cache yet.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r>
              <a:rPr lang="en-US" dirty="0">
                <a:solidFill>
                  <a:srgbClr val="000000"/>
                </a:solidFill>
                <a:latin typeface="+mj-lt"/>
              </a:rPr>
              <a:t>Example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For(int i = 0; i &lt; SIZE; i++)</a:t>
            </a:r>
          </a:p>
          <a:p>
            <a:r>
              <a:rPr lang="en-US" dirty="0">
                <a:solidFill>
                  <a:srgbClr val="000000"/>
                </a:solidFill>
                <a:latin typeface="+mj-lt"/>
              </a:rPr>
              <a:t>	a[i] = i;</a:t>
            </a:r>
          </a:p>
          <a:p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Makes more sense for write-though caches.</a:t>
            </a: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Write Around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201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997522"/>
            <a:ext cx="8514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allocate on write</a:t>
            </a:r>
            <a:r>
              <a:rPr lang="en-US" dirty="0"/>
              <a:t> strategy would load the newly written data into the cache.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that data is needed again soon, it will be available in the cache.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Makes more sense for write-back caches.</a:t>
            </a: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Allocate on Write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1018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Performance Comparison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5FB132-98C1-BB08-D77A-23AD1FB1D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95" y="1311483"/>
            <a:ext cx="6949259" cy="446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980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Performance Comparison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A870EB-4549-1249-D773-290EF103A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2" y="1290715"/>
            <a:ext cx="6997766" cy="481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895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Performance Comparison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F18D37-3644-6A53-9092-7849186E8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13" y="1489666"/>
            <a:ext cx="8104023" cy="441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800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Sources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CB018A-15B1-4C22-8FA2-A904A060C299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3/23/2026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BA28D0-02EE-4D85-89C2-55FF3BC2206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2"/>
              </a:rPr>
              <a:t>http://www.eecs.harvard.edu/cs146-246/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Assigned Textbook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3"/>
              </a:rPr>
              <a:t>https://sites.pitt.edu/~juy9/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4"/>
              </a:rPr>
              <a:t>https://en.wikipedia.org/wiki/Cache_coherence</a:t>
            </a:r>
            <a:endParaRPr lang="en-US" dirty="0">
              <a:solidFill>
                <a:prstClr val="black"/>
              </a:solidFill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32965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15471</TotalTime>
  <Words>2243</Words>
  <Application>Microsoft Office PowerPoint</Application>
  <PresentationFormat>On-screen Show (4:3)</PresentationFormat>
  <Paragraphs>317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Times New Roman</vt:lpstr>
      <vt:lpstr>Trebuchet MS</vt:lpstr>
      <vt:lpstr>2_Office Theme</vt:lpstr>
      <vt:lpstr>PowerPoint Presentation</vt:lpstr>
      <vt:lpstr>Presentation Outline</vt:lpstr>
      <vt:lpstr>Data Location?</vt:lpstr>
      <vt:lpstr>Look no Further Than The Least-Significant Bits</vt:lpstr>
      <vt:lpstr>How Can We Find Data?</vt:lpstr>
      <vt:lpstr>We need Tags!</vt:lpstr>
      <vt:lpstr>We need Tags!</vt:lpstr>
      <vt:lpstr>The Valid Bit</vt:lpstr>
      <vt:lpstr>What Happens On a Cache Hit?</vt:lpstr>
      <vt:lpstr>Block Loading</vt:lpstr>
      <vt:lpstr>What About Spatial Locality?</vt:lpstr>
      <vt:lpstr>The Need For Block Addresses Arise!</vt:lpstr>
      <vt:lpstr>Looking for Data In a Multi-Byte Block</vt:lpstr>
      <vt:lpstr>A Quick Exercise</vt:lpstr>
      <vt:lpstr>Disadvantage of Direct Mapping Caches</vt:lpstr>
      <vt:lpstr>Fully Associative Cache</vt:lpstr>
      <vt:lpstr>Pay The Price?</vt:lpstr>
      <vt:lpstr>Set Associative Cache</vt:lpstr>
      <vt:lpstr>Locating a Set Associative Block</vt:lpstr>
      <vt:lpstr>Locating a Set Associative Block</vt:lpstr>
      <vt:lpstr>Set Associative Caches Are Just An Idea</vt:lpstr>
      <vt:lpstr>Summary</vt:lpstr>
      <vt:lpstr>What About Cache Coherence?</vt:lpstr>
      <vt:lpstr>Write-back Caches</vt:lpstr>
      <vt:lpstr>Write-back Caches</vt:lpstr>
      <vt:lpstr>Write Misses</vt:lpstr>
      <vt:lpstr>Write Around</vt:lpstr>
      <vt:lpstr>Allocate on Write</vt:lpstr>
      <vt:lpstr>Performance Comparison</vt:lpstr>
      <vt:lpstr>Performance Comparison</vt:lpstr>
      <vt:lpstr>Performance Comparison</vt:lpstr>
      <vt:lpstr>Sources</vt:lpstr>
    </vt:vector>
  </TitlesOfParts>
  <Manager>P3E</Manager>
  <Company>Texas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P3E Presentation Template</dc:title>
  <dc:subject>P3E</dc:subject>
  <dc:creator>Kevin Lawson</dc:creator>
  <cp:lastModifiedBy>Argenis Bilbao</cp:lastModifiedBy>
  <cp:revision>1489</cp:revision>
  <dcterms:created xsi:type="dcterms:W3CDTF">2007-11-05T15:07:41Z</dcterms:created>
  <dcterms:modified xsi:type="dcterms:W3CDTF">2026-03-23T15:00:35Z</dcterms:modified>
</cp:coreProperties>
</file>