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20"/>
  </p:notesMasterIdLst>
  <p:handoutMasterIdLst>
    <p:handoutMasterId r:id="rId21"/>
  </p:handoutMasterIdLst>
  <p:sldIdLst>
    <p:sldId id="262" r:id="rId2"/>
    <p:sldId id="415" r:id="rId3"/>
    <p:sldId id="436" r:id="rId4"/>
    <p:sldId id="468" r:id="rId5"/>
    <p:sldId id="456" r:id="rId6"/>
    <p:sldId id="454" r:id="rId7"/>
    <p:sldId id="463" r:id="rId8"/>
    <p:sldId id="464" r:id="rId9"/>
    <p:sldId id="465" r:id="rId10"/>
    <p:sldId id="455" r:id="rId11"/>
    <p:sldId id="457" r:id="rId12"/>
    <p:sldId id="458" r:id="rId13"/>
    <p:sldId id="459" r:id="rId14"/>
    <p:sldId id="460" r:id="rId15"/>
    <p:sldId id="461" r:id="rId16"/>
    <p:sldId id="462" r:id="rId17"/>
    <p:sldId id="469" r:id="rId18"/>
    <p:sldId id="430" r:id="rId19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5449E1"/>
    <a:srgbClr val="210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>
        <p:scale>
          <a:sx n="150" d="100"/>
          <a:sy n="150" d="100"/>
        </p:scale>
        <p:origin x="-1145" y="-30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chip.org/wiki/File:sram_basic_cell.svg" TargetMode="External"/><Relationship Id="rId3" Type="http://schemas.openxmlformats.org/officeDocument/2006/relationships/hyperlink" Target="https://en.wikipedia.org/wiki/Instruction_pipelining" TargetMode="External"/><Relationship Id="rId7" Type="http://schemas.openxmlformats.org/officeDocument/2006/relationships/hyperlink" Target="https://www.javatpoint.com/functional-units-of-digital-system#:~:text=Functional%20units%20are%20a%20part,for%20by%20the%20computer%20program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uperscalar_processor" TargetMode="External"/><Relationship Id="rId5" Type="http://schemas.openxmlformats.org/officeDocument/2006/relationships/hyperlink" Target="https://www.cise.ufl.edu/~mssz/CompOrg/CDA-proc.html#:~:text=Processor%20(CPU)%20is%20the%20active,%2C%20registers%2C%20and%20internal%20buses" TargetMode="External"/><Relationship Id="rId4" Type="http://schemas.openxmlformats.org/officeDocument/2006/relationships/hyperlink" Target="https://cstaleem.com/pipelining-and-non-pipeli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 / ECE 5375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ALU/Function Unit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flow 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 Decoder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Condition code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 Pipelining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Register File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210A6-E04E-96FB-F3B5-7F477478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394" y="1903067"/>
            <a:ext cx="6070915" cy="46164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ED972-02CA-F7F9-39EC-19B760346CF0}"/>
              </a:ext>
            </a:extLst>
          </p:cNvPr>
          <p:cNvSpPr txBox="1"/>
          <p:nvPr/>
        </p:nvSpPr>
        <p:spPr>
          <a:xfrm>
            <a:off x="326571" y="1270660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Contains all the general-purpose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means of</a:t>
            </a:r>
            <a:br>
              <a:rPr lang="en-US" dirty="0"/>
            </a:br>
            <a:r>
              <a:rPr lang="en-US" dirty="0"/>
              <a:t>addressing registers</a:t>
            </a:r>
            <a:br>
              <a:rPr lang="en-US" dirty="0"/>
            </a:br>
            <a:r>
              <a:rPr lang="en-US" dirty="0"/>
              <a:t>for reading and writing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input 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input address</a:t>
            </a:r>
            <a:br>
              <a:rPr lang="en-US" dirty="0"/>
            </a:br>
            <a:r>
              <a:rPr lang="en-US" dirty="0"/>
              <a:t>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load enable </a:t>
            </a:r>
            <a:br>
              <a:rPr lang="en-US" dirty="0"/>
            </a:br>
            <a:r>
              <a:rPr lang="en-US" dirty="0"/>
              <a:t>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data output buses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data output </a:t>
            </a:r>
            <a:br>
              <a:rPr lang="en-US" dirty="0"/>
            </a:br>
            <a:r>
              <a:rPr lang="en-US" dirty="0"/>
              <a:t>busses</a:t>
            </a:r>
          </a:p>
        </p:txBody>
      </p:sp>
    </p:spTree>
    <p:extLst>
      <p:ext uri="{BB962C8B-B14F-4D97-AF65-F5344CB8AC3E}">
        <p14:creationId xmlns:p14="http://schemas.microsoft.com/office/powerpoint/2010/main" val="552983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What</a:t>
            </a:r>
            <a:r>
              <a:rPr lang="en-US" b="1" u="sng" dirty="0">
                <a:solidFill>
                  <a:srgbClr val="202124"/>
                </a:solidFill>
                <a:latin typeface="+mj-lt"/>
              </a:rPr>
              <a:t> is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 combinational logic circuit.</a:t>
            </a:r>
          </a:p>
          <a:p>
            <a:r>
              <a:rPr lang="en-US" dirty="0">
                <a:solidFill>
                  <a:srgbClr val="202124"/>
                </a:solidFill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Can be implemented as a ROM Memory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r>
              <a:rPr lang="en-US" sz="2000" b="1" u="sng" dirty="0">
                <a:solidFill>
                  <a:srgbClr val="202124"/>
                </a:solidFill>
                <a:latin typeface="+mj-lt"/>
              </a:rPr>
              <a:t>What</a:t>
            </a:r>
            <a:r>
              <a:rPr lang="en-US" b="1" u="sng" dirty="0">
                <a:solidFill>
                  <a:srgbClr val="202124"/>
                </a:solidFill>
                <a:latin typeface="+mj-lt"/>
              </a:rPr>
              <a:t> does it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Stores the address of the start of the microcode for each one of the instructions (CISC).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Generates a </a:t>
            </a:r>
            <a:r>
              <a:rPr lang="en-US" b="1" u="sng" dirty="0">
                <a:solidFill>
                  <a:srgbClr val="202124"/>
                </a:solidFill>
                <a:latin typeface="+mj-lt"/>
              </a:rPr>
              <a:t>control word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from the input instruction to control the state of the </a:t>
            </a:r>
            <a:r>
              <a:rPr lang="en-US" dirty="0" err="1">
                <a:solidFill>
                  <a:srgbClr val="202124"/>
                </a:solidFill>
                <a:latin typeface="+mj-lt"/>
              </a:rPr>
              <a:t>datapath</a:t>
            </a:r>
            <a:r>
              <a:rPr lang="en-US" dirty="0">
                <a:solidFill>
                  <a:srgbClr val="202124"/>
                </a:solidFill>
                <a:latin typeface="+mj-lt"/>
              </a:rPr>
              <a:t> for instruction execution (RISC).</a:t>
            </a:r>
            <a:endParaRPr lang="en-US" b="1" u="sng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Instruction Decoder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6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5825661"/>
            <a:ext cx="8514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When you input a pattern, it outputs another pattern. Sounds like a memory, no?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Instruction Decoder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 descr="A diagram of instructions&#10;&#10;Description automatically generated">
            <a:extLst>
              <a:ext uri="{FF2B5EF4-FFF2-40B4-BE49-F238E27FC236}">
                <a16:creationId xmlns:a16="http://schemas.microsoft.com/office/drawing/2014/main" id="{BB1039D7-3C0E-58EF-92F5-D7A30394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757" y="1416423"/>
            <a:ext cx="4516486" cy="40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+mj-lt"/>
              </a:rPr>
              <a:t>Functional units are </a:t>
            </a:r>
            <a:r>
              <a:rPr lang="en-US" b="1" i="0" dirty="0">
                <a:solidFill>
                  <a:srgbClr val="202124"/>
                </a:solidFill>
                <a:effectLst/>
                <a:latin typeface="+mj-lt"/>
              </a:rPr>
              <a:t>a part of a CPU that performs the operations and calculations called for by the computer program</a:t>
            </a:r>
            <a:r>
              <a:rPr lang="en-US" b="0" i="0" dirty="0">
                <a:solidFill>
                  <a:srgbClr val="202124"/>
                </a:solidFill>
                <a:effectLst/>
                <a:latin typeface="+mj-lt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Performs arithmetic and logic operations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Add, subtract, multiply, divide, and, or, not, </a:t>
            </a:r>
            <a:r>
              <a:rPr lang="en-US" dirty="0" err="1">
                <a:solidFill>
                  <a:srgbClr val="202124"/>
                </a:solidFill>
                <a:latin typeface="+mj-lt"/>
              </a:rPr>
              <a:t>xor</a:t>
            </a: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Performs right and left shifting along with rolls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202124"/>
              </a:solidFill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02124"/>
                </a:solidFill>
                <a:latin typeface="+mj-lt"/>
              </a:rPr>
              <a:t>Typically, 2 buses as inputs and one output bus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ALU/Function Unit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B75BA-1DED-D11B-D1BB-2F2C90FB1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809" y="1823457"/>
            <a:ext cx="4730993" cy="2862768"/>
          </a:xfrm>
          <a:prstGeom prst="rect">
            <a:avLst/>
          </a:prstGeom>
        </p:spPr>
      </p:pic>
      <p:pic>
        <p:nvPicPr>
          <p:cNvPr id="1026" name="Picture 2" descr="IAY0340-Digital Systems Modeling and Synthesis">
            <a:extLst>
              <a:ext uri="{FF2B5EF4-FFF2-40B4-BE49-F238E27FC236}">
                <a16:creationId xmlns:a16="http://schemas.microsoft.com/office/drawing/2014/main" id="{826D983D-77F2-1708-5593-2E76E2F4D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3" y="2067957"/>
            <a:ext cx="3205086" cy="237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DDB2E6F-88AD-92BD-BC65-0F26A09F0338}"/>
              </a:ext>
            </a:extLst>
          </p:cNvPr>
          <p:cNvSpPr/>
          <p:nvPr/>
        </p:nvSpPr>
        <p:spPr>
          <a:xfrm>
            <a:off x="3384468" y="3123223"/>
            <a:ext cx="855023" cy="506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056899"/>
            <a:ext cx="8554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 bit is set if result of operation in negative (</a:t>
            </a:r>
            <a:r>
              <a:rPr lang="en-US" dirty="0" err="1"/>
              <a:t>MSb</a:t>
            </a:r>
            <a:r>
              <a:rPr lang="en-US" dirty="0"/>
              <a:t> = 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Equal to </a:t>
            </a:r>
            <a:r>
              <a:rPr lang="en-US" dirty="0" err="1"/>
              <a:t>MSb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 bit is set if result of operation is zero (All bits = 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 bit is set if operation produced an overflow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 bit is set if operation produced a carry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 Code Bits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73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10979"/>
            <a:ext cx="85547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 bit is set if operation produced a carry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Examples:</a:t>
            </a:r>
          </a:p>
          <a:p>
            <a:r>
              <a:rPr lang="pt-BR" dirty="0">
                <a:latin typeface="+mj-lt"/>
              </a:rPr>
              <a:t>1) Addition of two numbers and result does not fit in 16-bits. C is set.</a:t>
            </a:r>
          </a:p>
          <a:p>
            <a:r>
              <a:rPr lang="pt-BR" dirty="0">
                <a:latin typeface="+mj-lt"/>
              </a:rPr>
              <a:t>MOV.W #0xFFFF, R4</a:t>
            </a:r>
          </a:p>
          <a:p>
            <a:r>
              <a:rPr lang="pt-BR" dirty="0">
                <a:latin typeface="+mj-lt"/>
              </a:rPr>
              <a:t>MOV.W #0x0001, R5        </a:t>
            </a:r>
          </a:p>
          <a:p>
            <a:r>
              <a:rPr lang="pt-BR" dirty="0">
                <a:latin typeface="+mj-lt"/>
              </a:rPr>
              <a:t>ADD.W R5, R4</a:t>
            </a:r>
            <a:endParaRPr lang="en-US" dirty="0">
              <a:latin typeface="+mj-lt"/>
            </a:endParaRPr>
          </a:p>
          <a:p>
            <a:endParaRPr lang="pt-BR" dirty="0">
              <a:latin typeface="+mj-lt"/>
            </a:endParaRPr>
          </a:p>
          <a:p>
            <a:r>
              <a:rPr lang="pt-BR" dirty="0">
                <a:latin typeface="+mj-lt"/>
              </a:rPr>
              <a:t>2) Subtraction of two numbers and result does not fit in 16-bits. C is set.</a:t>
            </a:r>
          </a:p>
          <a:p>
            <a:r>
              <a:rPr lang="pt-BR" dirty="0">
                <a:latin typeface="+mj-lt"/>
              </a:rPr>
              <a:t>(remember subtraction is addition)</a:t>
            </a:r>
          </a:p>
          <a:p>
            <a:r>
              <a:rPr lang="pt-BR" dirty="0">
                <a:latin typeface="+mj-lt"/>
              </a:rPr>
              <a:t>MOV.W #0xFFFF, R4</a:t>
            </a:r>
          </a:p>
          <a:p>
            <a:r>
              <a:rPr lang="pt-BR" dirty="0">
                <a:latin typeface="+mj-lt"/>
              </a:rPr>
              <a:t>MOV.W #0x0001, R5        </a:t>
            </a:r>
          </a:p>
          <a:p>
            <a:r>
              <a:rPr lang="pt-BR" dirty="0">
                <a:latin typeface="+mj-lt"/>
              </a:rPr>
              <a:t>INV.W R5</a:t>
            </a:r>
          </a:p>
          <a:p>
            <a:r>
              <a:rPr lang="pt-BR" dirty="0">
                <a:latin typeface="+mj-lt"/>
              </a:rPr>
              <a:t>ADD.W #0x0001, R5</a:t>
            </a:r>
          </a:p>
          <a:p>
            <a:r>
              <a:rPr lang="pt-BR" dirty="0">
                <a:latin typeface="+mj-lt"/>
              </a:rPr>
              <a:t>ADD.W R5, R4</a:t>
            </a:r>
          </a:p>
          <a:p>
            <a:endParaRPr lang="pt-BR" dirty="0">
              <a:latin typeface="+mj-lt"/>
            </a:endParaRPr>
          </a:p>
          <a:p>
            <a:r>
              <a:rPr lang="en-US" dirty="0">
                <a:latin typeface="+mj-lt"/>
              </a:rPr>
              <a:t>3) Addition of two numbers and result fits in 16-bits. C is not set.</a:t>
            </a:r>
          </a:p>
          <a:p>
            <a:r>
              <a:rPr lang="pt-BR" dirty="0">
                <a:latin typeface="+mj-lt"/>
              </a:rPr>
              <a:t>MOV.W #0x7FFF, R4</a:t>
            </a:r>
          </a:p>
          <a:p>
            <a:r>
              <a:rPr lang="pt-BR" dirty="0">
                <a:latin typeface="+mj-lt"/>
              </a:rPr>
              <a:t>MOV.W #0x0001, R5        </a:t>
            </a:r>
          </a:p>
          <a:p>
            <a:r>
              <a:rPr lang="pt-BR" dirty="0">
                <a:latin typeface="+mj-lt"/>
              </a:rPr>
              <a:t>ADD.W R5, R4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 Code Bits – Carry (C)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04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910979"/>
            <a:ext cx="85547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 bit is set if operation produced an arithmetic overflow.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if addition of two positive numbers result in a negative number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 if the addition of two negative numbers result in a positive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Reset otherwise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Examples:</a:t>
            </a:r>
          </a:p>
          <a:p>
            <a:r>
              <a:rPr lang="pt-BR" dirty="0">
                <a:latin typeface="+mj-lt"/>
              </a:rPr>
              <a:t>1) Addition of two negative numbers and result is positive. V is set.</a:t>
            </a:r>
          </a:p>
          <a:p>
            <a:r>
              <a:rPr lang="pt-BR" dirty="0">
                <a:latin typeface="+mj-lt"/>
              </a:rPr>
              <a:t> MOV.W #0x8001, R4 ; -32767d</a:t>
            </a:r>
          </a:p>
          <a:p>
            <a:r>
              <a:rPr lang="pt-BR" dirty="0">
                <a:latin typeface="+mj-lt"/>
              </a:rPr>
              <a:t> MOV.W #0x8001, R5 ; -32767d     </a:t>
            </a:r>
          </a:p>
          <a:p>
            <a:r>
              <a:rPr lang="pt-BR" dirty="0">
                <a:latin typeface="+mj-lt"/>
              </a:rPr>
              <a:t> ADD.W R5, R4</a:t>
            </a:r>
          </a:p>
          <a:p>
            <a:endParaRPr lang="pt-BR" dirty="0">
              <a:latin typeface="+mj-lt"/>
            </a:endParaRPr>
          </a:p>
          <a:p>
            <a:r>
              <a:rPr lang="pt-BR" dirty="0">
                <a:latin typeface="+mj-lt"/>
              </a:rPr>
              <a:t>2) Addition of two positive numbers and result is negative. V is set.</a:t>
            </a:r>
          </a:p>
          <a:p>
            <a:r>
              <a:rPr lang="pt-BR" dirty="0">
                <a:latin typeface="+mj-lt"/>
              </a:rPr>
              <a:t> MOV.W #0x7FFF, R4 ; 32767d</a:t>
            </a:r>
          </a:p>
          <a:p>
            <a:r>
              <a:rPr lang="pt-BR" dirty="0">
                <a:latin typeface="+mj-lt"/>
              </a:rPr>
              <a:t> MOV.W #0x0001, R5  ; 1d      </a:t>
            </a:r>
          </a:p>
          <a:p>
            <a:r>
              <a:rPr lang="pt-BR" dirty="0">
                <a:latin typeface="+mj-lt"/>
              </a:rPr>
              <a:t> ADD.W R5, R4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Condition Code Bits – Overflow (V)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72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056899"/>
            <a:ext cx="45244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dirty="0"/>
              <a:t>Microoperation: R0 ← R1 + 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01 to A select to place 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contents of R1 onto Bus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10 to B select to place 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contents of R2 onto B data and 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apply 0 to MB select to place 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B data on Bus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0010 to G select to perform addition  G = Bus A + Bus B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0 to MF select and 0 to MD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select to place the value of G onto BUS 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00 to Destination select to enable the Load input to R0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Apply 1 to Load Enable to force the Load input to R0 to 1 so that R0 is loaded on the clock pulse (not shown)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u="none" baseline="0" dirty="0"/>
              <a:t>The overall microoperation requires</a:t>
            </a:r>
            <a:br>
              <a:rPr lang="en-US" altLang="en-US" sz="1800" u="none" baseline="0" dirty="0"/>
            </a:br>
            <a:r>
              <a:rPr lang="en-US" altLang="en-US" sz="1800" u="none" baseline="0" dirty="0"/>
              <a:t>1 clock cycle</a:t>
            </a:r>
            <a:endParaRPr lang="en-US" dirty="0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Flow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2CF33-3D08-115E-356C-2FF57B37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54" y="1117268"/>
            <a:ext cx="3979467" cy="53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140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(CLK0)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8" name="Picture 7" descr="A diagram of a computer&#10;&#10;Description automatically generated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23" y="995042"/>
            <a:ext cx="6961409" cy="539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7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(CLK1)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3" y="995042"/>
            <a:ext cx="6961409" cy="539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9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3" y="995042"/>
            <a:ext cx="6961408" cy="539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26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(CLK3)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3" y="995042"/>
            <a:ext cx="6961408" cy="539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(CLK4)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4" y="995042"/>
            <a:ext cx="6961406" cy="5396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FBE1C4-2E2C-713E-26E8-5D5585AAA9CB}"/>
              </a:ext>
            </a:extLst>
          </p:cNvPr>
          <p:cNvSpPr txBox="1"/>
          <p:nvPr/>
        </p:nvSpPr>
        <p:spPr>
          <a:xfrm>
            <a:off x="5101772" y="4510309"/>
            <a:ext cx="2394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9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(CLK5)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4" y="995042"/>
            <a:ext cx="6961406" cy="539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4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Pipeline Example (CLK6)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10/14/2026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F7B493-921D-DE96-6BC3-E882DA88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024" y="995042"/>
            <a:ext cx="6961405" cy="539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50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https://en.wikipedia.org/wiki/Instruction_pipelining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https://cstaleem.com/pipelining-and-non-pipelining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5"/>
              </a:rPr>
              <a:t>https://www.cise.ufl.edu/~mssz/CompOrg/CDA-proc.html#:~:text=Processor%20(CPU)%20is%20the%20active,%2C%20registers%2C%20and%20internal%20buses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hlinkClick r:id="rId6"/>
              </a:rPr>
              <a:t>https://en.wikipedia.org/wiki/Superscalar_processor</a:t>
            </a:r>
            <a:endParaRPr lang="en-US" dirty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hlinkClick r:id="rId2"/>
              </a:rPr>
              <a:t>http://www.eecs.harvard.edu/cs146-246/</a:t>
            </a:r>
            <a:endParaRPr lang="en-US" dirty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Assigned Textbook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hlinkClick r:id="rId7"/>
              </a:rPr>
              <a:t>https://www.javatpoint.com/functional-units-of-digital-system#:~:text=Functional%20units%20are%20a%20part,for%20by%20the%20computer%20program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hlinkClick r:id="rId8"/>
              </a:rPr>
              <a:t>https://en.wikichip.org/wiki/File:sram_basic_cell.svg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14574</TotalTime>
  <Words>927</Words>
  <Application>Microsoft Office PowerPoint</Application>
  <PresentationFormat>On-screen Show (4:3)</PresentationFormat>
  <Paragraphs>175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2_Office Theme</vt:lpstr>
      <vt:lpstr>PowerPoint Presentation</vt:lpstr>
      <vt:lpstr>Presentation Outline</vt:lpstr>
      <vt:lpstr>The Register File</vt:lpstr>
      <vt:lpstr>The Instruction Decoder</vt:lpstr>
      <vt:lpstr>The Instruction Decoder</vt:lpstr>
      <vt:lpstr>The ALU/Function Unit</vt:lpstr>
      <vt:lpstr>Condition Code Bits</vt:lpstr>
      <vt:lpstr>Condition Code Bits – Carry (C)</vt:lpstr>
      <vt:lpstr>Condition Code Bits – Overflow (V)</vt:lpstr>
      <vt:lpstr>Data Flow</vt:lpstr>
      <vt:lpstr>Pipeline Example (CLK0)</vt:lpstr>
      <vt:lpstr>Pipeline Example (CLK1)</vt:lpstr>
      <vt:lpstr>Pipeline Example (CLK2)</vt:lpstr>
      <vt:lpstr>Pipeline Example (CLK3)</vt:lpstr>
      <vt:lpstr>Pipeline Example (CLK4)</vt:lpstr>
      <vt:lpstr>Pipeline Example (CLK5)</vt:lpstr>
      <vt:lpstr>Pipeline Example (CLK6)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Bilbao, Argenis</cp:lastModifiedBy>
  <cp:revision>1487</cp:revision>
  <dcterms:created xsi:type="dcterms:W3CDTF">2007-11-05T15:07:41Z</dcterms:created>
  <dcterms:modified xsi:type="dcterms:W3CDTF">2026-10-14T19:13:25Z</dcterms:modified>
</cp:coreProperties>
</file>