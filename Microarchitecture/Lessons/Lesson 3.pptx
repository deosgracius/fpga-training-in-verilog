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1">
  <p:sldMasterIdLst>
    <p:sldMasterId id="2147483833" r:id="rId1"/>
  </p:sldMasterIdLst>
  <p:notesMasterIdLst>
    <p:notesMasterId r:id="rId15"/>
  </p:notesMasterIdLst>
  <p:handoutMasterIdLst>
    <p:handoutMasterId r:id="rId16"/>
  </p:handoutMasterIdLst>
  <p:sldIdLst>
    <p:sldId id="262" r:id="rId2"/>
    <p:sldId id="415" r:id="rId3"/>
    <p:sldId id="457" r:id="rId4"/>
    <p:sldId id="458" r:id="rId5"/>
    <p:sldId id="459" r:id="rId6"/>
    <p:sldId id="460" r:id="rId7"/>
    <p:sldId id="461" r:id="rId8"/>
    <p:sldId id="462" r:id="rId9"/>
    <p:sldId id="455" r:id="rId10"/>
    <p:sldId id="456" r:id="rId11"/>
    <p:sldId id="454" r:id="rId12"/>
    <p:sldId id="463" r:id="rId13"/>
    <p:sldId id="430" r:id="rId14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CBE"/>
    <a:srgbClr val="FF0000"/>
    <a:srgbClr val="66FF33"/>
    <a:srgbClr val="544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06" autoAdjust="0"/>
    <p:restoredTop sz="99548" autoAdjust="0"/>
  </p:normalViewPr>
  <p:slideViewPr>
    <p:cSldViewPr snapToGrid="0">
      <p:cViewPr varScale="1">
        <p:scale>
          <a:sx n="52" d="100"/>
          <a:sy n="52" d="100"/>
        </p:scale>
        <p:origin x="162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480"/>
    </p:cViewPr>
  </p:sorterViewPr>
  <p:notesViewPr>
    <p:cSldViewPr snapToGrid="0">
      <p:cViewPr varScale="1">
        <p:scale>
          <a:sx n="85" d="100"/>
          <a:sy n="85" d="100"/>
        </p:scale>
        <p:origin x="-3786" y="-84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D84709DF-3BD8-402F-80E3-8C612EC5F261}" type="datetimeFigureOut">
              <a:rPr lang="en-US"/>
              <a:pPr>
                <a:defRPr/>
              </a:pPr>
              <a:t>1/28/2026</a:t>
            </a:fld>
            <a:endParaRPr lang="en-US" dirty="0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F4709C4-D4EF-4A59-93AC-CDE74B2DBF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517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1E4D6C9-0F27-4334-9BAD-4BF9A16E0770}" type="datetimeFigureOut">
              <a:rPr lang="en-US"/>
              <a:pPr>
                <a:defRPr/>
              </a:pPr>
              <a:t>1/28/2026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767"/>
            <a:ext cx="5608320" cy="4155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45158B6-2379-4B93-B466-8093E86C688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8226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05300"/>
            <a:ext cx="6400800" cy="77152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1/28/2026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5" y="91368"/>
            <a:ext cx="7848600" cy="731519"/>
          </a:xfrm>
        </p:spPr>
        <p:txBody>
          <a:bodyPr>
            <a:normAutofit/>
          </a:bodyPr>
          <a:lstStyle>
            <a:lvl1pPr>
              <a:defRPr sz="4000" b="1" kern="3000" spc="-100" baseline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1/28/2026</a:t>
            </a:fld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797"/>
          <a:stretch/>
        </p:blipFill>
        <p:spPr>
          <a:xfrm>
            <a:off x="87410" y="82255"/>
            <a:ext cx="512666" cy="749746"/>
          </a:xfrm>
          <a:prstGeom prst="rect">
            <a:avLst/>
          </a:prstGeom>
        </p:spPr>
      </p:pic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1/28/2026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4572000" y="981075"/>
            <a:ext cx="0" cy="5457825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77042" y="3543300"/>
            <a:ext cx="8989916" cy="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161925" y="981075"/>
            <a:ext cx="4257675" cy="24384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/>
          </p:nvPr>
        </p:nvSpPr>
        <p:spPr>
          <a:xfrm>
            <a:off x="87313" y="3709988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15"/>
          </p:nvPr>
        </p:nvSpPr>
        <p:spPr>
          <a:xfrm>
            <a:off x="4734671" y="3709987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16"/>
          </p:nvPr>
        </p:nvSpPr>
        <p:spPr>
          <a:xfrm>
            <a:off x="4734671" y="981075"/>
            <a:ext cx="4332287" cy="242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  <p:extLst>
      <p:ext uri="{BB962C8B-B14F-4D97-AF65-F5344CB8AC3E}">
        <p14:creationId xmlns:p14="http://schemas.microsoft.com/office/powerpoint/2010/main" val="161356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78486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373063" y="6591300"/>
            <a:ext cx="1752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5C08211-4AFA-4DCC-83B4-664F54295857}" type="datetime1">
              <a:rPr lang="en-US"/>
              <a:pPr>
                <a:defRPr/>
              </a:pPr>
              <a:t>1/28/2026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6913" y="6591300"/>
            <a:ext cx="2782887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2950" y="6551613"/>
            <a:ext cx="205105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B77A210C-9675-4AF8-BB4A-75C22F228BA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functional-units-of-digital-system#:~:text=Functional%20units%20are%20a%20part,for%20by%20the%20computer%20program" TargetMode="External"/><Relationship Id="rId2" Type="http://schemas.openxmlformats.org/officeDocument/2006/relationships/hyperlink" Target="http://www.eecs.harvard.edu/cs146-246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chip.org/wiki/File:sram_basic_cell.sv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1/28/2026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903672"/>
            <a:ext cx="7315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Microprocessor Architecture ECE4375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Argenis Bilbao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Spring 2024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357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Presentation Outline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1/28/2026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766046"/>
            <a:ext cx="7848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Memories</a:t>
            </a:r>
          </a:p>
        </p:txBody>
      </p:sp>
    </p:spTree>
    <p:extLst>
      <p:ext uri="{BB962C8B-B14F-4D97-AF65-F5344CB8AC3E}">
        <p14:creationId xmlns:p14="http://schemas.microsoft.com/office/powerpoint/2010/main" val="3887821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69712"/>
            <a:ext cx="847898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 Access Memory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 flavors at different levels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Physical Makeup (CMOS, DRAM)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Low Level Architectures (FPM,EDO,SDRAM,RAMBUS)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Cache uses SRAM: Static Random Access Memory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refresh (6 transistors/bit vs. 1 transistor </a:t>
            </a:r>
            <a:br>
              <a:rPr lang="en-US" dirty="0"/>
            </a:br>
            <a:r>
              <a:rPr lang="en-US" dirty="0"/>
              <a:t>Size: DRAM/SRAM - 4-8x, Cost and </a:t>
            </a:r>
            <a:br>
              <a:rPr lang="en-US" dirty="0"/>
            </a:br>
            <a:r>
              <a:rPr lang="en-US" dirty="0"/>
              <a:t>Cycle time: SRAM/DRAM - 8-16x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 Memory is DRAM: Dynamic Random Access Memory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Dynamic since needs to be refreshed periodically (8 </a:t>
            </a:r>
            <a:r>
              <a:rPr lang="en-US" dirty="0" err="1"/>
              <a:t>ms</a:t>
            </a:r>
            <a:r>
              <a:rPr lang="en-US" dirty="0"/>
              <a:t>, 1% time)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Addresses divided into 2 halves (Memory as a 2D matrix):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RAS or Row Access Strobe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CAS or Column Access Strobe</a:t>
            </a:r>
            <a:endParaRPr lang="en-US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Memories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331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69712"/>
            <a:ext cx="84789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Six transistors in cross connected fashion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Provides regular AND inverted outputs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Implemented in CMOS process </a:t>
            </a:r>
            <a:r>
              <a:rPr lang="en-US" dirty="0">
                <a:solidFill>
                  <a:srgbClr val="FF0000"/>
                </a:solidFill>
              </a:rPr>
              <a:t>(SEE DATASHEET)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Static RAM (SRAM)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C7FDEA-DC83-A905-EE3F-7366287DB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" y="2655965"/>
            <a:ext cx="3724983" cy="2094710"/>
          </a:xfrm>
          <a:prstGeom prst="rect">
            <a:avLst/>
          </a:prstGeom>
        </p:spPr>
      </p:pic>
      <p:pic>
        <p:nvPicPr>
          <p:cNvPr id="2054" name="Picture 6" descr="\includegraphics[width=16cm]{figures/sram-circuit}">
            <a:extLst>
              <a:ext uri="{FF2B5EF4-FFF2-40B4-BE49-F238E27FC236}">
                <a16:creationId xmlns:a16="http://schemas.microsoft.com/office/drawing/2014/main" id="{AA0CCE52-54F0-0C92-1F45-B01BBFE58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556" y="2454779"/>
            <a:ext cx="3920244" cy="2295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8C415411-15A3-AF71-A30A-AA8F8A68E93F}"/>
              </a:ext>
            </a:extLst>
          </p:cNvPr>
          <p:cNvSpPr/>
          <p:nvPr/>
        </p:nvSpPr>
        <p:spPr>
          <a:xfrm>
            <a:off x="3966358" y="3544784"/>
            <a:ext cx="724395" cy="1959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21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69712"/>
            <a:ext cx="84789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SRAM cells exhibit high speed/poor density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DRAM: simple transistor/capacitor pairs in high density form</a:t>
            </a:r>
            <a:endParaRPr lang="en-US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Dynamic RAM (DRAM)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00B615D-D0FB-1E26-C03F-7819B8ACF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2214874"/>
            <a:ext cx="7696200" cy="401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6992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69712"/>
            <a:ext cx="84789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Charge </a:t>
            </a:r>
            <a:r>
              <a:rPr lang="en-US" dirty="0" err="1"/>
              <a:t>bitline</a:t>
            </a:r>
            <a:r>
              <a:rPr lang="en-US" dirty="0"/>
              <a:t> HIGH or LOW and set </a:t>
            </a:r>
            <a:r>
              <a:rPr lang="en-US" dirty="0" err="1"/>
              <a:t>wordline</a:t>
            </a:r>
            <a:r>
              <a:rPr lang="en-US" dirty="0"/>
              <a:t> HIGH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Bit line is </a:t>
            </a:r>
            <a:r>
              <a:rPr lang="en-US" dirty="0" err="1"/>
              <a:t>precharged</a:t>
            </a:r>
            <a:r>
              <a:rPr lang="en-US" dirty="0"/>
              <a:t> to a voltage halfway between HIGH and LOW, and then the word line is set HIGH.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Depending on the charge in the cap, the </a:t>
            </a:r>
            <a:r>
              <a:rPr lang="en-US" dirty="0" err="1"/>
              <a:t>precharged</a:t>
            </a:r>
            <a:r>
              <a:rPr lang="en-US" dirty="0"/>
              <a:t> </a:t>
            </a:r>
            <a:r>
              <a:rPr lang="en-US" dirty="0" err="1"/>
              <a:t>bitline</a:t>
            </a:r>
            <a:r>
              <a:rPr lang="en-US" dirty="0"/>
              <a:t> is pulled slightly higher or lower.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Sense Amp Detects change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Reads are destructive (Must follow with a write)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Must refresh capacitor every so often 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DRAM Operations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169A79-94EF-90EF-3F5B-AD83CEB0F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057" y="3580410"/>
            <a:ext cx="2645743" cy="260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373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69712"/>
            <a:ext cx="847898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Square Row/Column Matrix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Multiplexed row/column address lines to save pins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Internal Row Buffer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to address: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Put Row Address on Lines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 RAS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Read row into row buffer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Put Column Address on Lines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 CAS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Read Column bits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DRAM Operations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4492127-CA0E-BF56-CAD1-A624D4576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753" y="2172497"/>
            <a:ext cx="3853791" cy="4093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3825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Synchronous DRAM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F6FE3C-95F3-F7E7-6EEC-9340C5B8E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502" y="1180984"/>
            <a:ext cx="6724996" cy="449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315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Erasable Programmable Read-only Memory (EPROM)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Can be written to through the application of “higher than normal” voltage levels to the device.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Can be erased by the application of very strong ultraviolet light to the semiconductor chip.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Can be accessed randomly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read/write (just like SRAM)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Had endurance problems!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Cannot be purchased 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anymore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Early 1970’s technology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EPROM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2FDEF2-FBB3-8057-631D-BDFD80618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182" y="3528245"/>
            <a:ext cx="5091618" cy="2647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6666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Electrically Erasable Programmable Read-only Memory (EEPROM)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Can be written to through the application of “higher than normal” voltage levels to the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Can be erased electrically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Can be accessed randomly read/write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(just like SRAM)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Can still be purchased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Late 1970’s technology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EEPROM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2FDEF2-FBB3-8057-631D-BDFD80618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40919" y="2324071"/>
            <a:ext cx="4052538" cy="4052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5441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48-TSOP">
            <a:extLst>
              <a:ext uri="{FF2B5EF4-FFF2-40B4-BE49-F238E27FC236}">
                <a16:creationId xmlns:a16="http://schemas.microsoft.com/office/drawing/2014/main" id="{AE5C0715-A420-8E76-CF91-FD4BF7C3B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176" y="2648415"/>
            <a:ext cx="3728224" cy="3728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02124"/>
                </a:solidFill>
                <a:latin typeface="+mj-lt"/>
              </a:rPr>
              <a:t>Non-volatile</a:t>
            </a:r>
            <a:r>
              <a:rPr lang="en-US" dirty="0">
                <a:solidFill>
                  <a:srgbClr val="202124"/>
                </a:solidFill>
                <a:latin typeface="+mj-lt"/>
              </a:rPr>
              <a:t> computer </a:t>
            </a:r>
            <a:r>
              <a:rPr lang="en-US" b="1" dirty="0">
                <a:solidFill>
                  <a:srgbClr val="202124"/>
                </a:solidFill>
                <a:latin typeface="+mj-lt"/>
              </a:rPr>
              <a:t>storage</a:t>
            </a:r>
            <a:r>
              <a:rPr lang="en-US" dirty="0">
                <a:solidFill>
                  <a:srgbClr val="202124"/>
                </a:solidFill>
                <a:latin typeface="+mj-lt"/>
              </a:rPr>
              <a:t> memory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Non-volatile: Power removal does not cause data loss.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Volatile: Power removal causes data loss/corruption.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Derived from the EEPROMs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Used for camera storage media, phones, 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USB drives, SSDs,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Late 1980’s technology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Flash Memory?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37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Can be read in 4Kb to 16 </a:t>
            </a:r>
            <a:r>
              <a:rPr lang="en-US" dirty="0" err="1">
                <a:solidFill>
                  <a:srgbClr val="202124"/>
                </a:solidFill>
                <a:latin typeface="+mj-lt"/>
              </a:rPr>
              <a:t>Kb</a:t>
            </a:r>
            <a:r>
              <a:rPr lang="en-US" dirty="0">
                <a:solidFill>
                  <a:srgbClr val="202124"/>
                </a:solidFill>
                <a:latin typeface="+mj-lt"/>
              </a:rPr>
              <a:t>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Writes are more complicated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Bits can be electrically erased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When erased the bits read 1’s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Writing of a bit sets the required bits to 0’s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A single byte write requires erasing an entire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“page”, which is made of multiple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Data that we didn’t mean to change needs 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to be rewritten to the rest of the page</a:t>
            </a:r>
            <a:endParaRPr lang="en-US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Flash Memory?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D5B2087-6211-2E18-93A0-B74CBAC29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899" y="1293546"/>
            <a:ext cx="3770274" cy="3770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987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Sources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CB018A-15B1-4C22-8FA2-A904A060C299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BA28D0-02EE-4D85-89C2-55FF3BC2206B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165410"/>
            <a:ext cx="78485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2"/>
              </a:rPr>
              <a:t>http://www.eecs.harvard.edu/cs146-246/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Assigned Textbook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3"/>
              </a:rPr>
              <a:t>https://www.javatpoint.com/functional-units-of-digital-system#:~:text=Functional%20units%20are%20a%20part,for%20by%20the%20computer%20program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</a:t>
            </a:r>
            <a:endParaRPr lang="en-US" dirty="0">
              <a:solidFill>
                <a:prstClr val="black"/>
              </a:solidFill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4"/>
              </a:rPr>
              <a:t>https://en.wikichip.org/wiki/File:sram_basic_cell.svg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832965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2_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15585</TotalTime>
  <Words>633</Words>
  <Application>Microsoft Office PowerPoint</Application>
  <PresentationFormat>On-screen Show (4:3)</PresentationFormat>
  <Paragraphs>159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2_Office Theme</vt:lpstr>
      <vt:lpstr>PowerPoint Presentation</vt:lpstr>
      <vt:lpstr>Presentation Outline</vt:lpstr>
      <vt:lpstr>Memories</vt:lpstr>
      <vt:lpstr>Static RAM (SRAM)</vt:lpstr>
      <vt:lpstr>Dynamic RAM (DRAM)</vt:lpstr>
      <vt:lpstr>DRAM Operations</vt:lpstr>
      <vt:lpstr>DRAM Operations</vt:lpstr>
      <vt:lpstr>Synchronous DRAM</vt:lpstr>
      <vt:lpstr>EPROM</vt:lpstr>
      <vt:lpstr>EEPROM</vt:lpstr>
      <vt:lpstr>What is Flash Memory?</vt:lpstr>
      <vt:lpstr>What is Flash Memory?</vt:lpstr>
      <vt:lpstr>Sources</vt:lpstr>
    </vt:vector>
  </TitlesOfParts>
  <Manager>P3E</Manager>
  <Company>Texas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P3E Presentation Template</dc:title>
  <dc:subject>P3E</dc:subject>
  <dc:creator>Kevin Lawson</dc:creator>
  <cp:lastModifiedBy>Argenis Bilbao</cp:lastModifiedBy>
  <cp:revision>1483</cp:revision>
  <dcterms:created xsi:type="dcterms:W3CDTF">2007-11-05T15:07:41Z</dcterms:created>
  <dcterms:modified xsi:type="dcterms:W3CDTF">2026-01-28T15:58:00Z</dcterms:modified>
</cp:coreProperties>
</file>