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1">
  <p:sldMasterIdLst>
    <p:sldMasterId id="2147483833" r:id="rId1"/>
  </p:sldMasterIdLst>
  <p:notesMasterIdLst>
    <p:notesMasterId r:id="rId23"/>
  </p:notesMasterIdLst>
  <p:handoutMasterIdLst>
    <p:handoutMasterId r:id="rId24"/>
  </p:handoutMasterIdLst>
  <p:sldIdLst>
    <p:sldId id="262" r:id="rId2"/>
    <p:sldId id="415" r:id="rId3"/>
    <p:sldId id="417" r:id="rId4"/>
    <p:sldId id="431" r:id="rId5"/>
    <p:sldId id="418" r:id="rId6"/>
    <p:sldId id="432" r:id="rId7"/>
    <p:sldId id="419" r:id="rId8"/>
    <p:sldId id="420" r:id="rId9"/>
    <p:sldId id="421" r:id="rId10"/>
    <p:sldId id="422" r:id="rId11"/>
    <p:sldId id="423" r:id="rId12"/>
    <p:sldId id="424" r:id="rId13"/>
    <p:sldId id="455" r:id="rId14"/>
    <p:sldId id="456" r:id="rId15"/>
    <p:sldId id="458" r:id="rId16"/>
    <p:sldId id="457" r:id="rId17"/>
    <p:sldId id="459" r:id="rId18"/>
    <p:sldId id="460" r:id="rId19"/>
    <p:sldId id="461" r:id="rId20"/>
    <p:sldId id="462" r:id="rId21"/>
    <p:sldId id="463" r:id="rId22"/>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66FF33"/>
    <a:srgbClr val="5449E1"/>
    <a:srgbClr val="210C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06" autoAdjust="0"/>
    <p:restoredTop sz="99548" autoAdjust="0"/>
  </p:normalViewPr>
  <p:slideViewPr>
    <p:cSldViewPr snapToGrid="0">
      <p:cViewPr varScale="1">
        <p:scale>
          <a:sx n="99" d="100"/>
          <a:sy n="99" d="100"/>
        </p:scale>
        <p:origin x="1848" y="30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480"/>
    </p:cViewPr>
  </p:sorterViewPr>
  <p:notesViewPr>
    <p:cSldViewPr snapToGrid="0">
      <p:cViewPr varScale="1">
        <p:scale>
          <a:sx n="85" d="100"/>
          <a:sy n="85" d="100"/>
        </p:scale>
        <p:origin x="-3786" y="-84"/>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3037840" cy="4621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US"/>
          </a:p>
        </p:txBody>
      </p:sp>
      <p:sp>
        <p:nvSpPr>
          <p:cNvPr id="93187" name="Rectangle 3"/>
          <p:cNvSpPr>
            <a:spLocks noGrp="1" noChangeArrowheads="1"/>
          </p:cNvSpPr>
          <p:nvPr>
            <p:ph type="dt" sz="quarter" idx="1"/>
          </p:nvPr>
        </p:nvSpPr>
        <p:spPr bwMode="auto">
          <a:xfrm>
            <a:off x="3970938" y="0"/>
            <a:ext cx="3037840" cy="4621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D84709DF-3BD8-402F-80E3-8C612EC5F261}" type="datetimeFigureOut">
              <a:rPr lang="en-US"/>
              <a:pPr>
                <a:defRPr/>
              </a:pPr>
              <a:t>2/18/2026</a:t>
            </a:fld>
            <a:endParaRPr lang="en-US" dirty="0"/>
          </a:p>
        </p:txBody>
      </p:sp>
      <p:sp>
        <p:nvSpPr>
          <p:cNvPr id="93188" name="Rectangle 4"/>
          <p:cNvSpPr>
            <a:spLocks noGrp="1" noChangeArrowheads="1"/>
          </p:cNvSpPr>
          <p:nvPr>
            <p:ph type="ftr" sz="quarter" idx="2"/>
          </p:nvPr>
        </p:nvSpPr>
        <p:spPr bwMode="auto">
          <a:xfrm>
            <a:off x="0" y="8772378"/>
            <a:ext cx="3037840" cy="46212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93189" name="Rectangle 5"/>
          <p:cNvSpPr>
            <a:spLocks noGrp="1" noChangeArrowheads="1"/>
          </p:cNvSpPr>
          <p:nvPr>
            <p:ph type="sldNum" sz="quarter" idx="3"/>
          </p:nvPr>
        </p:nvSpPr>
        <p:spPr bwMode="auto">
          <a:xfrm>
            <a:off x="3970938" y="8772378"/>
            <a:ext cx="3037840" cy="46212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8F4709C4-D4EF-4A59-93AC-CDE74B2DBF2F}" type="slidenum">
              <a:rPr lang="en-US"/>
              <a:pPr>
                <a:defRPr/>
              </a:pPr>
              <a:t>‹#›</a:t>
            </a:fld>
            <a:endParaRPr lang="en-US" dirty="0"/>
          </a:p>
        </p:txBody>
      </p:sp>
    </p:spTree>
    <p:extLst>
      <p:ext uri="{BB962C8B-B14F-4D97-AF65-F5344CB8AC3E}">
        <p14:creationId xmlns:p14="http://schemas.microsoft.com/office/powerpoint/2010/main" val="1246517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212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70938" y="0"/>
            <a:ext cx="3037840" cy="46212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B1E4D6C9-0F27-4334-9BAD-4BF9A16E0770}" type="datetimeFigureOut">
              <a:rPr lang="en-US"/>
              <a:pPr>
                <a:defRPr/>
              </a:pPr>
              <a:t>2/18/2026</a:t>
            </a:fld>
            <a:endParaRPr lang="en-US" dirty="0"/>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701040" y="4387767"/>
            <a:ext cx="5608320" cy="4155919"/>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2378"/>
            <a:ext cx="3037840" cy="46212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70938" y="8772378"/>
            <a:ext cx="3037840" cy="46212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545158B6-2379-4B93-B466-8093E86C6881}" type="slidenum">
              <a:rPr lang="en-US"/>
              <a:pPr>
                <a:defRPr/>
              </a:pPr>
              <a:t>‹#›</a:t>
            </a:fld>
            <a:endParaRPr lang="en-US" dirty="0"/>
          </a:p>
        </p:txBody>
      </p:sp>
    </p:spTree>
    <p:extLst>
      <p:ext uri="{BB962C8B-B14F-4D97-AF65-F5344CB8AC3E}">
        <p14:creationId xmlns:p14="http://schemas.microsoft.com/office/powerpoint/2010/main" val="27798226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1"/>
            <a:ext cx="9144000" cy="914257"/>
          </a:xfrm>
          <a:prstGeom prst="rect">
            <a:avLst/>
          </a:prstGeom>
        </p:spPr>
      </p:pic>
      <p:sp>
        <p:nvSpPr>
          <p:cNvPr id="2" name="Title 1"/>
          <p:cNvSpPr>
            <a:spLocks noGrp="1"/>
          </p:cNvSpPr>
          <p:nvPr>
            <p:ph type="ctrTitle"/>
          </p:nvPr>
        </p:nvSpPr>
        <p:spPr>
          <a:xfrm>
            <a:off x="685800" y="2130425"/>
            <a:ext cx="7772400" cy="1470025"/>
          </a:xfr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1371600" y="4305300"/>
            <a:ext cx="6400800" cy="771525"/>
          </a:xfrm>
        </p:spPr>
        <p:txBody>
          <a:bodyPr/>
          <a:lstStyle>
            <a:lvl1pPr marL="0" indent="0" algn="ctr">
              <a:buNone/>
              <a:defRPr>
                <a:solidFill>
                  <a:schemeClr val="tx1">
                    <a:tint val="75000"/>
                  </a:schemeClr>
                </a:solidFill>
                <a:latin typeface="Times New Roman" panose="02020603050405020304" pitchFamily="18" charset="0"/>
                <a:cs typeface="Times New Roman" panose="020206030504050203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3" name="Rectangle 12"/>
          <p:cNvSpPr/>
          <p:nvPr userDrawn="1"/>
        </p:nvSpPr>
        <p:spPr>
          <a:xfrm>
            <a:off x="0" y="6553200"/>
            <a:ext cx="9144000" cy="3017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3"/>
          <p:cNvSpPr>
            <a:spLocks noGrp="1"/>
          </p:cNvSpPr>
          <p:nvPr>
            <p:ph type="dt" sz="half" idx="10"/>
          </p:nvPr>
        </p:nvSpPr>
        <p:spPr>
          <a:xfrm>
            <a:off x="0" y="6573837"/>
            <a:ext cx="914400" cy="274320"/>
          </a:xfrm>
        </p:spPr>
        <p:txBody>
          <a:bodyPr tIns="0" bIns="0"/>
          <a:lstStyle>
            <a:lvl1pPr>
              <a:defRPr sz="1400" b="0">
                <a:solidFill>
                  <a:schemeClr val="bg1">
                    <a:lumMod val="65000"/>
                  </a:schemeClr>
                </a:solidFill>
              </a:defRPr>
            </a:lvl1pPr>
          </a:lstStyle>
          <a:p>
            <a:pPr>
              <a:defRPr/>
            </a:pPr>
            <a:fld id="{42CB018A-15B1-4C22-8FA2-A904A060C299}" type="datetime1">
              <a:rPr lang="en-US" smtClean="0"/>
              <a:pPr>
                <a:defRPr/>
              </a:pPr>
              <a:t>2/18/2026</a:t>
            </a:fld>
            <a:endParaRPr lang="en-US" dirty="0"/>
          </a:p>
        </p:txBody>
      </p:sp>
      <p:sp>
        <p:nvSpPr>
          <p:cNvPr id="10" name="Slide Number Placeholder 5"/>
          <p:cNvSpPr>
            <a:spLocks noGrp="1"/>
          </p:cNvSpPr>
          <p:nvPr>
            <p:ph type="sldNum" sz="quarter" idx="12"/>
          </p:nvPr>
        </p:nvSpPr>
        <p:spPr>
          <a:xfrm>
            <a:off x="8686800" y="6581775"/>
            <a:ext cx="457200" cy="274320"/>
          </a:xfrm>
        </p:spPr>
        <p:txBody>
          <a:bodyPr tIns="0" bIns="0"/>
          <a:lstStyle>
            <a:lvl1pPr>
              <a:defRPr sz="1400" b="1">
                <a:solidFill>
                  <a:schemeClr val="bg1">
                    <a:lumMod val="65000"/>
                  </a:schemeClr>
                </a:solidFill>
                <a:latin typeface="Times New Roman" pitchFamily="18" charset="0"/>
                <a:cs typeface="Times New Roman" pitchFamily="18" charset="0"/>
              </a:defRPr>
            </a:lvl1pPr>
          </a:lstStyle>
          <a:p>
            <a:pPr>
              <a:defRPr/>
            </a:pPr>
            <a:fld id="{27BA28D0-02EE-4D85-89C2-55FF3BC2206B}" type="slidenum">
              <a:rPr lang="en-US" smtClean="0"/>
              <a:pPr>
                <a:defRPr/>
              </a:pPr>
              <a:t>‹#›</a:t>
            </a:fld>
            <a:endParaRPr lang="en-US" dirty="0"/>
          </a:p>
        </p:txBody>
      </p:sp>
      <p:cxnSp>
        <p:nvCxnSpPr>
          <p:cNvPr id="5" name="Straight Connector 4"/>
          <p:cNvCxnSpPr/>
          <p:nvPr userDrawn="1"/>
        </p:nvCxnSpPr>
        <p:spPr>
          <a:xfrm>
            <a:off x="0" y="6553200"/>
            <a:ext cx="914400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7409" y="82326"/>
            <a:ext cx="3882831" cy="749746"/>
          </a:xfrm>
          <a:prstGeom prst="rect">
            <a:avLst/>
          </a:prstGeom>
        </p:spPr>
      </p:pic>
      <p:sp>
        <p:nvSpPr>
          <p:cNvPr id="11" name="Footer Placeholder 4"/>
          <p:cNvSpPr>
            <a:spLocks noGrp="1"/>
          </p:cNvSpPr>
          <p:nvPr>
            <p:ph type="ftr" sz="quarter" idx="11"/>
          </p:nvPr>
        </p:nvSpPr>
        <p:spPr>
          <a:xfrm>
            <a:off x="2524125" y="6583680"/>
            <a:ext cx="4114800" cy="274320"/>
          </a:xfrm>
        </p:spPr>
        <p:txBody>
          <a:bodyPr/>
          <a:lstStyle>
            <a:lvl1pPr>
              <a:defRPr sz="1400"/>
            </a:lvl1pPr>
          </a:lstStyle>
          <a:p>
            <a:pPr>
              <a:defRPr/>
            </a:pPr>
            <a:r>
              <a:rPr lang="en-US" dirty="0"/>
              <a:t>Argenis Bilbao – Ph.D. Proposal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914257"/>
          </a:xfrm>
          <a:prstGeom prst="rect">
            <a:avLst/>
          </a:prstGeom>
        </p:spPr>
      </p:pic>
      <p:sp>
        <p:nvSpPr>
          <p:cNvPr id="2" name="Title 1"/>
          <p:cNvSpPr>
            <a:spLocks noGrp="1"/>
          </p:cNvSpPr>
          <p:nvPr>
            <p:ph type="title"/>
          </p:nvPr>
        </p:nvSpPr>
        <p:spPr>
          <a:xfrm>
            <a:off x="657225" y="91368"/>
            <a:ext cx="7848600" cy="731519"/>
          </a:xfrm>
        </p:spPr>
        <p:txBody>
          <a:bodyPr>
            <a:normAutofit/>
          </a:bodyPr>
          <a:lstStyle>
            <a:lvl1pPr>
              <a:defRPr sz="4000" b="1" kern="3000" spc="-100" baseline="0">
                <a:solidFill>
                  <a:schemeClr val="bg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9" name="Rectangle 8"/>
          <p:cNvSpPr/>
          <p:nvPr userDrawn="1"/>
        </p:nvSpPr>
        <p:spPr>
          <a:xfrm>
            <a:off x="0" y="6553200"/>
            <a:ext cx="9144000" cy="3017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p:cNvSpPr>
            <a:spLocks noGrp="1"/>
          </p:cNvSpPr>
          <p:nvPr>
            <p:ph type="dt" sz="half" idx="10"/>
          </p:nvPr>
        </p:nvSpPr>
        <p:spPr>
          <a:xfrm>
            <a:off x="0" y="6573837"/>
            <a:ext cx="914400" cy="274320"/>
          </a:xfrm>
        </p:spPr>
        <p:txBody>
          <a:bodyPr tIns="0" bIns="0"/>
          <a:lstStyle>
            <a:lvl1pPr>
              <a:defRPr sz="1400" b="0">
                <a:solidFill>
                  <a:schemeClr val="bg1">
                    <a:lumMod val="65000"/>
                  </a:schemeClr>
                </a:solidFill>
              </a:defRPr>
            </a:lvl1pPr>
          </a:lstStyle>
          <a:p>
            <a:pPr>
              <a:defRPr/>
            </a:pPr>
            <a:fld id="{42CB018A-15B1-4C22-8FA2-A904A060C299}" type="datetime1">
              <a:rPr lang="en-US" smtClean="0"/>
              <a:pPr>
                <a:defRPr/>
              </a:pPr>
              <a:t>2/18/2026</a:t>
            </a:fld>
            <a:endParaRPr lang="en-US" dirty="0"/>
          </a:p>
        </p:txBody>
      </p:sp>
      <p:sp>
        <p:nvSpPr>
          <p:cNvPr id="18" name="Slide Number Placeholder 5"/>
          <p:cNvSpPr>
            <a:spLocks noGrp="1"/>
          </p:cNvSpPr>
          <p:nvPr>
            <p:ph type="sldNum" sz="quarter" idx="12"/>
          </p:nvPr>
        </p:nvSpPr>
        <p:spPr>
          <a:xfrm>
            <a:off x="8686800" y="6581775"/>
            <a:ext cx="457200" cy="274320"/>
          </a:xfrm>
        </p:spPr>
        <p:txBody>
          <a:bodyPr tIns="0" bIns="0"/>
          <a:lstStyle>
            <a:lvl1pPr>
              <a:defRPr sz="1400" b="1">
                <a:solidFill>
                  <a:schemeClr val="bg1">
                    <a:lumMod val="65000"/>
                  </a:schemeClr>
                </a:solidFill>
                <a:latin typeface="Times New Roman" pitchFamily="18" charset="0"/>
                <a:cs typeface="Times New Roman" pitchFamily="18" charset="0"/>
              </a:defRPr>
            </a:lvl1pPr>
          </a:lstStyle>
          <a:p>
            <a:pPr>
              <a:defRPr/>
            </a:pPr>
            <a:fld id="{27BA28D0-02EE-4D85-89C2-55FF3BC2206B}" type="slidenum">
              <a:rPr lang="en-US" smtClean="0"/>
              <a:pPr>
                <a:defRPr/>
              </a:pPr>
              <a:t>‹#›</a:t>
            </a:fld>
            <a:endParaRPr lang="en-US" dirty="0"/>
          </a:p>
        </p:txBody>
      </p:sp>
      <p:cxnSp>
        <p:nvCxnSpPr>
          <p:cNvPr id="19" name="Straight Connector 18"/>
          <p:cNvCxnSpPr/>
          <p:nvPr userDrawn="1"/>
        </p:nvCxnSpPr>
        <p:spPr>
          <a:xfrm>
            <a:off x="0" y="6553200"/>
            <a:ext cx="914400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r="86797"/>
          <a:stretch/>
        </p:blipFill>
        <p:spPr>
          <a:xfrm>
            <a:off x="87410" y="82255"/>
            <a:ext cx="512666" cy="749746"/>
          </a:xfrm>
          <a:prstGeom prst="rect">
            <a:avLst/>
          </a:prstGeom>
        </p:spPr>
      </p:pic>
      <p:sp>
        <p:nvSpPr>
          <p:cNvPr id="12" name="Footer Placeholder 4"/>
          <p:cNvSpPr>
            <a:spLocks noGrp="1"/>
          </p:cNvSpPr>
          <p:nvPr>
            <p:ph type="ftr" sz="quarter" idx="11"/>
          </p:nvPr>
        </p:nvSpPr>
        <p:spPr>
          <a:xfrm>
            <a:off x="2524125" y="6583680"/>
            <a:ext cx="4114800" cy="274320"/>
          </a:xfrm>
        </p:spPr>
        <p:txBody>
          <a:bodyPr/>
          <a:lstStyle>
            <a:lvl1pPr>
              <a:defRPr sz="1400"/>
            </a:lvl1pPr>
          </a:lstStyle>
          <a:p>
            <a:pPr>
              <a:defRPr/>
            </a:pPr>
            <a:r>
              <a:rPr lang="en-US" dirty="0"/>
              <a:t>Argenis Bilbao – Ph.D. Proposal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ad-Char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1"/>
            <a:ext cx="9144000" cy="914257"/>
          </a:xfrm>
          <a:prstGeom prst="rect">
            <a:avLst/>
          </a:prstGeom>
        </p:spPr>
      </p:pic>
      <p:sp>
        <p:nvSpPr>
          <p:cNvPr id="13" name="Rectangle 12"/>
          <p:cNvSpPr/>
          <p:nvPr userDrawn="1"/>
        </p:nvSpPr>
        <p:spPr>
          <a:xfrm>
            <a:off x="0" y="6553200"/>
            <a:ext cx="9144000" cy="30175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3"/>
          <p:cNvSpPr>
            <a:spLocks noGrp="1"/>
          </p:cNvSpPr>
          <p:nvPr>
            <p:ph type="dt" sz="half" idx="10"/>
          </p:nvPr>
        </p:nvSpPr>
        <p:spPr>
          <a:xfrm>
            <a:off x="0" y="6573837"/>
            <a:ext cx="914400" cy="274320"/>
          </a:xfrm>
        </p:spPr>
        <p:txBody>
          <a:bodyPr tIns="0" bIns="0"/>
          <a:lstStyle>
            <a:lvl1pPr>
              <a:defRPr sz="1400" b="0">
                <a:solidFill>
                  <a:schemeClr val="bg1">
                    <a:lumMod val="65000"/>
                  </a:schemeClr>
                </a:solidFill>
              </a:defRPr>
            </a:lvl1pPr>
          </a:lstStyle>
          <a:p>
            <a:pPr>
              <a:defRPr/>
            </a:pPr>
            <a:fld id="{42CB018A-15B1-4C22-8FA2-A904A060C299}" type="datetime1">
              <a:rPr lang="en-US" smtClean="0"/>
              <a:pPr>
                <a:defRPr/>
              </a:pPr>
              <a:t>2/18/2026</a:t>
            </a:fld>
            <a:endParaRPr lang="en-US" dirty="0"/>
          </a:p>
        </p:txBody>
      </p:sp>
      <p:sp>
        <p:nvSpPr>
          <p:cNvPr id="10" name="Slide Number Placeholder 5"/>
          <p:cNvSpPr>
            <a:spLocks noGrp="1"/>
          </p:cNvSpPr>
          <p:nvPr>
            <p:ph type="sldNum" sz="quarter" idx="12"/>
          </p:nvPr>
        </p:nvSpPr>
        <p:spPr>
          <a:xfrm>
            <a:off x="8686800" y="6581775"/>
            <a:ext cx="457200" cy="274320"/>
          </a:xfrm>
        </p:spPr>
        <p:txBody>
          <a:bodyPr tIns="0" bIns="0"/>
          <a:lstStyle>
            <a:lvl1pPr>
              <a:defRPr sz="1400" b="1">
                <a:solidFill>
                  <a:schemeClr val="bg1">
                    <a:lumMod val="65000"/>
                  </a:schemeClr>
                </a:solidFill>
                <a:latin typeface="Times New Roman" pitchFamily="18" charset="0"/>
                <a:cs typeface="Times New Roman" pitchFamily="18" charset="0"/>
              </a:defRPr>
            </a:lvl1pPr>
          </a:lstStyle>
          <a:p>
            <a:pPr>
              <a:defRPr/>
            </a:pPr>
            <a:fld id="{27BA28D0-02EE-4D85-89C2-55FF3BC2206B}" type="slidenum">
              <a:rPr lang="en-US" smtClean="0"/>
              <a:pPr>
                <a:defRPr/>
              </a:pPr>
              <a:t>‹#›</a:t>
            </a:fld>
            <a:endParaRPr lang="en-US" dirty="0"/>
          </a:p>
        </p:txBody>
      </p:sp>
      <p:cxnSp>
        <p:nvCxnSpPr>
          <p:cNvPr id="5" name="Straight Connector 4"/>
          <p:cNvCxnSpPr/>
          <p:nvPr userDrawn="1"/>
        </p:nvCxnSpPr>
        <p:spPr>
          <a:xfrm>
            <a:off x="0" y="6553200"/>
            <a:ext cx="914400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7409" y="82326"/>
            <a:ext cx="3882831" cy="749746"/>
          </a:xfrm>
          <a:prstGeom prst="rect">
            <a:avLst/>
          </a:prstGeom>
        </p:spPr>
      </p:pic>
      <p:cxnSp>
        <p:nvCxnSpPr>
          <p:cNvPr id="11" name="Straight Connector 10"/>
          <p:cNvCxnSpPr/>
          <p:nvPr userDrawn="1"/>
        </p:nvCxnSpPr>
        <p:spPr>
          <a:xfrm>
            <a:off x="4572000" y="981075"/>
            <a:ext cx="0" cy="5457825"/>
          </a:xfrm>
          <a:prstGeom prst="line">
            <a:avLst/>
          </a:prstGeom>
          <a:ln w="19050">
            <a:solidFill>
              <a:schemeClr val="tx1"/>
            </a:solidFill>
          </a:ln>
          <a:effectLst>
            <a:outerShdw blurRad="508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77042" y="3543300"/>
            <a:ext cx="8989916" cy="0"/>
          </a:xfrm>
          <a:prstGeom prst="line">
            <a:avLst/>
          </a:prstGeom>
          <a:ln w="19050">
            <a:solidFill>
              <a:schemeClr val="tx1"/>
            </a:solidFill>
          </a:ln>
          <a:effectLst>
            <a:outerShdw blurRad="50800" dist="254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7" name="Picture Placeholder 16"/>
          <p:cNvSpPr>
            <a:spLocks noGrp="1"/>
          </p:cNvSpPr>
          <p:nvPr>
            <p:ph type="pic" sz="quarter" idx="13"/>
          </p:nvPr>
        </p:nvSpPr>
        <p:spPr>
          <a:xfrm>
            <a:off x="161925" y="981075"/>
            <a:ext cx="4257675" cy="2438400"/>
          </a:xfrm>
        </p:spPr>
        <p:txBody>
          <a:bodyPr/>
          <a:lstStyle/>
          <a:p>
            <a:endParaRPr lang="en-US"/>
          </a:p>
        </p:txBody>
      </p:sp>
      <p:sp>
        <p:nvSpPr>
          <p:cNvPr id="19" name="Text Placeholder 18"/>
          <p:cNvSpPr>
            <a:spLocks noGrp="1"/>
          </p:cNvSpPr>
          <p:nvPr>
            <p:ph type="body" sz="quarter" idx="14"/>
          </p:nvPr>
        </p:nvSpPr>
        <p:spPr>
          <a:xfrm>
            <a:off x="87313" y="3709988"/>
            <a:ext cx="4332287" cy="2652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18"/>
          <p:cNvSpPr>
            <a:spLocks noGrp="1"/>
          </p:cNvSpPr>
          <p:nvPr>
            <p:ph type="body" sz="quarter" idx="15"/>
          </p:nvPr>
        </p:nvSpPr>
        <p:spPr>
          <a:xfrm>
            <a:off x="4734671" y="3709987"/>
            <a:ext cx="4332287" cy="2652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8"/>
          <p:cNvSpPr>
            <a:spLocks noGrp="1"/>
          </p:cNvSpPr>
          <p:nvPr>
            <p:ph type="body" sz="quarter" idx="16"/>
          </p:nvPr>
        </p:nvSpPr>
        <p:spPr>
          <a:xfrm>
            <a:off x="4734671" y="981075"/>
            <a:ext cx="4332287" cy="2428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4"/>
          <p:cNvSpPr>
            <a:spLocks noGrp="1"/>
          </p:cNvSpPr>
          <p:nvPr>
            <p:ph type="ftr" sz="quarter" idx="11"/>
          </p:nvPr>
        </p:nvSpPr>
        <p:spPr>
          <a:xfrm>
            <a:off x="2524125" y="6583680"/>
            <a:ext cx="4114800" cy="274320"/>
          </a:xfrm>
        </p:spPr>
        <p:txBody>
          <a:bodyPr/>
          <a:lstStyle>
            <a:lvl1pPr>
              <a:defRPr sz="1400" b="0">
                <a:latin typeface="Times New Roman" panose="02020603050405020304" pitchFamily="18" charset="0"/>
                <a:cs typeface="Times New Roman" panose="02020603050405020304" pitchFamily="18" charset="0"/>
              </a:defRPr>
            </a:lvl1pPr>
          </a:lstStyle>
          <a:p>
            <a:pPr>
              <a:defRPr/>
            </a:pPr>
            <a:r>
              <a:rPr lang="en-US" dirty="0"/>
              <a:t>Argenis Bilbao – Ph.D. Proposal</a:t>
            </a:r>
          </a:p>
        </p:txBody>
      </p:sp>
    </p:spTree>
    <p:extLst>
      <p:ext uri="{BB962C8B-B14F-4D97-AF65-F5344CB8AC3E}">
        <p14:creationId xmlns:p14="http://schemas.microsoft.com/office/powerpoint/2010/main" val="16135629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1143000"/>
            <a:ext cx="7848600" cy="3508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p:cNvSpPr>
            <a:spLocks noGrp="1"/>
          </p:cNvSpPr>
          <p:nvPr>
            <p:ph type="dt" sz="half" idx="2"/>
          </p:nvPr>
        </p:nvSpPr>
        <p:spPr>
          <a:xfrm>
            <a:off x="373063" y="6591300"/>
            <a:ext cx="1752600" cy="244475"/>
          </a:xfrm>
          <a:prstGeom prst="rect">
            <a:avLst/>
          </a:prstGeom>
        </p:spPr>
        <p:txBody>
          <a:bodyPr vert="horz" lIns="91440" tIns="45720" rIns="91440" bIns="45720" rtlCol="0" anchor="ctr"/>
          <a:lstStyle>
            <a:lvl1pPr fontAlgn="auto">
              <a:spcBef>
                <a:spcPts val="0"/>
              </a:spcBef>
              <a:spcAft>
                <a:spcPts val="0"/>
              </a:spcAft>
              <a:defRPr sz="1200">
                <a:solidFill>
                  <a:schemeClr val="bg1">
                    <a:lumMod val="65000"/>
                  </a:schemeClr>
                </a:solidFill>
                <a:latin typeface="Times New Roman" pitchFamily="18" charset="0"/>
                <a:cs typeface="Times New Roman" pitchFamily="18" charset="0"/>
              </a:defRPr>
            </a:lvl1pPr>
          </a:lstStyle>
          <a:p>
            <a:pPr>
              <a:defRPr/>
            </a:pPr>
            <a:fld id="{25C08211-4AFA-4DCC-83B4-664F54295857}" type="datetime1">
              <a:rPr lang="en-US"/>
              <a:pPr>
                <a:defRPr/>
              </a:pPr>
              <a:t>2/18/2026</a:t>
            </a:fld>
            <a:endParaRPr lang="en-US" dirty="0"/>
          </a:p>
        </p:txBody>
      </p:sp>
      <p:sp>
        <p:nvSpPr>
          <p:cNvPr id="12" name="Footer Placeholder 4"/>
          <p:cNvSpPr>
            <a:spLocks noGrp="1"/>
          </p:cNvSpPr>
          <p:nvPr>
            <p:ph type="ftr" sz="quarter" idx="3"/>
          </p:nvPr>
        </p:nvSpPr>
        <p:spPr>
          <a:xfrm>
            <a:off x="3236913" y="6591300"/>
            <a:ext cx="2782887" cy="266700"/>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imes New Roman" pitchFamily="18" charset="0"/>
                <a:cs typeface="Times New Roman" pitchFamily="18" charset="0"/>
              </a:defRPr>
            </a:lvl1pPr>
          </a:lstStyle>
          <a:p>
            <a:pPr>
              <a:defRPr/>
            </a:pPr>
            <a:r>
              <a:rPr lang="en-US" dirty="0"/>
              <a:t>Argenis Bilbao – Ph.D. Proposal</a:t>
            </a:r>
          </a:p>
        </p:txBody>
      </p:sp>
      <p:sp>
        <p:nvSpPr>
          <p:cNvPr id="16" name="Slide Number Placeholder 5"/>
          <p:cNvSpPr>
            <a:spLocks noGrp="1"/>
          </p:cNvSpPr>
          <p:nvPr>
            <p:ph type="sldNum" sz="quarter" idx="4"/>
          </p:nvPr>
        </p:nvSpPr>
        <p:spPr>
          <a:xfrm>
            <a:off x="7092950" y="6551613"/>
            <a:ext cx="2051050" cy="306387"/>
          </a:xfrm>
          <a:prstGeom prst="rect">
            <a:avLst/>
          </a:prstGeom>
        </p:spPr>
        <p:txBody>
          <a:bodyPr vert="horz" lIns="91440" tIns="45720" rIns="91440" bIns="45720" rtlCol="0" anchor="ctr"/>
          <a:lstStyle>
            <a:lvl1pPr algn="r" fontAlgn="auto">
              <a:spcBef>
                <a:spcPts val="0"/>
              </a:spcBef>
              <a:spcAft>
                <a:spcPts val="0"/>
              </a:spcAft>
              <a:defRPr sz="1200" b="1">
                <a:solidFill>
                  <a:schemeClr val="tx1">
                    <a:tint val="75000"/>
                  </a:schemeClr>
                </a:solidFill>
                <a:latin typeface="Times New Roman" pitchFamily="18" charset="0"/>
                <a:cs typeface="Times New Roman" pitchFamily="18" charset="0"/>
              </a:defRPr>
            </a:lvl1pPr>
          </a:lstStyle>
          <a:p>
            <a:pPr>
              <a:defRPr/>
            </a:pPr>
            <a:fld id="{B77A210C-9675-4AF8-BB4A-75C22F228BA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Lst>
  <p:hf hdr="0"/>
  <p:txStyles>
    <p:titleStyle>
      <a:lvl1pPr algn="ctr" rtl="0" eaLnBrk="0" fontAlgn="base" hangingPunct="0">
        <a:spcBef>
          <a:spcPct val="0"/>
        </a:spcBef>
        <a:spcAft>
          <a:spcPct val="0"/>
        </a:spcAft>
        <a:defRPr sz="4400" kern="1200">
          <a:solidFill>
            <a:schemeClr val="tx1"/>
          </a:solidFill>
          <a:latin typeface="Arial" charset="0"/>
          <a:ea typeface="+mj-ea"/>
          <a:cs typeface="+mj-cs"/>
        </a:defRPr>
      </a:lvl1pPr>
      <a:lvl2pPr algn="ctr" rtl="0" eaLnBrk="0" fontAlgn="base" hangingPunct="0">
        <a:spcBef>
          <a:spcPct val="0"/>
        </a:spcBef>
        <a:spcAft>
          <a:spcPct val="0"/>
        </a:spcAft>
        <a:defRPr sz="4400">
          <a:solidFill>
            <a:schemeClr val="tx1"/>
          </a:solidFill>
          <a:latin typeface="Arial" charset="0"/>
        </a:defRPr>
      </a:lvl2pPr>
      <a:lvl3pPr algn="ctr" rtl="0" eaLnBrk="0" fontAlgn="base" hangingPunct="0">
        <a:spcBef>
          <a:spcPct val="0"/>
        </a:spcBef>
        <a:spcAft>
          <a:spcPct val="0"/>
        </a:spcAft>
        <a:defRPr sz="4400">
          <a:solidFill>
            <a:schemeClr val="tx1"/>
          </a:solidFill>
          <a:latin typeface="Arial" charset="0"/>
        </a:defRPr>
      </a:lvl3pPr>
      <a:lvl4pPr algn="ctr" rtl="0" eaLnBrk="0" fontAlgn="base" hangingPunct="0">
        <a:spcBef>
          <a:spcPct val="0"/>
        </a:spcBef>
        <a:spcAft>
          <a:spcPct val="0"/>
        </a:spcAft>
        <a:defRPr sz="4400">
          <a:solidFill>
            <a:schemeClr val="tx1"/>
          </a:solidFill>
          <a:latin typeface="Arial" charset="0"/>
        </a:defRPr>
      </a:lvl4pPr>
      <a:lvl5pPr algn="ctr" rtl="0" eaLnBrk="0" fontAlgn="base" hangingPunct="0">
        <a:spcBef>
          <a:spcPct val="0"/>
        </a:spcBef>
        <a:spcAft>
          <a:spcPct val="0"/>
        </a:spcAft>
        <a:defRPr sz="4400">
          <a:solidFill>
            <a:schemeClr val="tx1"/>
          </a:solidFill>
          <a:latin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trainer4edu.com/dragon12/dragon12_light_9s12/index.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stromasys.com/resources/breaking-down-the-features-and-architecture-of-cisc-processor/" TargetMode="External"/><Relationship Id="rId2" Type="http://schemas.openxmlformats.org/officeDocument/2006/relationships/hyperlink" Target="http://www.eecs.harvard.edu/cs146-246/" TargetMode="External"/><Relationship Id="rId1" Type="http://schemas.openxmlformats.org/officeDocument/2006/relationships/slideLayout" Target="../slideLayouts/slideLayout2.xml"/><Relationship Id="rId4" Type="http://schemas.openxmlformats.org/officeDocument/2006/relationships/hyperlink" Target="https://fiveable.me/introduction-computer-architecture/unit-3/risc-cisc-architectures/study-guide/w3HvrwVqcuP6lBN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Date Placeholder 2"/>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p:cNvSpPr>
            <a:spLocks noGrp="1"/>
          </p:cNvSpPr>
          <p:nvPr>
            <p:ph type="sldNum" sz="quarter" idx="12"/>
          </p:nvPr>
        </p:nvSpPr>
        <p:spPr/>
        <p:txBody>
          <a:bodyPr/>
          <a:lstStyle/>
          <a:p>
            <a:pPr>
              <a:defRPr/>
            </a:pPr>
            <a:fld id="{27BA28D0-02EE-4D85-89C2-55FF3BC2206B}" type="slidenum">
              <a:rPr lang="en-US" smtClean="0"/>
              <a:pPr>
                <a:defRPr/>
              </a:pPr>
              <a:t>1</a:t>
            </a:fld>
            <a:endParaRPr lang="en-US" dirty="0"/>
          </a:p>
        </p:txBody>
      </p:sp>
      <p:sp>
        <p:nvSpPr>
          <p:cNvPr id="6" name="TextBox 5"/>
          <p:cNvSpPr txBox="1"/>
          <p:nvPr/>
        </p:nvSpPr>
        <p:spPr>
          <a:xfrm>
            <a:off x="914400" y="1903672"/>
            <a:ext cx="7315200" cy="2554545"/>
          </a:xfrm>
          <a:prstGeom prst="rect">
            <a:avLst/>
          </a:prstGeom>
          <a:noFill/>
        </p:spPr>
        <p:txBody>
          <a:bodyPr wrap="square" rtlCol="0">
            <a:spAutoFit/>
          </a:bodyPr>
          <a:lstStyle/>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Microprocessor Architecture ECE4375/ECE5375</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Dr. Argenis Bilbao</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Spring 2026</a:t>
            </a:r>
          </a:p>
        </p:txBody>
      </p:sp>
    </p:spTree>
    <p:extLst>
      <p:ext uri="{BB962C8B-B14F-4D97-AF65-F5344CB8AC3E}">
        <p14:creationId xmlns:p14="http://schemas.microsoft.com/office/powerpoint/2010/main" val="3014357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Presentation Outline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5" name="TextBox 4">
            <a:extLst>
              <a:ext uri="{FF2B5EF4-FFF2-40B4-BE49-F238E27FC236}">
                <a16:creationId xmlns:a16="http://schemas.microsoft.com/office/drawing/2014/main" id="{E608BA3B-51BE-B3BD-400C-8DF20CBE9832}"/>
              </a:ext>
            </a:extLst>
          </p:cNvPr>
          <p:cNvSpPr txBox="1"/>
          <p:nvPr/>
        </p:nvSpPr>
        <p:spPr>
          <a:xfrm>
            <a:off x="647700" y="1573543"/>
            <a:ext cx="7848599" cy="4247317"/>
          </a:xfrm>
          <a:prstGeom prst="rect">
            <a:avLst/>
          </a:prstGeom>
          <a:noFill/>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ISA Basics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What is the CISC Processor?</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Other CISC Processor Features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CISC Advantages and Disadvantages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How CISC Processors Work</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Example ADD and MUL Instructions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Instruction Set and Addressing</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Further Architectural Features</a:t>
            </a:r>
          </a:p>
        </p:txBody>
      </p:sp>
    </p:spTree>
    <p:extLst>
      <p:ext uri="{BB962C8B-B14F-4D97-AF65-F5344CB8AC3E}">
        <p14:creationId xmlns:p14="http://schemas.microsoft.com/office/powerpoint/2010/main" val="971144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Instruction Set Architecture (ISA)</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3</a:t>
            </a:fld>
            <a:endParaRPr lang="en-US" dirty="0"/>
          </a:p>
        </p:txBody>
      </p:sp>
      <p:sp>
        <p:nvSpPr>
          <p:cNvPr id="6" name="TextBox 5">
            <a:extLst>
              <a:ext uri="{FF2B5EF4-FFF2-40B4-BE49-F238E27FC236}">
                <a16:creationId xmlns:a16="http://schemas.microsoft.com/office/drawing/2014/main" id="{F56FDF22-9117-3E8C-48F2-1CC39BF95E4E}"/>
              </a:ext>
            </a:extLst>
          </p:cNvPr>
          <p:cNvSpPr txBox="1"/>
          <p:nvPr/>
        </p:nvSpPr>
        <p:spPr>
          <a:xfrm>
            <a:off x="326571" y="1278280"/>
            <a:ext cx="8514608" cy="3416320"/>
          </a:xfrm>
          <a:prstGeom prst="rect">
            <a:avLst/>
          </a:prstGeom>
          <a:noFill/>
        </p:spPr>
        <p:txBody>
          <a:bodyPr wrap="square" rtlCol="0">
            <a:spAutoFit/>
          </a:bodyPr>
          <a:lstStyle/>
          <a:p>
            <a:r>
              <a:rPr lang="en-US" dirty="0"/>
              <a:t>“Instruction Set Architecture is the structure of a computer that a machine language programmer (or a compiler) must understand to write a correct (timing independent) program for that machine.” - IBM, Introducing the IBM 360 (1964)</a:t>
            </a:r>
          </a:p>
          <a:p>
            <a:endParaRPr lang="en-US" dirty="0"/>
          </a:p>
          <a:p>
            <a:r>
              <a:rPr lang="en-US" dirty="0"/>
              <a:t>ISAs define:</a:t>
            </a:r>
          </a:p>
          <a:p>
            <a:pPr marL="285750" indent="-285750">
              <a:buFont typeface="Arial" panose="020B0604020202020204" pitchFamily="34" charset="0"/>
              <a:buChar char="•"/>
            </a:pPr>
            <a:r>
              <a:rPr lang="en-US" dirty="0"/>
              <a:t>Operations that the processor can execute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Data Transfer mechanisms + how to access data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Control Mechanisms (branch, jump, etc.)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“Contract” between programmer/compiler + HW</a:t>
            </a:r>
          </a:p>
        </p:txBody>
      </p:sp>
    </p:spTree>
    <p:extLst>
      <p:ext uri="{BB962C8B-B14F-4D97-AF65-F5344CB8AC3E}">
        <p14:creationId xmlns:p14="http://schemas.microsoft.com/office/powerpoint/2010/main" val="1495406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89B9F8D-6A9B-FB85-06FF-0A0AAA221FC0}"/>
              </a:ext>
            </a:extLst>
          </p:cNvPr>
          <p:cNvPicPr>
            <a:picLocks noChangeAspect="1"/>
          </p:cNvPicPr>
          <p:nvPr/>
        </p:nvPicPr>
        <p:blipFill>
          <a:blip r:embed="rId2"/>
          <a:stretch>
            <a:fillRect/>
          </a:stretch>
        </p:blipFill>
        <p:spPr>
          <a:xfrm>
            <a:off x="0" y="1226424"/>
            <a:ext cx="9144000" cy="4926904"/>
          </a:xfrm>
          <a:prstGeom prst="rect">
            <a:avLst/>
          </a:prstGeom>
        </p:spPr>
      </p:pic>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Instructions (MSP430)</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4</a:t>
            </a:fld>
            <a:endParaRPr lang="en-US" dirty="0"/>
          </a:p>
        </p:txBody>
      </p:sp>
    </p:spTree>
    <p:extLst>
      <p:ext uri="{BB962C8B-B14F-4D97-AF65-F5344CB8AC3E}">
        <p14:creationId xmlns:p14="http://schemas.microsoft.com/office/powerpoint/2010/main" val="299274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3AB165-47D2-84B3-1B5E-DD10D7CEA131}"/>
              </a:ext>
            </a:extLst>
          </p:cNvPr>
          <p:cNvPicPr>
            <a:picLocks noChangeAspect="1"/>
          </p:cNvPicPr>
          <p:nvPr/>
        </p:nvPicPr>
        <p:blipFill>
          <a:blip r:embed="rId2"/>
          <a:stretch>
            <a:fillRect/>
          </a:stretch>
        </p:blipFill>
        <p:spPr>
          <a:xfrm>
            <a:off x="3559035" y="3179367"/>
            <a:ext cx="5452505" cy="3318136"/>
          </a:xfrm>
          <a:prstGeom prst="rect">
            <a:avLst/>
          </a:prstGeom>
        </p:spPr>
      </p:pic>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ISA Classification</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5</a:t>
            </a:fld>
            <a:endParaRPr lang="en-US" dirty="0"/>
          </a:p>
        </p:txBody>
      </p:sp>
      <p:sp>
        <p:nvSpPr>
          <p:cNvPr id="6" name="TextBox 5">
            <a:extLst>
              <a:ext uri="{FF2B5EF4-FFF2-40B4-BE49-F238E27FC236}">
                <a16:creationId xmlns:a16="http://schemas.microsoft.com/office/drawing/2014/main" id="{F56FDF22-9117-3E8C-48F2-1CC39BF95E4E}"/>
              </a:ext>
            </a:extLst>
          </p:cNvPr>
          <p:cNvSpPr txBox="1"/>
          <p:nvPr/>
        </p:nvSpPr>
        <p:spPr>
          <a:xfrm>
            <a:off x="326571" y="1252846"/>
            <a:ext cx="8514608" cy="4801314"/>
          </a:xfrm>
          <a:prstGeom prst="rect">
            <a:avLst/>
          </a:prstGeom>
          <a:noFill/>
        </p:spPr>
        <p:txBody>
          <a:bodyPr wrap="square" rtlCol="0">
            <a:spAutoFit/>
          </a:bodyPr>
          <a:lstStyle/>
          <a:p>
            <a:pPr marL="285750" indent="-285750" algn="l">
              <a:buFont typeface="Arial" panose="020B0604020202020204" pitchFamily="34" charset="0"/>
              <a:buChar char="•"/>
            </a:pPr>
            <a:r>
              <a:rPr lang="en-US" b="1" i="1" dirty="0">
                <a:solidFill>
                  <a:srgbClr val="000000"/>
                </a:solidFill>
                <a:effectLst/>
                <a:latin typeface="Times New Roman" panose="02020603050405020304" pitchFamily="18" charset="0"/>
              </a:rPr>
              <a:t>Stack</a:t>
            </a:r>
            <a:r>
              <a:rPr lang="en-US" b="1" i="0" dirty="0">
                <a:solidFill>
                  <a:srgbClr val="000000"/>
                </a:solidFill>
                <a:effectLst/>
                <a:latin typeface="Times New Roman" panose="02020603050405020304" pitchFamily="18" charset="0"/>
              </a:rPr>
              <a:t> ISAs </a:t>
            </a:r>
            <a:r>
              <a:rPr lang="en-US" b="0" i="0" dirty="0">
                <a:solidFill>
                  <a:srgbClr val="000000"/>
                </a:solidFill>
                <a:effectLst/>
                <a:latin typeface="Times New Roman" panose="02020603050405020304" pitchFamily="18" charset="0"/>
              </a:rPr>
              <a:t>- The operands used are implicitly from the stack. Result stored in stack.</a:t>
            </a:r>
          </a:p>
          <a:p>
            <a:pPr marL="285750" indent="-285750" algn="l">
              <a:buFont typeface="Arial" panose="020B0604020202020204" pitchFamily="34" charset="0"/>
              <a:buChar char="•"/>
            </a:pPr>
            <a:endParaRPr lang="en-US" b="0" i="0" dirty="0">
              <a:solidFill>
                <a:srgbClr val="000000"/>
              </a:solidFill>
              <a:effectLst/>
              <a:latin typeface="Times New Roman" panose="02020603050405020304" pitchFamily="18" charset="0"/>
            </a:endParaRPr>
          </a:p>
          <a:p>
            <a:pPr marL="285750" indent="-285750" algn="l">
              <a:buFont typeface="Arial" panose="020B0604020202020204" pitchFamily="34" charset="0"/>
              <a:buChar char="•"/>
            </a:pPr>
            <a:r>
              <a:rPr lang="en-US" b="1" i="1" dirty="0">
                <a:solidFill>
                  <a:srgbClr val="000000"/>
                </a:solidFill>
                <a:effectLst/>
                <a:latin typeface="Times New Roman" panose="02020603050405020304" pitchFamily="18" charset="0"/>
              </a:rPr>
              <a:t>Accumulator</a:t>
            </a:r>
            <a:r>
              <a:rPr lang="en-US" b="1" i="0" dirty="0">
                <a:solidFill>
                  <a:srgbClr val="000000"/>
                </a:solidFill>
                <a:effectLst/>
                <a:latin typeface="Times New Roman" panose="02020603050405020304" pitchFamily="18" charset="0"/>
              </a:rPr>
              <a:t> ISAs</a:t>
            </a:r>
            <a:r>
              <a:rPr lang="en-US" b="0" i="0" dirty="0">
                <a:solidFill>
                  <a:srgbClr val="000000"/>
                </a:solidFill>
                <a:effectLst/>
                <a:latin typeface="Times New Roman" panose="02020603050405020304" pitchFamily="18" charset="0"/>
              </a:rPr>
              <a:t> - One of the operands originate from the accumulator. Result is stored in accumulator.</a:t>
            </a:r>
          </a:p>
          <a:p>
            <a:pPr marL="285750" indent="-285750" algn="l">
              <a:buFont typeface="Arial" panose="020B0604020202020204" pitchFamily="34" charset="0"/>
              <a:buChar char="•"/>
            </a:pPr>
            <a:endParaRPr lang="en-US" b="0" i="0" dirty="0">
              <a:solidFill>
                <a:srgbClr val="000000"/>
              </a:solidFill>
              <a:effectLst/>
              <a:latin typeface="Times New Roman" panose="02020603050405020304" pitchFamily="18" charset="0"/>
            </a:endParaRPr>
          </a:p>
          <a:p>
            <a:pPr marL="285750" indent="-285750" algn="l">
              <a:buFont typeface="Arial" panose="020B0604020202020204" pitchFamily="34" charset="0"/>
              <a:buChar char="•"/>
            </a:pPr>
            <a:r>
              <a:rPr lang="en-US" b="1" i="1" dirty="0">
                <a:solidFill>
                  <a:srgbClr val="000000"/>
                </a:solidFill>
                <a:effectLst/>
                <a:latin typeface="Times New Roman" panose="02020603050405020304" pitchFamily="18" charset="0"/>
              </a:rPr>
              <a:t>General Purpose Register (GPR) ISAs</a:t>
            </a:r>
            <a:r>
              <a:rPr lang="en-US" b="0" i="0" dirty="0">
                <a:solidFill>
                  <a:srgbClr val="000000"/>
                </a:solidFill>
                <a:effectLst/>
                <a:latin typeface="Times New Roman" panose="02020603050405020304" pitchFamily="18" charset="0"/>
              </a:rPr>
              <a:t> - All operands are explicitly mentioned, they are either registers or memory locations.</a:t>
            </a:r>
          </a:p>
          <a:p>
            <a:pPr marL="285750" indent="-285750" algn="l">
              <a:buFont typeface="Arial" panose="020B0604020202020204" pitchFamily="34" charset="0"/>
              <a:buChar char="•"/>
            </a:pPr>
            <a:endParaRPr lang="en-US" dirty="0">
              <a:solidFill>
                <a:srgbClr val="000000"/>
              </a:solidFill>
              <a:latin typeface="Times New Roman" panose="02020603050405020304" pitchFamily="18" charset="0"/>
            </a:endParaRPr>
          </a:p>
          <a:p>
            <a:pPr algn="l"/>
            <a:r>
              <a:rPr lang="en-US" b="0" i="0" dirty="0">
                <a:solidFill>
                  <a:srgbClr val="000000"/>
                </a:solidFill>
                <a:effectLst/>
                <a:latin typeface="Times New Roman" panose="02020603050405020304" pitchFamily="18" charset="0"/>
              </a:rPr>
              <a:t>Example Instructions</a:t>
            </a:r>
          </a:p>
          <a:p>
            <a:pPr algn="l"/>
            <a:endParaRPr lang="en-US" dirty="0">
              <a:solidFill>
                <a:srgbClr val="000000"/>
              </a:solidFill>
              <a:latin typeface="Times New Roman" panose="02020603050405020304" pitchFamily="18" charset="0"/>
            </a:endParaRPr>
          </a:p>
          <a:p>
            <a:pPr algn="l"/>
            <a:endParaRPr lang="en-US" b="0" i="0" dirty="0">
              <a:solidFill>
                <a:srgbClr val="000000"/>
              </a:solidFill>
              <a:effectLst/>
              <a:latin typeface="Times New Roman" panose="02020603050405020304" pitchFamily="18" charset="0"/>
            </a:endParaRPr>
          </a:p>
          <a:p>
            <a:pPr algn="l"/>
            <a:endParaRPr lang="en-US" dirty="0">
              <a:solidFill>
                <a:srgbClr val="000000"/>
              </a:solidFill>
              <a:latin typeface="Times New Roman" panose="02020603050405020304" pitchFamily="18" charset="0"/>
            </a:endParaRPr>
          </a:p>
          <a:p>
            <a:pPr algn="l"/>
            <a:endParaRPr lang="en-US" b="0" i="0" dirty="0">
              <a:solidFill>
                <a:srgbClr val="000000"/>
              </a:solidFill>
              <a:effectLst/>
              <a:latin typeface="Times New Roman" panose="02020603050405020304" pitchFamily="18" charset="0"/>
            </a:endParaRPr>
          </a:p>
          <a:p>
            <a:pPr algn="l"/>
            <a:endParaRPr lang="en-US" dirty="0">
              <a:solidFill>
                <a:srgbClr val="000000"/>
              </a:solidFill>
              <a:latin typeface="Times New Roman" panose="02020603050405020304" pitchFamily="18" charset="0"/>
            </a:endParaRPr>
          </a:p>
          <a:p>
            <a:pPr algn="l"/>
            <a:r>
              <a:rPr lang="en-US" b="0" i="0" dirty="0">
                <a:solidFill>
                  <a:srgbClr val="000000"/>
                </a:solidFill>
                <a:effectLst/>
                <a:latin typeface="Times New Roman" panose="02020603050405020304" pitchFamily="18" charset="0"/>
              </a:rPr>
              <a:t>Example:</a:t>
            </a:r>
          </a:p>
          <a:p>
            <a:pPr algn="l"/>
            <a:r>
              <a:rPr lang="en-US" dirty="0">
                <a:solidFill>
                  <a:srgbClr val="000000"/>
                </a:solidFill>
                <a:latin typeface="Times New Roman" panose="02020603050405020304" pitchFamily="18" charset="0"/>
              </a:rPr>
              <a:t>PIC16F84</a:t>
            </a:r>
          </a:p>
          <a:p>
            <a:pPr algn="l"/>
            <a:r>
              <a:rPr lang="en-US" b="0" i="0" dirty="0">
                <a:solidFill>
                  <a:srgbClr val="000000"/>
                </a:solidFill>
                <a:effectLst/>
                <a:latin typeface="Times New Roman" panose="02020603050405020304" pitchFamily="18" charset="0"/>
              </a:rPr>
              <a:t>- See datasheet</a:t>
            </a:r>
          </a:p>
        </p:txBody>
      </p:sp>
      <p:graphicFrame>
        <p:nvGraphicFramePr>
          <p:cNvPr id="9" name="Table 8">
            <a:extLst>
              <a:ext uri="{FF2B5EF4-FFF2-40B4-BE49-F238E27FC236}">
                <a16:creationId xmlns:a16="http://schemas.microsoft.com/office/drawing/2014/main" id="{B846EFF4-E807-9F72-5717-B6D6EA2E81DA}"/>
              </a:ext>
            </a:extLst>
          </p:cNvPr>
          <p:cNvGraphicFramePr>
            <a:graphicFrameLocks noGrp="1"/>
          </p:cNvGraphicFramePr>
          <p:nvPr>
            <p:extLst>
              <p:ext uri="{D42A27DB-BD31-4B8C-83A1-F6EECF244321}">
                <p14:modId xmlns:p14="http://schemas.microsoft.com/office/powerpoint/2010/main" val="3968566055"/>
              </p:ext>
            </p:extLst>
          </p:nvPr>
        </p:nvGraphicFramePr>
        <p:xfrm>
          <a:off x="415639" y="3776732"/>
          <a:ext cx="2966721" cy="952500"/>
        </p:xfrm>
        <a:graphic>
          <a:graphicData uri="http://schemas.openxmlformats.org/drawingml/2006/table">
            <a:tbl>
              <a:tblPr/>
              <a:tblGrid>
                <a:gridCol w="771897">
                  <a:extLst>
                    <a:ext uri="{9D8B030D-6E8A-4147-A177-3AD203B41FA5}">
                      <a16:colId xmlns:a16="http://schemas.microsoft.com/office/drawing/2014/main" val="2916136095"/>
                    </a:ext>
                  </a:extLst>
                </a:gridCol>
                <a:gridCol w="837210">
                  <a:extLst>
                    <a:ext uri="{9D8B030D-6E8A-4147-A177-3AD203B41FA5}">
                      <a16:colId xmlns:a16="http://schemas.microsoft.com/office/drawing/2014/main" val="2054787153"/>
                    </a:ext>
                  </a:extLst>
                </a:gridCol>
                <a:gridCol w="1357614">
                  <a:extLst>
                    <a:ext uri="{9D8B030D-6E8A-4147-A177-3AD203B41FA5}">
                      <a16:colId xmlns:a16="http://schemas.microsoft.com/office/drawing/2014/main" val="2958821758"/>
                    </a:ext>
                  </a:extLst>
                </a:gridCol>
              </a:tblGrid>
              <a:tr h="0">
                <a:tc>
                  <a:txBody>
                    <a:bodyPr/>
                    <a:lstStyle/>
                    <a:p>
                      <a:pPr algn="l"/>
                      <a:r>
                        <a:rPr lang="en-US" sz="1000" b="1" dirty="0"/>
                        <a:t>Stack</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000" b="1" dirty="0"/>
                        <a:t>Accumulator</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000" b="1" dirty="0"/>
                        <a:t>GPR</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3095497"/>
                  </a:ext>
                </a:extLst>
              </a:tr>
              <a:tr h="0">
                <a:tc>
                  <a:txBody>
                    <a:bodyPr/>
                    <a:lstStyle/>
                    <a:p>
                      <a:pPr algn="l"/>
                      <a:r>
                        <a:rPr lang="en-US" sz="1000"/>
                        <a:t>PUSH A</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000" dirty="0"/>
                        <a:t>LOAD A</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000"/>
                        <a:t>LOAD R1,A</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3211718"/>
                  </a:ext>
                </a:extLst>
              </a:tr>
              <a:tr h="0">
                <a:tc>
                  <a:txBody>
                    <a:bodyPr/>
                    <a:lstStyle/>
                    <a:p>
                      <a:pPr algn="l"/>
                      <a:r>
                        <a:rPr lang="en-US" sz="1000"/>
                        <a:t>PUSH B</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000" dirty="0"/>
                        <a:t>ADD B</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000" dirty="0"/>
                        <a:t>ADD R1,B</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2367708"/>
                  </a:ext>
                </a:extLst>
              </a:tr>
              <a:tr h="0">
                <a:tc>
                  <a:txBody>
                    <a:bodyPr/>
                    <a:lstStyle/>
                    <a:p>
                      <a:pPr algn="l"/>
                      <a:r>
                        <a:rPr lang="en-US" sz="1000"/>
                        <a:t>ADD</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000"/>
                        <a:t>STORE C</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000" dirty="0"/>
                        <a:t>STORE R1,C</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6033239"/>
                  </a:ext>
                </a:extLst>
              </a:tr>
              <a:tr h="0">
                <a:tc>
                  <a:txBody>
                    <a:bodyPr/>
                    <a:lstStyle/>
                    <a:p>
                      <a:pPr algn="l"/>
                      <a:r>
                        <a:rPr lang="en-US" sz="1000"/>
                        <a:t>POP C</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a:t>-</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0" dirty="0"/>
                        <a:t>-</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1714474"/>
                  </a:ext>
                </a:extLst>
              </a:tr>
            </a:tbl>
          </a:graphicData>
        </a:graphic>
      </p:graphicFrame>
    </p:spTree>
    <p:extLst>
      <p:ext uri="{BB962C8B-B14F-4D97-AF65-F5344CB8AC3E}">
        <p14:creationId xmlns:p14="http://schemas.microsoft.com/office/powerpoint/2010/main" val="1431212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ISA Classification (MSP430)</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6</a:t>
            </a:fld>
            <a:endParaRPr lang="en-US" dirty="0"/>
          </a:p>
        </p:txBody>
      </p:sp>
      <p:sp>
        <p:nvSpPr>
          <p:cNvPr id="6" name="TextBox 5">
            <a:extLst>
              <a:ext uri="{FF2B5EF4-FFF2-40B4-BE49-F238E27FC236}">
                <a16:creationId xmlns:a16="http://schemas.microsoft.com/office/drawing/2014/main" id="{F56FDF22-9117-3E8C-48F2-1CC39BF95E4E}"/>
              </a:ext>
            </a:extLst>
          </p:cNvPr>
          <p:cNvSpPr txBox="1"/>
          <p:nvPr/>
        </p:nvSpPr>
        <p:spPr>
          <a:xfrm>
            <a:off x="326571" y="1252846"/>
            <a:ext cx="8514608" cy="646331"/>
          </a:xfrm>
          <a:prstGeom prst="rect">
            <a:avLst/>
          </a:prstGeom>
          <a:noFill/>
        </p:spPr>
        <p:txBody>
          <a:bodyPr wrap="square" rtlCol="0">
            <a:spAutoFit/>
          </a:bodyPr>
          <a:lstStyle/>
          <a:p>
            <a:pPr marL="285750" indent="-285750" algn="l">
              <a:buFont typeface="Arial" panose="020B0604020202020204" pitchFamily="34" charset="0"/>
              <a:buChar char="•"/>
            </a:pPr>
            <a:r>
              <a:rPr lang="en-US" b="1" i="1" dirty="0">
                <a:solidFill>
                  <a:srgbClr val="000000"/>
                </a:solidFill>
                <a:effectLst/>
                <a:latin typeface="Times New Roman" panose="02020603050405020304" pitchFamily="18" charset="0"/>
              </a:rPr>
              <a:t>General Purpose Register (GPR) ISAs</a:t>
            </a:r>
            <a:r>
              <a:rPr lang="en-US" b="0" i="0" dirty="0">
                <a:solidFill>
                  <a:srgbClr val="000000"/>
                </a:solidFill>
                <a:effectLst/>
                <a:latin typeface="Times New Roman" panose="02020603050405020304" pitchFamily="18" charset="0"/>
              </a:rPr>
              <a:t> - All operands are explicitly mentioned, they are either registers or memory locations.</a:t>
            </a:r>
          </a:p>
        </p:txBody>
      </p:sp>
      <p:pic>
        <p:nvPicPr>
          <p:cNvPr id="7" name="Picture 6">
            <a:extLst>
              <a:ext uri="{FF2B5EF4-FFF2-40B4-BE49-F238E27FC236}">
                <a16:creationId xmlns:a16="http://schemas.microsoft.com/office/drawing/2014/main" id="{4F463AFB-8C12-D103-D504-6BEAA951D935}"/>
              </a:ext>
            </a:extLst>
          </p:cNvPr>
          <p:cNvPicPr>
            <a:picLocks noChangeAspect="1"/>
          </p:cNvPicPr>
          <p:nvPr/>
        </p:nvPicPr>
        <p:blipFill>
          <a:blip r:embed="rId2"/>
          <a:stretch>
            <a:fillRect/>
          </a:stretch>
        </p:blipFill>
        <p:spPr>
          <a:xfrm rot="16200000">
            <a:off x="2441945" y="-126361"/>
            <a:ext cx="4254994" cy="8360230"/>
          </a:xfrm>
          <a:prstGeom prst="rect">
            <a:avLst/>
          </a:prstGeom>
        </p:spPr>
      </p:pic>
    </p:spTree>
    <p:extLst>
      <p:ext uri="{BB962C8B-B14F-4D97-AF65-F5344CB8AC3E}">
        <p14:creationId xmlns:p14="http://schemas.microsoft.com/office/powerpoint/2010/main" val="2673113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Tradeoffs</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7</a:t>
            </a:fld>
            <a:endParaRPr lang="en-US" dirty="0"/>
          </a:p>
        </p:txBody>
      </p:sp>
      <p:sp>
        <p:nvSpPr>
          <p:cNvPr id="6" name="TextBox 5">
            <a:extLst>
              <a:ext uri="{FF2B5EF4-FFF2-40B4-BE49-F238E27FC236}">
                <a16:creationId xmlns:a16="http://schemas.microsoft.com/office/drawing/2014/main" id="{F56FDF22-9117-3E8C-48F2-1CC39BF95E4E}"/>
              </a:ext>
            </a:extLst>
          </p:cNvPr>
          <p:cNvSpPr txBox="1"/>
          <p:nvPr/>
        </p:nvSpPr>
        <p:spPr>
          <a:xfrm>
            <a:off x="326571" y="1252846"/>
            <a:ext cx="8514608" cy="4801314"/>
          </a:xfrm>
          <a:prstGeom prst="rect">
            <a:avLst/>
          </a:prstGeom>
          <a:noFill/>
        </p:spPr>
        <p:txBody>
          <a:bodyPr wrap="square" rtlCol="0">
            <a:spAutoFit/>
          </a:bodyPr>
          <a:lstStyle/>
          <a:p>
            <a:pPr algn="l"/>
            <a:r>
              <a:rPr lang="en-US" b="1" i="0" u="sng" dirty="0">
                <a:solidFill>
                  <a:srgbClr val="000000"/>
                </a:solidFill>
                <a:effectLst/>
                <a:latin typeface="Times New Roman" panose="02020603050405020304" pitchFamily="18" charset="0"/>
              </a:rPr>
              <a:t>Stack ISAs</a:t>
            </a:r>
          </a:p>
          <a:p>
            <a:pPr algn="l"/>
            <a:r>
              <a:rPr lang="en-US" b="1" i="0" dirty="0">
                <a:solidFill>
                  <a:srgbClr val="000000"/>
                </a:solidFill>
                <a:effectLst/>
                <a:latin typeface="Times New Roman" panose="02020603050405020304" pitchFamily="18" charset="0"/>
              </a:rPr>
              <a:t>Advantages:</a:t>
            </a:r>
            <a:r>
              <a:rPr lang="en-US" b="0" i="0" dirty="0">
                <a:solidFill>
                  <a:srgbClr val="000000"/>
                </a:solidFill>
                <a:effectLst/>
                <a:latin typeface="Times New Roman" panose="02020603050405020304" pitchFamily="18" charset="0"/>
              </a:rPr>
              <a:t> Simple expression evaluation and short instructions.</a:t>
            </a:r>
            <a:br>
              <a:rPr lang="en-US" b="0" i="0" dirty="0">
                <a:solidFill>
                  <a:srgbClr val="000000"/>
                </a:solidFill>
                <a:effectLst/>
                <a:latin typeface="Times New Roman" panose="02020603050405020304" pitchFamily="18" charset="0"/>
              </a:rPr>
            </a:br>
            <a:endParaRPr lang="en-US" b="0" i="0" dirty="0">
              <a:solidFill>
                <a:srgbClr val="000000"/>
              </a:solidFill>
              <a:effectLst/>
              <a:latin typeface="Times New Roman" panose="02020603050405020304" pitchFamily="18" charset="0"/>
            </a:endParaRPr>
          </a:p>
          <a:p>
            <a:pPr algn="l"/>
            <a:r>
              <a:rPr lang="en-US" b="1" i="0" dirty="0">
                <a:solidFill>
                  <a:srgbClr val="000000"/>
                </a:solidFill>
                <a:effectLst/>
                <a:latin typeface="Times New Roman" panose="02020603050405020304" pitchFamily="18" charset="0"/>
              </a:rPr>
              <a:t>Disadvantages:</a:t>
            </a:r>
            <a:r>
              <a:rPr lang="en-US" b="0" i="0" dirty="0">
                <a:solidFill>
                  <a:srgbClr val="000000"/>
                </a:solidFill>
                <a:effectLst/>
                <a:latin typeface="Times New Roman" panose="02020603050405020304" pitchFamily="18" charset="0"/>
              </a:rPr>
              <a:t> </a:t>
            </a:r>
            <a:r>
              <a:rPr lang="en-US" dirty="0">
                <a:solidFill>
                  <a:srgbClr val="000000"/>
                </a:solidFill>
                <a:latin typeface="Times New Roman" panose="02020603050405020304" pitchFamily="18" charset="0"/>
              </a:rPr>
              <a:t>S</a:t>
            </a:r>
            <a:r>
              <a:rPr lang="en-US" b="0" i="0" dirty="0">
                <a:solidFill>
                  <a:srgbClr val="000000"/>
                </a:solidFill>
                <a:effectLst/>
                <a:latin typeface="Times New Roman" panose="02020603050405020304" pitchFamily="18" charset="0"/>
              </a:rPr>
              <a:t>tack can't be randomly accessed. Hard to generate efficient code. The stack becomes a bottleneck.</a:t>
            </a:r>
            <a:br>
              <a:rPr lang="en-US" b="0" i="0" dirty="0">
                <a:solidFill>
                  <a:srgbClr val="000000"/>
                </a:solidFill>
                <a:effectLst/>
                <a:latin typeface="Times New Roman" panose="02020603050405020304" pitchFamily="18" charset="0"/>
              </a:rPr>
            </a:br>
            <a:endParaRPr lang="en-US" b="0" i="0" dirty="0">
              <a:solidFill>
                <a:srgbClr val="000000"/>
              </a:solidFill>
              <a:effectLst/>
              <a:latin typeface="Times New Roman" panose="02020603050405020304" pitchFamily="18" charset="0"/>
            </a:endParaRPr>
          </a:p>
          <a:p>
            <a:pPr algn="l"/>
            <a:r>
              <a:rPr lang="en-US" b="1" i="0" u="sng" dirty="0">
                <a:solidFill>
                  <a:srgbClr val="000000"/>
                </a:solidFill>
                <a:effectLst/>
                <a:latin typeface="Times New Roman" panose="02020603050405020304" pitchFamily="18" charset="0"/>
              </a:rPr>
              <a:t>Accumulator ISAs</a:t>
            </a:r>
          </a:p>
          <a:p>
            <a:pPr algn="l"/>
            <a:r>
              <a:rPr lang="en-US" b="1" i="0" dirty="0">
                <a:solidFill>
                  <a:srgbClr val="000000"/>
                </a:solidFill>
                <a:effectLst/>
                <a:latin typeface="Times New Roman" panose="02020603050405020304" pitchFamily="18" charset="0"/>
              </a:rPr>
              <a:t>Advantages:</a:t>
            </a:r>
            <a:r>
              <a:rPr lang="en-US" b="0" i="0" dirty="0">
                <a:solidFill>
                  <a:srgbClr val="000000"/>
                </a:solidFill>
                <a:effectLst/>
                <a:latin typeface="Times New Roman" panose="02020603050405020304" pitchFamily="18" charset="0"/>
              </a:rPr>
              <a:t> Compact instructions.</a:t>
            </a:r>
            <a:br>
              <a:rPr lang="en-US" b="0" i="0" dirty="0">
                <a:solidFill>
                  <a:srgbClr val="000000"/>
                </a:solidFill>
                <a:effectLst/>
                <a:latin typeface="Times New Roman" panose="02020603050405020304" pitchFamily="18" charset="0"/>
              </a:rPr>
            </a:br>
            <a:endParaRPr lang="en-US" b="0" i="0" dirty="0">
              <a:solidFill>
                <a:srgbClr val="000000"/>
              </a:solidFill>
              <a:effectLst/>
              <a:latin typeface="Times New Roman" panose="02020603050405020304" pitchFamily="18" charset="0"/>
            </a:endParaRPr>
          </a:p>
          <a:p>
            <a:pPr algn="l"/>
            <a:r>
              <a:rPr lang="en-US" b="1" i="0" dirty="0">
                <a:solidFill>
                  <a:srgbClr val="000000"/>
                </a:solidFill>
                <a:effectLst/>
                <a:latin typeface="Times New Roman" panose="02020603050405020304" pitchFamily="18" charset="0"/>
              </a:rPr>
              <a:t>Disadvantages:</a:t>
            </a:r>
            <a:r>
              <a:rPr lang="en-US" b="0" i="0" dirty="0">
                <a:solidFill>
                  <a:srgbClr val="000000"/>
                </a:solidFill>
                <a:effectLst/>
                <a:latin typeface="Times New Roman" panose="02020603050405020304" pitchFamily="18" charset="0"/>
              </a:rPr>
              <a:t> The accumulator is only temporary storage. Memory bus can easily get congested through this approach.</a:t>
            </a:r>
            <a:br>
              <a:rPr lang="en-US" b="0" i="0" dirty="0">
                <a:solidFill>
                  <a:srgbClr val="000000"/>
                </a:solidFill>
                <a:effectLst/>
                <a:latin typeface="Times New Roman" panose="02020603050405020304" pitchFamily="18" charset="0"/>
              </a:rPr>
            </a:br>
            <a:endParaRPr lang="en-US" b="0" i="0" dirty="0">
              <a:solidFill>
                <a:srgbClr val="000000"/>
              </a:solidFill>
              <a:effectLst/>
              <a:latin typeface="Times New Roman" panose="02020603050405020304" pitchFamily="18" charset="0"/>
            </a:endParaRPr>
          </a:p>
          <a:p>
            <a:pPr algn="l"/>
            <a:r>
              <a:rPr lang="en-US" b="1" i="0" u="sng" dirty="0">
                <a:solidFill>
                  <a:srgbClr val="000000"/>
                </a:solidFill>
                <a:effectLst/>
                <a:latin typeface="Times New Roman" panose="02020603050405020304" pitchFamily="18" charset="0"/>
              </a:rPr>
              <a:t>GPR ISAs</a:t>
            </a:r>
          </a:p>
          <a:p>
            <a:pPr algn="l"/>
            <a:r>
              <a:rPr lang="en-US" b="1" i="0" dirty="0">
                <a:solidFill>
                  <a:srgbClr val="000000"/>
                </a:solidFill>
                <a:effectLst/>
                <a:latin typeface="Times New Roman" panose="02020603050405020304" pitchFamily="18" charset="0"/>
              </a:rPr>
              <a:t>Advantages:</a:t>
            </a:r>
            <a:r>
              <a:rPr lang="en-US" b="0" i="0" dirty="0">
                <a:solidFill>
                  <a:srgbClr val="000000"/>
                </a:solidFill>
                <a:effectLst/>
                <a:latin typeface="Times New Roman" panose="02020603050405020304" pitchFamily="18" charset="0"/>
              </a:rPr>
              <a:t> Efficient code generation is easy. Data can be stored for long periods in registers.</a:t>
            </a:r>
            <a:br>
              <a:rPr lang="en-US" b="0" i="0" dirty="0">
                <a:solidFill>
                  <a:srgbClr val="000000"/>
                </a:solidFill>
                <a:effectLst/>
                <a:latin typeface="Times New Roman" panose="02020603050405020304" pitchFamily="18" charset="0"/>
              </a:rPr>
            </a:br>
            <a:endParaRPr lang="en-US" b="0" i="0" dirty="0">
              <a:solidFill>
                <a:srgbClr val="000000"/>
              </a:solidFill>
              <a:effectLst/>
              <a:latin typeface="Times New Roman" panose="02020603050405020304" pitchFamily="18" charset="0"/>
            </a:endParaRPr>
          </a:p>
          <a:p>
            <a:pPr algn="l"/>
            <a:r>
              <a:rPr lang="en-US" b="1" i="0" dirty="0">
                <a:solidFill>
                  <a:srgbClr val="000000"/>
                </a:solidFill>
                <a:effectLst/>
                <a:latin typeface="Times New Roman" panose="02020603050405020304" pitchFamily="18" charset="0"/>
              </a:rPr>
              <a:t>Disadvantages:</a:t>
            </a:r>
            <a:r>
              <a:rPr lang="en-US" b="0" i="0" dirty="0">
                <a:solidFill>
                  <a:srgbClr val="000000"/>
                </a:solidFill>
                <a:effectLst/>
                <a:latin typeface="Times New Roman" panose="02020603050405020304" pitchFamily="18" charset="0"/>
              </a:rPr>
              <a:t> All operands must be explicitly named leading to longer instructions.</a:t>
            </a:r>
          </a:p>
        </p:txBody>
      </p:sp>
    </p:spTree>
    <p:extLst>
      <p:ext uri="{BB962C8B-B14F-4D97-AF65-F5344CB8AC3E}">
        <p14:creationId xmlns:p14="http://schemas.microsoft.com/office/powerpoint/2010/main" val="53663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Common Addressing Modes</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8</a:t>
            </a:fld>
            <a:endParaRPr lang="en-US" dirty="0"/>
          </a:p>
        </p:txBody>
      </p:sp>
      <p:sp>
        <p:nvSpPr>
          <p:cNvPr id="6" name="TextBox 5">
            <a:extLst>
              <a:ext uri="{FF2B5EF4-FFF2-40B4-BE49-F238E27FC236}">
                <a16:creationId xmlns:a16="http://schemas.microsoft.com/office/drawing/2014/main" id="{F56FDF22-9117-3E8C-48F2-1CC39BF95E4E}"/>
              </a:ext>
            </a:extLst>
          </p:cNvPr>
          <p:cNvSpPr txBox="1"/>
          <p:nvPr/>
        </p:nvSpPr>
        <p:spPr>
          <a:xfrm>
            <a:off x="314696" y="1270659"/>
            <a:ext cx="8514608" cy="3693319"/>
          </a:xfrm>
          <a:prstGeom prst="rect">
            <a:avLst/>
          </a:prstGeom>
          <a:noFill/>
        </p:spPr>
        <p:txBody>
          <a:bodyPr wrap="square" rtlCol="0">
            <a:spAutoFit/>
          </a:bodyPr>
          <a:lstStyle/>
          <a:p>
            <a:pPr algn="l"/>
            <a:r>
              <a:rPr lang="pt-BR" dirty="0"/>
              <a:t>Immediate			LD R4, #0x1000</a:t>
            </a:r>
          </a:p>
          <a:p>
            <a:pPr algn="l"/>
            <a:endParaRPr lang="pt-BR" dirty="0"/>
          </a:p>
          <a:p>
            <a:pPr algn="l"/>
            <a:r>
              <a:rPr lang="pt-BR" dirty="0"/>
              <a:t>Register				LD R4, R5</a:t>
            </a:r>
          </a:p>
          <a:p>
            <a:pPr algn="l"/>
            <a:endParaRPr lang="pt-BR" dirty="0"/>
          </a:p>
          <a:p>
            <a:r>
              <a:rPr lang="pt-BR" dirty="0"/>
              <a:t>Autoincrement 			LD R4, (R2)+ </a:t>
            </a:r>
          </a:p>
          <a:p>
            <a:pPr algn="l"/>
            <a:endParaRPr lang="pt-BR" dirty="0"/>
          </a:p>
          <a:p>
            <a:pPr algn="l"/>
            <a:r>
              <a:rPr lang="pt-BR" dirty="0"/>
              <a:t>Absolute				LD R4, &amp;0x1000</a:t>
            </a:r>
          </a:p>
          <a:p>
            <a:pPr algn="l"/>
            <a:endParaRPr lang="pt-BR" dirty="0"/>
          </a:p>
          <a:p>
            <a:r>
              <a:rPr lang="pt-BR" dirty="0"/>
              <a:t>Register Indirect 			LD R4, (R1) </a:t>
            </a:r>
          </a:p>
          <a:p>
            <a:pPr algn="l"/>
            <a:endParaRPr lang="pt-BR" dirty="0"/>
          </a:p>
          <a:p>
            <a:pPr algn="l"/>
            <a:r>
              <a:rPr lang="pt-BR" dirty="0"/>
              <a:t>Base/Displacement 	</a:t>
            </a:r>
            <a:r>
              <a:rPr lang="pt-BR"/>
              <a:t>	LD </a:t>
            </a:r>
            <a:r>
              <a:rPr lang="pt-BR" dirty="0"/>
              <a:t>R4, 100(R1) </a:t>
            </a:r>
          </a:p>
          <a:p>
            <a:pPr algn="l"/>
            <a:r>
              <a:rPr lang="pt-BR" dirty="0"/>
              <a:t> </a:t>
            </a:r>
          </a:p>
          <a:p>
            <a:pPr algn="l"/>
            <a:endParaRPr lang="pt-BR" dirty="0"/>
          </a:p>
        </p:txBody>
      </p:sp>
    </p:spTree>
    <p:extLst>
      <p:ext uri="{BB962C8B-B14F-4D97-AF65-F5344CB8AC3E}">
        <p14:creationId xmlns:p14="http://schemas.microsoft.com/office/powerpoint/2010/main" val="764994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What Makes a Good ISA?</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9</a:t>
            </a:fld>
            <a:endParaRPr lang="en-US" dirty="0"/>
          </a:p>
        </p:txBody>
      </p:sp>
      <p:sp>
        <p:nvSpPr>
          <p:cNvPr id="6" name="TextBox 5">
            <a:extLst>
              <a:ext uri="{FF2B5EF4-FFF2-40B4-BE49-F238E27FC236}">
                <a16:creationId xmlns:a16="http://schemas.microsoft.com/office/drawing/2014/main" id="{F56FDF22-9117-3E8C-48F2-1CC39BF95E4E}"/>
              </a:ext>
            </a:extLst>
          </p:cNvPr>
          <p:cNvSpPr txBox="1"/>
          <p:nvPr/>
        </p:nvSpPr>
        <p:spPr>
          <a:xfrm>
            <a:off x="314696" y="1270659"/>
            <a:ext cx="8514608" cy="2862322"/>
          </a:xfrm>
          <a:prstGeom prst="rect">
            <a:avLst/>
          </a:prstGeom>
          <a:noFill/>
        </p:spPr>
        <p:txBody>
          <a:bodyPr wrap="square" rtlCol="0">
            <a:spAutoFit/>
          </a:bodyPr>
          <a:lstStyle/>
          <a:p>
            <a:pPr marL="285750" indent="-285750" algn="l">
              <a:buFont typeface="Arial" panose="020B0604020202020204" pitchFamily="34" charset="0"/>
              <a:buChar char="•"/>
            </a:pPr>
            <a:r>
              <a:rPr lang="en-US" dirty="0"/>
              <a:t>Ease of Implementation (Job of Architect/Designer) </a:t>
            </a:r>
          </a:p>
          <a:p>
            <a:pPr marL="742950" lvl="1" indent="-285750">
              <a:buFont typeface="Arial" panose="020B0604020202020204" pitchFamily="34" charset="0"/>
              <a:buChar char="•"/>
            </a:pPr>
            <a:r>
              <a:rPr lang="en-US" dirty="0"/>
              <a:t>Does the ISA lead itself to efficient implementations? </a:t>
            </a:r>
          </a:p>
          <a:p>
            <a:pPr marL="742950" lvl="1" indent="-285750">
              <a:buFont typeface="Arial" panose="020B0604020202020204" pitchFamily="34" charset="0"/>
              <a:buChar char="•"/>
            </a:pPr>
            <a:endParaRPr lang="en-US" dirty="0"/>
          </a:p>
          <a:p>
            <a:pPr marL="285750" indent="-285750" algn="l">
              <a:buFont typeface="Arial" panose="020B0604020202020204" pitchFamily="34" charset="0"/>
              <a:buChar char="•"/>
            </a:pPr>
            <a:r>
              <a:rPr lang="en-US" dirty="0"/>
              <a:t>Ease of Programming (Job of Programmer/Compiler) </a:t>
            </a:r>
          </a:p>
          <a:p>
            <a:pPr marL="742950" lvl="1" indent="-285750">
              <a:buFont typeface="Arial" panose="020B0604020202020204" pitchFamily="34" charset="0"/>
              <a:buChar char="•"/>
            </a:pPr>
            <a:r>
              <a:rPr lang="en-US" dirty="0"/>
              <a:t>Can the compiler use the ISA effectively?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Future Compatibility</a:t>
            </a:r>
          </a:p>
          <a:p>
            <a:pPr marL="742950" lvl="1" indent="-285750">
              <a:buFont typeface="Arial" panose="020B0604020202020204" pitchFamily="34" charset="0"/>
              <a:buChar char="•"/>
            </a:pPr>
            <a:r>
              <a:rPr lang="en-US" dirty="0"/>
              <a:t>ISAs may last 30+yrs </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Special Features, Address range, etc. need to be thought out</a:t>
            </a:r>
            <a:endParaRPr lang="pt-BR" dirty="0"/>
          </a:p>
        </p:txBody>
      </p:sp>
    </p:spTree>
    <p:extLst>
      <p:ext uri="{BB962C8B-B14F-4D97-AF65-F5344CB8AC3E}">
        <p14:creationId xmlns:p14="http://schemas.microsoft.com/office/powerpoint/2010/main" val="1669099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Implementation Concerns</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10</a:t>
            </a:fld>
            <a:endParaRPr lang="en-US" dirty="0"/>
          </a:p>
        </p:txBody>
      </p:sp>
      <p:sp>
        <p:nvSpPr>
          <p:cNvPr id="6" name="TextBox 5">
            <a:extLst>
              <a:ext uri="{FF2B5EF4-FFF2-40B4-BE49-F238E27FC236}">
                <a16:creationId xmlns:a16="http://schemas.microsoft.com/office/drawing/2014/main" id="{F56FDF22-9117-3E8C-48F2-1CC39BF95E4E}"/>
              </a:ext>
            </a:extLst>
          </p:cNvPr>
          <p:cNvSpPr txBox="1"/>
          <p:nvPr/>
        </p:nvSpPr>
        <p:spPr>
          <a:xfrm>
            <a:off x="314696" y="1270659"/>
            <a:ext cx="8514608" cy="3693319"/>
          </a:xfrm>
          <a:prstGeom prst="rect">
            <a:avLst/>
          </a:prstGeom>
          <a:noFill/>
        </p:spPr>
        <p:txBody>
          <a:bodyPr wrap="square" rtlCol="0">
            <a:spAutoFit/>
          </a:bodyPr>
          <a:lstStyle/>
          <a:p>
            <a:pPr marL="285750" indent="-285750" algn="l">
              <a:buFont typeface="Arial" panose="020B0604020202020204" pitchFamily="34" charset="0"/>
              <a:buChar char="•"/>
            </a:pPr>
            <a:r>
              <a:rPr lang="en-US" dirty="0"/>
              <a:t>Simple Decoding (fixed length)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Compactness (variable length)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Simple Instructions (no load/update) </a:t>
            </a:r>
          </a:p>
          <a:p>
            <a:pPr marL="742950" lvl="1" indent="-285750">
              <a:buFont typeface="Arial" panose="020B0604020202020204" pitchFamily="34" charset="0"/>
              <a:buChar char="•"/>
            </a:pPr>
            <a:r>
              <a:rPr lang="en-US" dirty="0"/>
              <a:t>Things that get </a:t>
            </a:r>
            <a:r>
              <a:rPr lang="en-US" dirty="0" err="1"/>
              <a:t>microcoded</a:t>
            </a:r>
            <a:r>
              <a:rPr lang="en-US" dirty="0"/>
              <a:t> these days </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Deterministic Latencies are key!  </a:t>
            </a:r>
          </a:p>
          <a:p>
            <a:pPr marL="742950" lvl="1" indent="-285750">
              <a:buFont typeface="Arial" panose="020B0604020202020204" pitchFamily="34" charset="0"/>
              <a:buChar char="•"/>
            </a:pPr>
            <a:endParaRPr lang="en-US" dirty="0"/>
          </a:p>
          <a:p>
            <a:pPr marL="285750" indent="-285750" algn="l">
              <a:buFont typeface="Arial" panose="020B0604020202020204" pitchFamily="34" charset="0"/>
              <a:buChar char="•"/>
            </a:pPr>
            <a:r>
              <a:rPr lang="en-US" dirty="0"/>
              <a:t>More/Less registers? </a:t>
            </a:r>
          </a:p>
          <a:p>
            <a:pPr marL="742950" lvl="1" indent="-285750">
              <a:buFont typeface="Arial" panose="020B0604020202020204" pitchFamily="34" charset="0"/>
              <a:buChar char="•"/>
            </a:pPr>
            <a:r>
              <a:rPr lang="en-US" dirty="0"/>
              <a:t>Slower register files, decoding, better compilers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Condition codes/Flags</a:t>
            </a:r>
            <a:endParaRPr lang="pt-BR" dirty="0"/>
          </a:p>
        </p:txBody>
      </p:sp>
    </p:spTree>
    <p:extLst>
      <p:ext uri="{BB962C8B-B14F-4D97-AF65-F5344CB8AC3E}">
        <p14:creationId xmlns:p14="http://schemas.microsoft.com/office/powerpoint/2010/main" val="2767482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Programmability</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11</a:t>
            </a:fld>
            <a:endParaRPr lang="en-US" dirty="0"/>
          </a:p>
        </p:txBody>
      </p:sp>
      <p:sp>
        <p:nvSpPr>
          <p:cNvPr id="6" name="TextBox 5">
            <a:extLst>
              <a:ext uri="{FF2B5EF4-FFF2-40B4-BE49-F238E27FC236}">
                <a16:creationId xmlns:a16="http://schemas.microsoft.com/office/drawing/2014/main" id="{F56FDF22-9117-3E8C-48F2-1CC39BF95E4E}"/>
              </a:ext>
            </a:extLst>
          </p:cNvPr>
          <p:cNvSpPr txBox="1"/>
          <p:nvPr/>
        </p:nvSpPr>
        <p:spPr>
          <a:xfrm>
            <a:off x="314696" y="1270659"/>
            <a:ext cx="8514608" cy="2308324"/>
          </a:xfrm>
          <a:prstGeom prst="rect">
            <a:avLst/>
          </a:prstGeom>
          <a:noFill/>
        </p:spPr>
        <p:txBody>
          <a:bodyPr wrap="square" rtlCol="0">
            <a:spAutoFit/>
          </a:bodyPr>
          <a:lstStyle/>
          <a:p>
            <a:pPr marL="285750" indent="-285750" algn="l">
              <a:buFont typeface="Arial" panose="020B0604020202020204" pitchFamily="34" charset="0"/>
              <a:buChar char="•"/>
            </a:pPr>
            <a:r>
              <a:rPr lang="en-US" dirty="0"/>
              <a:t>1960s, early 70s </a:t>
            </a:r>
          </a:p>
          <a:p>
            <a:pPr marL="742950" lvl="1" indent="-285750">
              <a:buFont typeface="Arial" panose="020B0604020202020204" pitchFamily="34" charset="0"/>
              <a:buChar char="•"/>
            </a:pPr>
            <a:r>
              <a:rPr lang="en-US" dirty="0"/>
              <a:t>Code was mostly hand-coded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Late 70s, Early 80s </a:t>
            </a:r>
          </a:p>
          <a:p>
            <a:pPr marL="742950" lvl="1" indent="-285750">
              <a:buFont typeface="Arial" panose="020B0604020202020204" pitchFamily="34" charset="0"/>
              <a:buChar char="•"/>
            </a:pPr>
            <a:r>
              <a:rPr lang="en-US" dirty="0"/>
              <a:t>Most code was compiled, but hand-coded was better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Mid-80s to Present </a:t>
            </a:r>
          </a:p>
          <a:p>
            <a:pPr marL="742950" lvl="1" indent="-285750">
              <a:buFont typeface="Arial" panose="020B0604020202020204" pitchFamily="34" charset="0"/>
              <a:buChar char="•"/>
            </a:pPr>
            <a:r>
              <a:rPr lang="en-US" dirty="0"/>
              <a:t>Most code is compiled and almost as good as assembly</a:t>
            </a:r>
            <a:endParaRPr lang="pt-BR" dirty="0"/>
          </a:p>
        </p:txBody>
      </p:sp>
    </p:spTree>
    <p:extLst>
      <p:ext uri="{BB962C8B-B14F-4D97-AF65-F5344CB8AC3E}">
        <p14:creationId xmlns:p14="http://schemas.microsoft.com/office/powerpoint/2010/main" val="1005053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lstStyle/>
          <a:p>
            <a:r>
              <a:rPr lang="en-US" dirty="0"/>
              <a:t>CISC vs. RISC</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a:defRPr/>
            </a:pPr>
            <a:fld id="{42CB018A-15B1-4C22-8FA2-A904A060C299}" type="datetime1">
              <a:rPr lang="en-US" smtClean="0"/>
              <a:pPr>
                <a:defRPr/>
              </a:pPr>
              <a:t>2/18/2026</a:t>
            </a:fld>
            <a:endParaRPr lang="en-US" dirty="0"/>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a:defRPr/>
            </a:pPr>
            <a:fld id="{27BA28D0-02EE-4D85-89C2-55FF3BC2206B}" type="slidenum">
              <a:rPr lang="en-US" smtClean="0"/>
              <a:pPr>
                <a:defRPr/>
              </a:pPr>
              <a:t>12</a:t>
            </a:fld>
            <a:endParaRPr lang="en-US" dirty="0"/>
          </a:p>
        </p:txBody>
      </p:sp>
      <p:sp>
        <p:nvSpPr>
          <p:cNvPr id="6" name="TextBox 5">
            <a:extLst>
              <a:ext uri="{FF2B5EF4-FFF2-40B4-BE49-F238E27FC236}">
                <a16:creationId xmlns:a16="http://schemas.microsoft.com/office/drawing/2014/main" id="{F56FDF22-9117-3E8C-48F2-1CC39BF95E4E}"/>
              </a:ext>
            </a:extLst>
          </p:cNvPr>
          <p:cNvSpPr txBox="1"/>
          <p:nvPr/>
        </p:nvSpPr>
        <p:spPr>
          <a:xfrm>
            <a:off x="314696" y="1169713"/>
            <a:ext cx="8514608" cy="5355312"/>
          </a:xfrm>
          <a:prstGeom prst="rect">
            <a:avLst/>
          </a:prstGeom>
          <a:noFill/>
        </p:spPr>
        <p:txBody>
          <a:bodyPr wrap="square" rtlCol="0">
            <a:spAutoFit/>
          </a:bodyPr>
          <a:lstStyle/>
          <a:p>
            <a:pPr algn="l"/>
            <a:r>
              <a:rPr lang="en-US" dirty="0"/>
              <a:t>CISC: Complex Instruction Set Architecture. Complex instructions that perform a lot of work.</a:t>
            </a:r>
          </a:p>
          <a:p>
            <a:pPr algn="l"/>
            <a:endParaRPr lang="en-US" dirty="0"/>
          </a:p>
          <a:p>
            <a:pPr algn="l"/>
            <a:r>
              <a:rPr lang="en-US" dirty="0"/>
              <a:t>RISC: Reduced Instruction Set Architecture. Simple/small number of instructions that don’t produce a lot of work.</a:t>
            </a:r>
          </a:p>
          <a:p>
            <a:pPr algn="l"/>
            <a:endParaRPr lang="en-US" dirty="0"/>
          </a:p>
          <a:p>
            <a:pPr marL="285750" indent="-285750" algn="l">
              <a:buFont typeface="Arial" panose="020B0604020202020204" pitchFamily="34" charset="0"/>
              <a:buChar char="•"/>
            </a:pPr>
            <a:r>
              <a:rPr lang="en-US" dirty="0"/>
              <a:t>Debate raged from early 80s through 90s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Now it is irrelevant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Despite this Intel (x86 =&gt; Itanium) and DEC/Compaq (VAX =&gt; Alpha) have tried to switch </a:t>
            </a:r>
          </a:p>
          <a:p>
            <a:pPr marL="285750" indent="-285750" algn="l">
              <a:buFont typeface="Arial" panose="020B0604020202020204" pitchFamily="34" charset="0"/>
              <a:buChar char="•"/>
            </a:pPr>
            <a:endParaRPr lang="en-US" dirty="0"/>
          </a:p>
          <a:p>
            <a:pPr marL="285750" indent="-285750" algn="l">
              <a:buFont typeface="Arial" panose="020B0604020202020204" pitchFamily="34" charset="0"/>
              <a:buChar char="•"/>
            </a:pPr>
            <a:r>
              <a:rPr lang="en-US" dirty="0"/>
              <a:t>Research in the late 70s/early 80s led to RISC </a:t>
            </a:r>
          </a:p>
          <a:p>
            <a:pPr marL="742950" lvl="1" indent="-285750">
              <a:buFont typeface="Arial" panose="020B0604020202020204" pitchFamily="34" charset="0"/>
              <a:buChar char="•"/>
            </a:pPr>
            <a:r>
              <a:rPr lang="en-US" dirty="0"/>
              <a:t>IBM 801</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Berkeley RISC-1</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Stanford MIPS</a:t>
            </a:r>
            <a:endParaRPr lang="pt-BR" dirty="0"/>
          </a:p>
        </p:txBody>
      </p:sp>
    </p:spTree>
    <p:extLst>
      <p:ext uri="{BB962C8B-B14F-4D97-AF65-F5344CB8AC3E}">
        <p14:creationId xmlns:p14="http://schemas.microsoft.com/office/powerpoint/2010/main" val="1362542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0844B9-C711-D745-BA42-F7938522F227}"/>
              </a:ext>
            </a:extLst>
          </p:cNvPr>
          <p:cNvSpPr txBox="1"/>
          <p:nvPr/>
        </p:nvSpPr>
        <p:spPr>
          <a:xfrm>
            <a:off x="326571" y="1128152"/>
            <a:ext cx="8514608" cy="4431983"/>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charset="0"/>
                <a:ea typeface="+mn-ea"/>
                <a:cs typeface="+mn-cs"/>
              </a:rPr>
              <a:t>CISC stands for </a:t>
            </a:r>
            <a:r>
              <a:rPr kumimoji="0" lang="en-US" sz="2000" b="1" i="0" u="none" strike="noStrike" kern="1200" cap="none" spc="0" normalizeH="0" baseline="0" noProof="0" dirty="0">
                <a:ln>
                  <a:noFill/>
                </a:ln>
                <a:solidFill>
                  <a:prstClr val="black"/>
                </a:solidFill>
                <a:effectLst/>
                <a:uLnTx/>
                <a:uFillTx/>
                <a:latin typeface="Arial" charset="0"/>
                <a:ea typeface="+mn-ea"/>
                <a:cs typeface="+mn-cs"/>
              </a:rPr>
              <a:t>Complex Instruction Set Computing</a:t>
            </a:r>
            <a:r>
              <a:rPr kumimoji="0" lang="en-US" sz="2000" b="0" i="0" u="none" strike="noStrike" kern="1200" cap="none" spc="0" normalizeH="0" baseline="0" noProof="0" dirty="0">
                <a:ln>
                  <a:noFill/>
                </a:ln>
                <a:solidFill>
                  <a:prstClr val="black"/>
                </a:solidFill>
                <a:effectLst/>
                <a:uLnTx/>
                <a:uFillTx/>
                <a:latin typeface="Arial" charset="0"/>
                <a:ea typeface="+mn-ea"/>
                <a:cs typeface="+mn-cs"/>
              </a:rPr>
              <a:t>. CISC processors were launched in 1970 and can perform complex tasks with relatively few instructions (</a:t>
            </a:r>
            <a:r>
              <a:rPr kumimoji="0" lang="en-US" sz="2000" b="1" i="0" u="none" strike="noStrike" kern="1200" cap="none" spc="0" normalizeH="0" baseline="0" noProof="0" dirty="0">
                <a:ln>
                  <a:noFill/>
                </a:ln>
                <a:solidFill>
                  <a:prstClr val="black"/>
                </a:solidFill>
                <a:effectLst/>
                <a:uLnTx/>
                <a:uFillTx/>
                <a:latin typeface="Arial" charset="0"/>
                <a:ea typeface="+mn-ea"/>
                <a:cs typeface="+mn-cs"/>
              </a:rPr>
              <a:t>without using multiple codes</a:t>
            </a:r>
            <a:r>
              <a:rPr kumimoji="0" lang="en-US" sz="2000" b="0" i="0" u="none" strike="noStrike" kern="1200" cap="none" spc="0" normalizeH="0" baseline="0" noProof="0" dirty="0">
                <a:ln>
                  <a:noFill/>
                </a:ln>
                <a:solidFill>
                  <a:prstClr val="black"/>
                </a:solidFill>
                <a:effectLst/>
                <a:uLnTx/>
                <a:uFillTx/>
                <a:latin typeface="Arial" charset="0"/>
                <a:ea typeface="+mn-ea"/>
                <a:cs typeface="+mn-cs"/>
              </a:rPr>
              <a:t>). The aim of this architecture is to create an instruction set that functions seamlessly with higher-level languages and data structures.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202124"/>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It can use instructions that are different lengths: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Register-based instructions</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can be as short as 2 bytes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Instructions with two memory addresses</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can be 5 bytes for the complete code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As instructions can be of different lengths, the execution time can also vary. Many will use more than one clock cycle.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202124"/>
              </a:solidFill>
              <a:effectLst/>
              <a:uLnTx/>
              <a:uFillTx/>
              <a:latin typeface="Arial" charset="0"/>
              <a:ea typeface="+mn-ea"/>
              <a:cs typeface="+mn-cs"/>
            </a:endParaRPr>
          </a:p>
        </p:txBody>
      </p:sp>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normAutofit/>
          </a:bodyPr>
          <a:lstStyle/>
          <a:p>
            <a:r>
              <a:rPr lang="en-US" sz="3200" dirty="0"/>
              <a:t>CISC Processor</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846666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0844B9-C711-D745-BA42-F7938522F227}"/>
              </a:ext>
            </a:extLst>
          </p:cNvPr>
          <p:cNvSpPr txBox="1"/>
          <p:nvPr/>
        </p:nvSpPr>
        <p:spPr>
          <a:xfrm>
            <a:off x="457201" y="1128152"/>
            <a:ext cx="8383978" cy="3170099"/>
          </a:xfrm>
          <a:prstGeom prst="rect">
            <a:avLst/>
          </a:prstGeom>
          <a:noFill/>
        </p:spPr>
        <p:txBody>
          <a:bodyPr wrap="square" rtlCol="0">
            <a:spAutoFit/>
          </a:bodyPr>
          <a:lstStyle/>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02124"/>
                </a:solidFill>
                <a:effectLst/>
                <a:uLnTx/>
                <a:uFillTx/>
                <a:latin typeface="Arial" charset="0"/>
                <a:ea typeface="+mn-ea"/>
                <a:cs typeface="+mn-cs"/>
              </a:rPr>
              <a:t>Another unique feature is direct access to operands in memory. This reduces the difficulty of software (compilers) to convert high-level commands to machine-level instructions.</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202124"/>
              </a:solidFill>
              <a:effectLst/>
              <a:uLnTx/>
              <a:uFillTx/>
              <a:latin typeface="Arial" charset="0"/>
              <a:ea typeface="+mn-ea"/>
              <a:cs typeface="+mn-cs"/>
            </a:endParaRP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202124"/>
                </a:solidFill>
                <a:effectLst/>
                <a:uLnTx/>
                <a:uFillTx/>
                <a:latin typeface="Arial" charset="0"/>
                <a:ea typeface="+mn-ea"/>
                <a:cs typeface="+mn-cs"/>
              </a:rPr>
              <a:t>An instruction can add a number stored in memory and another in a register. And finally, save our result to some location in memory.</a:t>
            </a:r>
          </a:p>
          <a:p>
            <a:pPr marL="342900" marR="0" lvl="0" indent="-34290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202124"/>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charset="0"/>
                <a:ea typeface="+mn-ea"/>
                <a:cs typeface="+mn-cs"/>
              </a:rPr>
              <a:t>So, rather than working with processor </a:t>
            </a:r>
            <a:r>
              <a:rPr kumimoji="0" lang="en-US" sz="2000" b="1" i="0" u="none" strike="noStrike" kern="1200" cap="none" spc="0" normalizeH="0" baseline="0" noProof="0" dirty="0">
                <a:ln>
                  <a:noFill/>
                </a:ln>
                <a:solidFill>
                  <a:prstClr val="black"/>
                </a:solidFill>
                <a:effectLst/>
                <a:uLnTx/>
                <a:uFillTx/>
                <a:latin typeface="Arial" charset="0"/>
                <a:ea typeface="+mn-ea"/>
                <a:cs typeface="+mn-cs"/>
              </a:rPr>
              <a:t>registers</a:t>
            </a:r>
            <a:r>
              <a:rPr kumimoji="0" lang="en-US" sz="2000" b="0" i="0" u="none" strike="noStrike" kern="1200" cap="none" spc="0" normalizeH="0" baseline="0" noProof="0" dirty="0">
                <a:ln>
                  <a:noFill/>
                </a:ln>
                <a:solidFill>
                  <a:prstClr val="black"/>
                </a:solidFill>
                <a:effectLst/>
                <a:uLnTx/>
                <a:uFillTx/>
                <a:latin typeface="Arial" charset="0"/>
                <a:ea typeface="+mn-ea"/>
                <a:cs typeface="+mn-cs"/>
              </a:rPr>
              <a:t> that are inside the processor, many </a:t>
            </a:r>
            <a:r>
              <a:rPr kumimoji="0" lang="en-US" sz="2000" b="1" i="0" u="none" strike="noStrike" kern="1200" cap="none" spc="0" normalizeH="0" baseline="0" noProof="0" dirty="0">
                <a:ln>
                  <a:noFill/>
                </a:ln>
                <a:solidFill>
                  <a:prstClr val="black"/>
                </a:solidFill>
                <a:effectLst/>
                <a:uLnTx/>
                <a:uFillTx/>
                <a:latin typeface="Arial" charset="0"/>
                <a:ea typeface="+mn-ea"/>
                <a:cs typeface="+mn-cs"/>
              </a:rPr>
              <a:t>CISC processor instructions work directly with computer memory</a:t>
            </a:r>
            <a:r>
              <a:rPr kumimoji="0" lang="en-US" sz="2000" b="0" i="0" u="none" strike="noStrike" kern="1200" cap="none" spc="0" normalizeH="0" baseline="0" noProof="0" dirty="0">
                <a:ln>
                  <a:noFill/>
                </a:ln>
                <a:solidFill>
                  <a:prstClr val="black"/>
                </a:solidFill>
                <a:effectLst/>
                <a:uLnTx/>
                <a:uFillTx/>
                <a:latin typeface="Arial" charset="0"/>
                <a:ea typeface="+mn-ea"/>
                <a:cs typeface="+mn-cs"/>
              </a:rPr>
              <a:t> to take in and send out information.</a:t>
            </a:r>
            <a:endParaRPr kumimoji="0" lang="en-US" sz="2000" b="0" i="0" u="none" strike="noStrike" kern="1200" cap="none" spc="0" normalizeH="0" baseline="0" noProof="0" dirty="0">
              <a:ln>
                <a:noFill/>
              </a:ln>
              <a:solidFill>
                <a:srgbClr val="202124"/>
              </a:solidFill>
              <a:effectLst/>
              <a:uLnTx/>
              <a:uFillTx/>
              <a:latin typeface="Arial" charset="0"/>
              <a:ea typeface="+mn-ea"/>
              <a:cs typeface="+mn-cs"/>
            </a:endParaRPr>
          </a:p>
        </p:txBody>
      </p:sp>
      <p:sp>
        <p:nvSpPr>
          <p:cNvPr id="2" name="Title 1">
            <a:extLst>
              <a:ext uri="{FF2B5EF4-FFF2-40B4-BE49-F238E27FC236}">
                <a16:creationId xmlns:a16="http://schemas.microsoft.com/office/drawing/2014/main" id="{494C7123-3357-1C9E-7011-95CD07BCE100}"/>
              </a:ext>
            </a:extLst>
          </p:cNvPr>
          <p:cNvSpPr>
            <a:spLocks noGrp="1"/>
          </p:cNvSpPr>
          <p:nvPr>
            <p:ph type="title"/>
          </p:nvPr>
        </p:nvSpPr>
        <p:spPr/>
        <p:txBody>
          <a:bodyPr>
            <a:normAutofit/>
          </a:bodyPr>
          <a:lstStyle/>
          <a:p>
            <a:r>
              <a:rPr lang="en-US" sz="3200" dirty="0"/>
              <a:t>Other CISC Processor Features</a:t>
            </a:r>
          </a:p>
        </p:txBody>
      </p:sp>
      <p:sp>
        <p:nvSpPr>
          <p:cNvPr id="3" name="Date Placeholder 2">
            <a:extLst>
              <a:ext uri="{FF2B5EF4-FFF2-40B4-BE49-F238E27FC236}">
                <a16:creationId xmlns:a16="http://schemas.microsoft.com/office/drawing/2014/main" id="{F49FC0A4-16A4-9886-AA3E-0F3B7337265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a:extLst>
              <a:ext uri="{FF2B5EF4-FFF2-40B4-BE49-F238E27FC236}">
                <a16:creationId xmlns:a16="http://schemas.microsoft.com/office/drawing/2014/main" id="{E19DF9A8-37C1-EA0E-DF11-B3DA5E811EB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2838556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1F924-F631-3313-2C4F-6D4A42B52BC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7C1B1DF-5563-8F30-26FF-63A83BA85FD7}"/>
              </a:ext>
            </a:extLst>
          </p:cNvPr>
          <p:cNvSpPr txBox="1"/>
          <p:nvPr/>
        </p:nvSpPr>
        <p:spPr>
          <a:xfrm>
            <a:off x="457201" y="1128152"/>
            <a:ext cx="8383978" cy="480131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Advantages of CISC architectures:</a:t>
            </a: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Reduced program size as complex instructions can perform multiple operations</a:t>
            </a: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Easier assembly language programming due to the availability of high-level instructions</a:t>
            </a: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Backward compatibility with existing software</a:t>
            </a:r>
          </a:p>
          <a:p>
            <a:pPr marL="457200" marR="0" lvl="1"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Disadvantages of CISC architectures:</a:t>
            </a: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Complex hardware design results in slower clock speeds and higher power consumption</a:t>
            </a: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Longer instruction decoding time negatively impacts performance</a:t>
            </a: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742950" marR="0" lvl="1"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Difficulty in implementing efficient pipelining due to variable-length instructions and complex dependencies</a:t>
            </a:r>
          </a:p>
        </p:txBody>
      </p:sp>
      <p:sp>
        <p:nvSpPr>
          <p:cNvPr id="2" name="Title 1">
            <a:extLst>
              <a:ext uri="{FF2B5EF4-FFF2-40B4-BE49-F238E27FC236}">
                <a16:creationId xmlns:a16="http://schemas.microsoft.com/office/drawing/2014/main" id="{051DEC7B-4E78-CBED-0E3B-4B5B6E0ED22E}"/>
              </a:ext>
            </a:extLst>
          </p:cNvPr>
          <p:cNvSpPr>
            <a:spLocks noGrp="1"/>
          </p:cNvSpPr>
          <p:nvPr>
            <p:ph type="title"/>
          </p:nvPr>
        </p:nvSpPr>
        <p:spPr/>
        <p:txBody>
          <a:bodyPr>
            <a:normAutofit/>
          </a:bodyPr>
          <a:lstStyle/>
          <a:p>
            <a:r>
              <a:rPr lang="en-US" sz="3200" dirty="0"/>
              <a:t>CISC Advantages and Disadvantages</a:t>
            </a:r>
          </a:p>
        </p:txBody>
      </p:sp>
      <p:sp>
        <p:nvSpPr>
          <p:cNvPr id="3" name="Date Placeholder 2">
            <a:extLst>
              <a:ext uri="{FF2B5EF4-FFF2-40B4-BE49-F238E27FC236}">
                <a16:creationId xmlns:a16="http://schemas.microsoft.com/office/drawing/2014/main" id="{B7621EC5-2A36-ADFB-D3CE-09E43C134DC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a:extLst>
              <a:ext uri="{FF2B5EF4-FFF2-40B4-BE49-F238E27FC236}">
                <a16:creationId xmlns:a16="http://schemas.microsoft.com/office/drawing/2014/main" id="{3C7A8358-46C9-C574-01A5-63585C7AA92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2586813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3EF9D-B163-B15D-6CA5-CE6F0192763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B8AA493-8ED4-6CEE-A0B3-38889256C054}"/>
              </a:ext>
            </a:extLst>
          </p:cNvPr>
          <p:cNvSpPr txBox="1"/>
          <p:nvPr/>
        </p:nvSpPr>
        <p:spPr>
          <a:xfrm>
            <a:off x="457201" y="1128152"/>
            <a:ext cx="8383978" cy="452431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CISC processors perform their tasks through repeating cycles: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Program Counter (PC):</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It holds the instruction address to be fetched next.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Instruction Fetch:</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Then, the instruction is loaded from memory into the data bus and sent to the decoder.</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Instruction Decoding:</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The decoder generates a control word for the operation to perform. It also generates the control signals required to perform memory operations.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Execution:</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Finally, the operation takes place. If required, it may fetch more data and store the result in memory.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PC Update:</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The Program Counter gets the next address, gets latched, and the cycle goes on.</a:t>
            </a:r>
          </a:p>
        </p:txBody>
      </p:sp>
      <p:sp>
        <p:nvSpPr>
          <p:cNvPr id="2" name="Title 1">
            <a:extLst>
              <a:ext uri="{FF2B5EF4-FFF2-40B4-BE49-F238E27FC236}">
                <a16:creationId xmlns:a16="http://schemas.microsoft.com/office/drawing/2014/main" id="{D7735CE1-3DD1-3E27-8105-55CDA62036DA}"/>
              </a:ext>
            </a:extLst>
          </p:cNvPr>
          <p:cNvSpPr>
            <a:spLocks noGrp="1"/>
          </p:cNvSpPr>
          <p:nvPr>
            <p:ph type="title"/>
          </p:nvPr>
        </p:nvSpPr>
        <p:spPr/>
        <p:txBody>
          <a:bodyPr>
            <a:normAutofit/>
          </a:bodyPr>
          <a:lstStyle/>
          <a:p>
            <a:r>
              <a:rPr lang="en-US" sz="3200" dirty="0"/>
              <a:t>How CISC Processors Work</a:t>
            </a:r>
          </a:p>
        </p:txBody>
      </p:sp>
      <p:sp>
        <p:nvSpPr>
          <p:cNvPr id="3" name="Date Placeholder 2">
            <a:extLst>
              <a:ext uri="{FF2B5EF4-FFF2-40B4-BE49-F238E27FC236}">
                <a16:creationId xmlns:a16="http://schemas.microsoft.com/office/drawing/2014/main" id="{EE611541-84C5-9560-A4A6-D9C984AA0BC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a:extLst>
              <a:ext uri="{FF2B5EF4-FFF2-40B4-BE49-F238E27FC236}">
                <a16:creationId xmlns:a16="http://schemas.microsoft.com/office/drawing/2014/main" id="{6A16F58E-1DDF-261A-0DAF-450821484B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298676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76506-5DBD-6D7C-9D77-6D26DAC21F4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943138-636F-694F-B47B-3E1B8F850C43}"/>
              </a:ext>
            </a:extLst>
          </p:cNvPr>
          <p:cNvSpPr txBox="1"/>
          <p:nvPr/>
        </p:nvSpPr>
        <p:spPr>
          <a:xfrm>
            <a:off x="457201" y="1128152"/>
            <a:ext cx="8383978" cy="452431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Let’s say you need to add two 8-bit numbers. In a CISC processor, you can get it done by using a single instruction only (instead of many).</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For that, you can use commands like ADD and tell the processor where the numbers are stored in memory and where to put the results.</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The processor will go to the memory, grab the two numbers, add them together, and store the result – within that one instruction.</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Similarly, for multiplication, you can use this command: MUL 0x100, 0x200. How does it perform?</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It multiplies the value at 0x100 by the value at 0x200 and stores the result WITHOUT any load/store commands. </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The entire operation is directly manipulated in memory.</a:t>
            </a:r>
          </a:p>
        </p:txBody>
      </p:sp>
      <p:sp>
        <p:nvSpPr>
          <p:cNvPr id="2" name="Title 1">
            <a:extLst>
              <a:ext uri="{FF2B5EF4-FFF2-40B4-BE49-F238E27FC236}">
                <a16:creationId xmlns:a16="http://schemas.microsoft.com/office/drawing/2014/main" id="{839BC689-F449-303E-67D4-83172F4D5A09}"/>
              </a:ext>
            </a:extLst>
          </p:cNvPr>
          <p:cNvSpPr>
            <a:spLocks noGrp="1"/>
          </p:cNvSpPr>
          <p:nvPr>
            <p:ph type="title"/>
          </p:nvPr>
        </p:nvSpPr>
        <p:spPr/>
        <p:txBody>
          <a:bodyPr>
            <a:normAutofit/>
          </a:bodyPr>
          <a:lstStyle/>
          <a:p>
            <a:r>
              <a:rPr lang="en-US" sz="3200" dirty="0"/>
              <a:t>Example of ADD and MUL Instructions</a:t>
            </a:r>
          </a:p>
        </p:txBody>
      </p:sp>
      <p:sp>
        <p:nvSpPr>
          <p:cNvPr id="3" name="Date Placeholder 2">
            <a:extLst>
              <a:ext uri="{FF2B5EF4-FFF2-40B4-BE49-F238E27FC236}">
                <a16:creationId xmlns:a16="http://schemas.microsoft.com/office/drawing/2014/main" id="{20A9DEF1-A765-801F-7E1E-A11C4FD3DBB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a:extLst>
              <a:ext uri="{FF2B5EF4-FFF2-40B4-BE49-F238E27FC236}">
                <a16:creationId xmlns:a16="http://schemas.microsoft.com/office/drawing/2014/main" id="{ACF8AFF2-959E-9DE2-0142-A2FFA11914F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1774619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5FDA-6209-FE56-0717-00C9CD54DCE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F924725-31E1-5570-62F9-B7BC8F9DC26B}"/>
              </a:ext>
            </a:extLst>
          </p:cNvPr>
          <p:cNvSpPr txBox="1"/>
          <p:nvPr/>
        </p:nvSpPr>
        <p:spPr>
          <a:xfrm>
            <a:off x="457201" y="1128152"/>
            <a:ext cx="8383978" cy="480131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CISC processors have several key features that set them apart. Let’s take a look at them and then understand with an example.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Large Instruction Set:</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Typically, 100 to 250 instructions are available.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Specialized Instructions:</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Some instructions are used rarely but support unique or advanced operations.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Several addressing modes:</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It generally ranges between 5 and 20 and can be used for flexible design.</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Variable-Length Instructions:</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It can also vary depending on what kind of task you’re doing or how the data is being accessed.</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charset="0"/>
                <a:ea typeface="+mn-ea"/>
                <a:cs typeface="+mn-cs"/>
              </a:rPr>
              <a:t>Memory Operations:</a:t>
            </a:r>
            <a:r>
              <a:rPr kumimoji="0" lang="en-US" sz="1800" b="0" i="0" u="none" strike="noStrike" kern="1200" cap="none" spc="0" normalizeH="0" baseline="0" noProof="0" dirty="0">
                <a:ln>
                  <a:noFill/>
                </a:ln>
                <a:solidFill>
                  <a:prstClr val="black"/>
                </a:solidFill>
                <a:effectLst/>
                <a:uLnTx/>
                <a:uFillTx/>
                <a:latin typeface="Arial" charset="0"/>
                <a:ea typeface="+mn-ea"/>
                <a:cs typeface="+mn-cs"/>
              </a:rPr>
              <a:t> Many instructions can directly work with the data in memory. It means that you don’t always need to move the data to a faster register first. This saves time and simplifies the process.</a:t>
            </a:r>
          </a:p>
        </p:txBody>
      </p:sp>
      <p:sp>
        <p:nvSpPr>
          <p:cNvPr id="2" name="Title 1">
            <a:extLst>
              <a:ext uri="{FF2B5EF4-FFF2-40B4-BE49-F238E27FC236}">
                <a16:creationId xmlns:a16="http://schemas.microsoft.com/office/drawing/2014/main" id="{4F9C8030-5708-61E1-74FB-B2763F45931D}"/>
              </a:ext>
            </a:extLst>
          </p:cNvPr>
          <p:cNvSpPr>
            <a:spLocks noGrp="1"/>
          </p:cNvSpPr>
          <p:nvPr>
            <p:ph type="title"/>
          </p:nvPr>
        </p:nvSpPr>
        <p:spPr/>
        <p:txBody>
          <a:bodyPr>
            <a:normAutofit/>
          </a:bodyPr>
          <a:lstStyle/>
          <a:p>
            <a:r>
              <a:rPr lang="en-US" sz="3200" dirty="0"/>
              <a:t>Instruction Set and Addressing</a:t>
            </a:r>
          </a:p>
        </p:txBody>
      </p:sp>
      <p:sp>
        <p:nvSpPr>
          <p:cNvPr id="3" name="Date Placeholder 2">
            <a:extLst>
              <a:ext uri="{FF2B5EF4-FFF2-40B4-BE49-F238E27FC236}">
                <a16:creationId xmlns:a16="http://schemas.microsoft.com/office/drawing/2014/main" id="{BE8CD0F3-1FA2-9BAE-6779-44DF13120FE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a:extLst>
              <a:ext uri="{FF2B5EF4-FFF2-40B4-BE49-F238E27FC236}">
                <a16:creationId xmlns:a16="http://schemas.microsoft.com/office/drawing/2014/main" id="{2FDF7FAC-15C9-74DF-3201-28F78F05512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939099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F99F1-E593-523F-2CD0-CFA5BC1CEB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573DB10-3C70-9213-7D94-370F6B3F0EDF}"/>
              </a:ext>
            </a:extLst>
          </p:cNvPr>
          <p:cNvSpPr txBox="1"/>
          <p:nvPr/>
        </p:nvSpPr>
        <p:spPr>
          <a:xfrm>
            <a:off x="457201" y="1128152"/>
            <a:ext cx="8383978" cy="4616648"/>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mn-cs"/>
              </a:rPr>
              <a:t>Complex Instruction Decoding:</a:t>
            </a:r>
            <a:r>
              <a:rPr kumimoji="0" lang="en-US" sz="1400" b="0" i="0" u="none" strike="noStrike" kern="1200" cap="none" spc="0" normalizeH="0" baseline="0" noProof="0" dirty="0">
                <a:ln>
                  <a:noFill/>
                </a:ln>
                <a:solidFill>
                  <a:prstClr val="black"/>
                </a:solidFill>
                <a:effectLst/>
                <a:uLnTx/>
                <a:uFillTx/>
                <a:latin typeface="Arial" charset="0"/>
                <a:ea typeface="+mn-ea"/>
                <a:cs typeface="+mn-cs"/>
              </a:rPr>
              <a:t> Due to variable-length and complex instructions, decoding logic is intricate.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mn-cs"/>
              </a:rPr>
              <a:t>General-Purpose Registers:</a:t>
            </a:r>
            <a:r>
              <a:rPr kumimoji="0" lang="en-US" sz="1400" b="0" i="0" u="none" strike="noStrike" kern="1200" cap="none" spc="0" normalizeH="0" baseline="0" noProof="0" dirty="0">
                <a:ln>
                  <a:noFill/>
                </a:ln>
                <a:solidFill>
                  <a:prstClr val="black"/>
                </a:solidFill>
                <a:effectLst/>
                <a:uLnTx/>
                <a:uFillTx/>
                <a:latin typeface="Arial" charset="0"/>
                <a:ea typeface="+mn-ea"/>
                <a:cs typeface="+mn-cs"/>
              </a:rPr>
              <a:t> CISC processors don’t need as many of these registers because they do most of their work directly with memory instead of using registers for temporary storage.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mn-cs"/>
              </a:rPr>
              <a:t>Special Purpose Registers:</a:t>
            </a:r>
            <a:r>
              <a:rPr kumimoji="0" lang="en-US" sz="1400" b="0" i="0" u="none" strike="noStrike" kern="1200" cap="none" spc="0" normalizeH="0" baseline="0" noProof="0" dirty="0">
                <a:ln>
                  <a:noFill/>
                </a:ln>
                <a:solidFill>
                  <a:prstClr val="black"/>
                </a:solidFill>
                <a:effectLst/>
                <a:uLnTx/>
                <a:uFillTx/>
                <a:latin typeface="Arial" charset="0"/>
                <a:ea typeface="+mn-ea"/>
                <a:cs typeface="+mn-cs"/>
              </a:rPr>
              <a:t> These are specific registers for special tasks. For example, some registers help manage things like the program’s stack (which keeps track of data), handle interruptions, or record important details like the result and status of operations (this is called the Condition Code Register).</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mn-cs"/>
              </a:rPr>
              <a:t>Multiple Data Types:</a:t>
            </a:r>
            <a:r>
              <a:rPr kumimoji="0" lang="en-US" sz="1400" b="0" i="0" u="none" strike="noStrike" kern="1200" cap="none" spc="0" normalizeH="0" baseline="0" noProof="0" dirty="0">
                <a:ln>
                  <a:noFill/>
                </a:ln>
                <a:solidFill>
                  <a:prstClr val="black"/>
                </a:solidFill>
                <a:effectLst/>
                <a:uLnTx/>
                <a:uFillTx/>
                <a:latin typeface="Arial" charset="0"/>
                <a:ea typeface="+mn-ea"/>
                <a:cs typeface="+mn-cs"/>
              </a:rPr>
              <a:t> CISC processors handle varied data types with their extensive instruction sets.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mn-cs"/>
              </a:rPr>
              <a:t>Limited Register Use:</a:t>
            </a:r>
            <a:r>
              <a:rPr kumimoji="0" lang="en-US" sz="1400" b="0" i="0" u="none" strike="noStrike" kern="1200" cap="none" spc="0" normalizeH="0" baseline="0" noProof="0" dirty="0">
                <a:ln>
                  <a:noFill/>
                </a:ln>
                <a:solidFill>
                  <a:prstClr val="black"/>
                </a:solidFill>
                <a:effectLst/>
                <a:uLnTx/>
                <a:uFillTx/>
                <a:latin typeface="Arial" charset="0"/>
                <a:ea typeface="+mn-ea"/>
                <a:cs typeface="+mn-cs"/>
              </a:rPr>
              <a:t> Chip space is mostly dedicated to instruction decoding, execution, and microcode storage.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mn-cs"/>
              </a:rPr>
              <a:t>Multiple Clock Cycles:</a:t>
            </a:r>
            <a:r>
              <a:rPr kumimoji="0" lang="en-US" sz="1400" b="0" i="0" u="none" strike="noStrike" kern="1200" cap="none" spc="0" normalizeH="0" baseline="0" noProof="0" dirty="0">
                <a:ln>
                  <a:noFill/>
                </a:ln>
                <a:solidFill>
                  <a:prstClr val="black"/>
                </a:solidFill>
                <a:effectLst/>
                <a:uLnTx/>
                <a:uFillTx/>
                <a:latin typeface="Arial" charset="0"/>
                <a:ea typeface="+mn-ea"/>
                <a:cs typeface="+mn-cs"/>
              </a:rPr>
              <a:t> Some instructions require more than one clock cycle to complete.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mn-cs"/>
              </a:rPr>
              <a:t>Condition Code Register:</a:t>
            </a:r>
            <a:r>
              <a:rPr kumimoji="0" lang="en-US" sz="1400" b="0" i="0" u="none" strike="noStrike" kern="1200" cap="none" spc="0" normalizeH="0" baseline="0" noProof="0" dirty="0">
                <a:ln>
                  <a:noFill/>
                </a:ln>
                <a:solidFill>
                  <a:prstClr val="black"/>
                </a:solidFill>
                <a:effectLst/>
                <a:uLnTx/>
                <a:uFillTx/>
                <a:latin typeface="Arial" charset="0"/>
                <a:ea typeface="+mn-ea"/>
                <a:cs typeface="+mn-cs"/>
              </a:rPr>
              <a:t> It is used to store certain conditions, like whether the last result was negative, zero, or positive. It also flags errors if any.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mn-cs"/>
              </a:rPr>
              <a:t>Special Registers:</a:t>
            </a:r>
            <a:r>
              <a:rPr kumimoji="0" lang="en-US" sz="1400" b="0" i="0" u="none" strike="noStrike" kern="1200" cap="none" spc="0" normalizeH="0" baseline="0" noProof="0" dirty="0">
                <a:ln>
                  <a:noFill/>
                </a:ln>
                <a:solidFill>
                  <a:prstClr val="black"/>
                </a:solidFill>
                <a:effectLst/>
                <a:uLnTx/>
                <a:uFillTx/>
                <a:latin typeface="Arial" charset="0"/>
                <a:ea typeface="+mn-ea"/>
                <a:cs typeface="+mn-cs"/>
              </a:rPr>
              <a:t> They’re used for particular tasks, such as tracking the stack (where data is kept) or dealing with interruptions.</a:t>
            </a:r>
          </a:p>
        </p:txBody>
      </p:sp>
      <p:sp>
        <p:nvSpPr>
          <p:cNvPr id="2" name="Title 1">
            <a:extLst>
              <a:ext uri="{FF2B5EF4-FFF2-40B4-BE49-F238E27FC236}">
                <a16:creationId xmlns:a16="http://schemas.microsoft.com/office/drawing/2014/main" id="{D16DD58A-3748-6647-FDDF-435A6D92E3B7}"/>
              </a:ext>
            </a:extLst>
          </p:cNvPr>
          <p:cNvSpPr>
            <a:spLocks noGrp="1"/>
          </p:cNvSpPr>
          <p:nvPr>
            <p:ph type="title"/>
          </p:nvPr>
        </p:nvSpPr>
        <p:spPr/>
        <p:txBody>
          <a:bodyPr>
            <a:normAutofit/>
          </a:bodyPr>
          <a:lstStyle/>
          <a:p>
            <a:r>
              <a:rPr lang="en-US" sz="3200" dirty="0"/>
              <a:t>Further Architectural Features</a:t>
            </a:r>
          </a:p>
        </p:txBody>
      </p:sp>
      <p:sp>
        <p:nvSpPr>
          <p:cNvPr id="3" name="Date Placeholder 2">
            <a:extLst>
              <a:ext uri="{FF2B5EF4-FFF2-40B4-BE49-F238E27FC236}">
                <a16:creationId xmlns:a16="http://schemas.microsoft.com/office/drawing/2014/main" id="{B5E6EDFB-C688-1C68-DDC6-134F363AE89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a:extLst>
              <a:ext uri="{FF2B5EF4-FFF2-40B4-BE49-F238E27FC236}">
                <a16:creationId xmlns:a16="http://schemas.microsoft.com/office/drawing/2014/main" id="{DAA3831F-F178-80CA-F98B-1607073A2F5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14552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39C61-6108-E538-9031-CF490119DF4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260958F-E9FD-5CEA-CDB2-BCFDDD52CC2E}"/>
              </a:ext>
            </a:extLst>
          </p:cNvPr>
          <p:cNvSpPr txBox="1"/>
          <p:nvPr/>
        </p:nvSpPr>
        <p:spPr>
          <a:xfrm>
            <a:off x="457201" y="1128152"/>
            <a:ext cx="8383978" cy="73866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mn-cs"/>
                <a:hlinkClick r:id="rId2"/>
              </a:rPr>
              <a:t>https://trainer4edu.com/dragon12/dragon12_light_9s12/index.html</a:t>
            </a: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mn-ea"/>
                <a:cs typeface="+mn-cs"/>
              </a:rPr>
              <a:t>Of course </a:t>
            </a:r>
            <a:r>
              <a:rPr kumimoji="0" lang="en-US" sz="1400" b="0" i="0" u="none" strike="noStrike" kern="1200" cap="none" spc="0" normalizeH="0" baseline="0" noProof="0" dirty="0">
                <a:ln>
                  <a:noFill/>
                </a:ln>
                <a:solidFill>
                  <a:prstClr val="black"/>
                </a:solidFill>
                <a:effectLst/>
                <a:uLnTx/>
                <a:uFillTx/>
                <a:latin typeface="Arial" charset="0"/>
                <a:ea typeface="+mn-ea"/>
                <a:cs typeface="+mn-cs"/>
              </a:rPr>
              <a:t>the </a:t>
            </a:r>
            <a:r>
              <a:rPr kumimoji="0" lang="en-US" sz="1400" b="0" i="0" u="none" strike="noStrike" kern="1200" cap="none" spc="0" normalizeH="0" baseline="0" noProof="0">
                <a:ln>
                  <a:noFill/>
                </a:ln>
                <a:solidFill>
                  <a:prstClr val="black"/>
                </a:solidFill>
                <a:effectLst/>
                <a:uLnTx/>
                <a:uFillTx/>
                <a:latin typeface="Arial" charset="0"/>
                <a:ea typeface="+mn-ea"/>
                <a:cs typeface="+mn-cs"/>
              </a:rPr>
              <a:t>x86 architecture!</a:t>
            </a: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2" name="Title 1">
            <a:extLst>
              <a:ext uri="{FF2B5EF4-FFF2-40B4-BE49-F238E27FC236}">
                <a16:creationId xmlns:a16="http://schemas.microsoft.com/office/drawing/2014/main" id="{B975DD67-162E-36A7-0E5B-BDCA45DE4777}"/>
              </a:ext>
            </a:extLst>
          </p:cNvPr>
          <p:cNvSpPr>
            <a:spLocks noGrp="1"/>
          </p:cNvSpPr>
          <p:nvPr>
            <p:ph type="title"/>
          </p:nvPr>
        </p:nvSpPr>
        <p:spPr/>
        <p:txBody>
          <a:bodyPr>
            <a:normAutofit/>
          </a:bodyPr>
          <a:lstStyle/>
          <a:p>
            <a:r>
              <a:rPr lang="en-US" sz="3200" dirty="0"/>
              <a:t>Example CISC Machine</a:t>
            </a:r>
          </a:p>
        </p:txBody>
      </p:sp>
      <p:sp>
        <p:nvSpPr>
          <p:cNvPr id="3" name="Date Placeholder 2">
            <a:extLst>
              <a:ext uri="{FF2B5EF4-FFF2-40B4-BE49-F238E27FC236}">
                <a16:creationId xmlns:a16="http://schemas.microsoft.com/office/drawing/2014/main" id="{355DE696-CB75-55B2-994D-89AF0F49B81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a:extLst>
              <a:ext uri="{FF2B5EF4-FFF2-40B4-BE49-F238E27FC236}">
                <a16:creationId xmlns:a16="http://schemas.microsoft.com/office/drawing/2014/main" id="{94BD127E-5FD6-4090-EBB3-C484DC4107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411944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Sources</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2CB018A-15B1-4C22-8FA2-A904A060C299}" type="datetime1">
              <a:rPr kumimoji="0" lang="en-US" sz="1400" b="0"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l" defTabSz="914400" rtl="0" eaLnBrk="1" fontAlgn="auto" latinLnBrk="0" hangingPunct="1">
                <a:lnSpc>
                  <a:spcPct val="100000"/>
                </a:lnSpc>
                <a:spcBef>
                  <a:spcPts val="0"/>
                </a:spcBef>
                <a:spcAft>
                  <a:spcPts val="0"/>
                </a:spcAft>
                <a:buClrTx/>
                <a:buSzTx/>
                <a:buFontTx/>
                <a:buNone/>
                <a:tabLst/>
                <a:defRPr/>
              </a:pPr>
              <a:t>2/18/2026</a:t>
            </a:fld>
            <a:endParaRPr kumimoji="0" lang="en-US" sz="1400" b="0"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BA28D0-02EE-4D85-89C2-55FF3BC2206B}" type="slidenum">
              <a:rPr kumimoji="0" lang="en-US" sz="1400" b="1" i="0" u="none" strike="noStrike" kern="1200" cap="none" spc="0" normalizeH="0" baseline="0" noProof="0" smtClean="0">
                <a:ln>
                  <a:noFill/>
                </a:ln>
                <a:solidFill>
                  <a:prstClr val="white">
                    <a:lumMod val="65000"/>
                  </a:prstClr>
                </a:solidFill>
                <a:effectLst/>
                <a:uLnTx/>
                <a:uFillTx/>
                <a:latin typeface="Times New Roman" pitchFamily="18" charset="0"/>
                <a:ea typeface="+mn-ea"/>
                <a:cs typeface="Times New Roman"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400" b="1" i="0" u="none" strike="noStrike" kern="1200" cap="none" spc="0" normalizeH="0" baseline="0" noProof="0" dirty="0">
              <a:ln>
                <a:noFill/>
              </a:ln>
              <a:solidFill>
                <a:prstClr val="white">
                  <a:lumMod val="65000"/>
                </a:prstClr>
              </a:solidFill>
              <a:effectLst/>
              <a:uLnTx/>
              <a:uFillTx/>
              <a:latin typeface="Times New Roman" pitchFamily="18" charset="0"/>
              <a:ea typeface="+mn-ea"/>
              <a:cs typeface="Times New Roman" pitchFamily="18" charset="0"/>
            </a:endParaRPr>
          </a:p>
        </p:txBody>
      </p:sp>
      <p:sp>
        <p:nvSpPr>
          <p:cNvPr id="5" name="TextBox 4">
            <a:extLst>
              <a:ext uri="{FF2B5EF4-FFF2-40B4-BE49-F238E27FC236}">
                <a16:creationId xmlns:a16="http://schemas.microsoft.com/office/drawing/2014/main" id="{E608BA3B-51BE-B3BD-400C-8DF20CBE9832}"/>
              </a:ext>
            </a:extLst>
          </p:cNvPr>
          <p:cNvSpPr txBox="1"/>
          <p:nvPr/>
        </p:nvSpPr>
        <p:spPr>
          <a:xfrm>
            <a:off x="657224" y="1165410"/>
            <a:ext cx="7848599" cy="3693319"/>
          </a:xfrm>
          <a:prstGeom prst="rect">
            <a:avLst/>
          </a:prstGeom>
          <a:noFill/>
        </p:spPr>
        <p:txBody>
          <a:bodyPr wrap="square" rtlCol="0">
            <a:spAutoFit/>
          </a:bodyPr>
          <a:lstStyle/>
          <a:p>
            <a:pPr marL="285750" lvl="0" indent="-285750">
              <a:buFont typeface="Arial" panose="020B0604020202020204" pitchFamily="34" charset="0"/>
              <a:buChar char="•"/>
              <a:defRPr/>
            </a:pPr>
            <a:r>
              <a:rPr lang="en-US" dirty="0">
                <a:solidFill>
                  <a:prstClr val="black"/>
                </a:solidFill>
                <a:hlinkClick r:id="rId2"/>
              </a:rPr>
              <a:t>http://www.eecs.harvard.edu/cs146-246/</a:t>
            </a:r>
            <a:endParaRPr lang="en-US" dirty="0">
              <a:solidFill>
                <a:prstClr val="black"/>
              </a:solidFill>
            </a:endParaRPr>
          </a:p>
          <a:p>
            <a:pPr marL="285750" lvl="0" indent="-285750">
              <a:buFont typeface="Arial" panose="020B0604020202020204" pitchFamily="34" charset="0"/>
              <a:buChar char="•"/>
              <a:defRPr/>
            </a:pPr>
            <a:r>
              <a:rPr lang="en-US" dirty="0">
                <a:solidFill>
                  <a:prstClr val="black"/>
                </a:solidFill>
              </a:rPr>
              <a:t>Assigned Textbook</a:t>
            </a:r>
          </a:p>
          <a:p>
            <a:pPr marL="285750" lvl="0" indent="-285750">
              <a:buFont typeface="Arial" panose="020B0604020202020204" pitchFamily="34" charset="0"/>
              <a:buChar char="•"/>
              <a:defRPr/>
            </a:pPr>
            <a:r>
              <a:rPr lang="en-US" dirty="0">
                <a:solidFill>
                  <a:prstClr val="black"/>
                </a:solidFill>
              </a:rPr>
              <a:t>Wikipedia</a:t>
            </a:r>
          </a:p>
          <a:p>
            <a:pPr marL="285750" lvl="0" indent="-285750">
              <a:buFont typeface="Arial" panose="020B0604020202020204" pitchFamily="34" charset="0"/>
              <a:buChar char="•"/>
              <a:defRPr/>
            </a:pPr>
            <a:r>
              <a:rPr lang="en-US" dirty="0">
                <a:solidFill>
                  <a:prstClr val="black"/>
                </a:solidFill>
              </a:rPr>
              <a:t>https://www.google.com/</a:t>
            </a:r>
            <a:endParaRPr kumimoji="0" lang="en-US" sz="1800" b="0" i="0" u="none" strike="noStrike" kern="1200" cap="none" spc="0" normalizeH="0" baseline="0" noProof="0" dirty="0">
              <a:ln>
                <a:noFill/>
              </a:ln>
              <a:solidFill>
                <a:prstClr val="black"/>
              </a:solidFill>
              <a:effectLst/>
              <a:uLnTx/>
              <a:uFillTx/>
              <a:latin typeface="Arial" charset="0"/>
              <a:ea typeface="+mn-ea"/>
              <a:cs typeface="+mn-cs"/>
              <a:hlinkClick r:id="rId3"/>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hlinkClick r:id="rId3"/>
              </a:rPr>
              <a:t>https://www.stromasys.com/resources/breaking-down-the-features-and-architecture-of-cisc-processor/</a:t>
            </a: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mn-cs"/>
              </a:rPr>
              <a:t>Assigned Textbook</a:t>
            </a: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Arial" charset="0"/>
                <a:ea typeface="+mn-ea"/>
                <a:cs typeface="+mn-cs"/>
                <a:hlinkClick r:id="rId4"/>
              </a:rPr>
              <a:t>https://fiveable.me/introduction-computer-architecture/unit-3/risc-cisc-architectures/study-guide/w3HvrwVqcuP6lBNL</a:t>
            </a:r>
            <a:endParaRPr kumimoji="0" lang="en-US" altLang="en-US" sz="1800" b="0" i="0" u="none" strike="noStrike" kern="1200" cap="none" spc="0" normalizeH="0" baseline="0" noProof="0" dirty="0">
              <a:ln>
                <a:noFill/>
              </a:ln>
              <a:solidFill>
                <a:prstClr val="black"/>
              </a:solidFill>
              <a:effectLst/>
              <a:uLnTx/>
              <a:uFillTx/>
              <a:latin typeface="Arial" charset="0"/>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471625490"/>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2_Office Them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14205</TotalTime>
  <Words>1658</Words>
  <Application>Microsoft Office PowerPoint</Application>
  <PresentationFormat>On-screen Show (4:3)</PresentationFormat>
  <Paragraphs>279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2_Office Theme</vt:lpstr>
      <vt:lpstr>PowerPoint Presentation</vt:lpstr>
      <vt:lpstr>Presentation Outline</vt:lpstr>
      <vt:lpstr>Instruction Set Architecture (ISA)</vt:lpstr>
      <vt:lpstr>Instructions (MSP430)</vt:lpstr>
      <vt:lpstr>ISA Classification</vt:lpstr>
      <vt:lpstr>ISA Classification (MSP430)</vt:lpstr>
      <vt:lpstr>Tradeoffs</vt:lpstr>
      <vt:lpstr>Common Addressing Modes</vt:lpstr>
      <vt:lpstr>What Makes a Good ISA?</vt:lpstr>
      <vt:lpstr>Implementation Concerns</vt:lpstr>
      <vt:lpstr>Programmability</vt:lpstr>
      <vt:lpstr>CISC vs. RISC</vt:lpstr>
      <vt:lpstr>CISC Processor</vt:lpstr>
      <vt:lpstr>Other CISC Processor Features</vt:lpstr>
      <vt:lpstr>CISC Advantages and Disadvantages</vt:lpstr>
      <vt:lpstr>How CISC Processors Work</vt:lpstr>
      <vt:lpstr>Example of ADD and MUL Instructions</vt:lpstr>
      <vt:lpstr>Instruction Set and Addressing</vt:lpstr>
      <vt:lpstr>Further Architectural Features</vt:lpstr>
      <vt:lpstr>Example CISC Machine</vt:lpstr>
      <vt:lpstr>Sources</vt:lpstr>
    </vt:vector>
  </TitlesOfParts>
  <Manager>P3E</Manager>
  <Company>Texas Tech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P3E Presentation Template</dc:title>
  <dc:subject>P3E</dc:subject>
  <dc:creator>Kevin Lawson</dc:creator>
  <cp:lastModifiedBy>Argenis Bilbao</cp:lastModifiedBy>
  <cp:revision>1490</cp:revision>
  <dcterms:created xsi:type="dcterms:W3CDTF">2007-11-05T15:07:41Z</dcterms:created>
  <dcterms:modified xsi:type="dcterms:W3CDTF">2026-02-18T14:11:51Z</dcterms:modified>
</cp:coreProperties>
</file>