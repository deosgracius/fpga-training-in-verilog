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1">
  <p:sldMasterIdLst>
    <p:sldMasterId id="2147483833" r:id="rId1"/>
  </p:sldMasterIdLst>
  <p:notesMasterIdLst>
    <p:notesMasterId r:id="rId43"/>
  </p:notesMasterIdLst>
  <p:handoutMasterIdLst>
    <p:handoutMasterId r:id="rId44"/>
  </p:handoutMasterIdLst>
  <p:sldIdLst>
    <p:sldId id="262" r:id="rId2"/>
    <p:sldId id="415" r:id="rId3"/>
    <p:sldId id="455" r:id="rId4"/>
    <p:sldId id="456" r:id="rId5"/>
    <p:sldId id="457" r:id="rId6"/>
    <p:sldId id="458" r:id="rId7"/>
    <p:sldId id="459" r:id="rId8"/>
    <p:sldId id="460" r:id="rId9"/>
    <p:sldId id="461" r:id="rId10"/>
    <p:sldId id="462" r:id="rId11"/>
    <p:sldId id="463" r:id="rId12"/>
    <p:sldId id="464" r:id="rId13"/>
    <p:sldId id="465" r:id="rId14"/>
    <p:sldId id="466" r:id="rId15"/>
    <p:sldId id="467" r:id="rId16"/>
    <p:sldId id="468" r:id="rId17"/>
    <p:sldId id="469" r:id="rId18"/>
    <p:sldId id="470" r:id="rId19"/>
    <p:sldId id="471" r:id="rId20"/>
    <p:sldId id="472" r:id="rId21"/>
    <p:sldId id="473" r:id="rId22"/>
    <p:sldId id="474" r:id="rId23"/>
    <p:sldId id="475" r:id="rId24"/>
    <p:sldId id="476" r:id="rId25"/>
    <p:sldId id="477" r:id="rId26"/>
    <p:sldId id="478" r:id="rId27"/>
    <p:sldId id="479" r:id="rId28"/>
    <p:sldId id="480" r:id="rId29"/>
    <p:sldId id="481" r:id="rId30"/>
    <p:sldId id="482" r:id="rId31"/>
    <p:sldId id="483" r:id="rId32"/>
    <p:sldId id="484" r:id="rId33"/>
    <p:sldId id="485" r:id="rId34"/>
    <p:sldId id="486" r:id="rId35"/>
    <p:sldId id="487" r:id="rId36"/>
    <p:sldId id="488" r:id="rId37"/>
    <p:sldId id="489" r:id="rId38"/>
    <p:sldId id="490" r:id="rId39"/>
    <p:sldId id="491" r:id="rId40"/>
    <p:sldId id="492" r:id="rId41"/>
    <p:sldId id="430" r:id="rId42"/>
  </p:sldIdLst>
  <p:sldSz cx="9144000" cy="6858000" type="screen4x3"/>
  <p:notesSz cx="7010400" cy="92360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0CBE"/>
    <a:srgbClr val="FF0000"/>
    <a:srgbClr val="66FF33"/>
    <a:srgbClr val="544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6" autoAdjust="0"/>
    <p:restoredTop sz="99548" autoAdjust="0"/>
  </p:normalViewPr>
  <p:slideViewPr>
    <p:cSldViewPr snapToGrid="0">
      <p:cViewPr varScale="1">
        <p:scale>
          <a:sx n="52" d="100"/>
          <a:sy n="52" d="100"/>
        </p:scale>
        <p:origin x="1620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80"/>
    </p:cViewPr>
  </p:sorterViewPr>
  <p:notesViewPr>
    <p:cSldViewPr snapToGrid="0">
      <p:cViewPr varScale="1">
        <p:scale>
          <a:sx n="85" d="100"/>
          <a:sy n="85" d="100"/>
        </p:scale>
        <p:origin x="-3786" y="-84"/>
      </p:cViewPr>
      <p:guideLst>
        <p:guide orient="horz" pos="2909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938" y="0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D84709DF-3BD8-402F-80E3-8C612EC5F261}" type="datetimeFigureOut">
              <a:rPr lang="en-US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3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938" y="8772378"/>
            <a:ext cx="3037840" cy="46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8F4709C4-D4EF-4A59-93AC-CDE74B2DBF2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517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1E4D6C9-0F27-4334-9BAD-4BF9A16E0770}" type="datetimeFigureOut">
              <a:rPr lang="en-US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95388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387767"/>
            <a:ext cx="5608320" cy="4155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772378"/>
            <a:ext cx="3037840" cy="4621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545158B6-2379-4B93-B466-8093E86C688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8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05300"/>
            <a:ext cx="6400800" cy="7715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9142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5" y="91368"/>
            <a:ext cx="7848600" cy="731519"/>
          </a:xfrm>
        </p:spPr>
        <p:txBody>
          <a:bodyPr>
            <a:normAutofit/>
          </a:bodyPr>
          <a:lstStyle>
            <a:lvl1pPr>
              <a:defRPr sz="4000" b="1" kern="3000" spc="-100" baseline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1100030" cy="27431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6797"/>
          <a:stretch/>
        </p:blipFill>
        <p:spPr>
          <a:xfrm>
            <a:off x="87410" y="82255"/>
            <a:ext cx="512666" cy="749746"/>
          </a:xfrm>
          <a:prstGeom prst="rect">
            <a:avLst/>
          </a:prstGeom>
        </p:spPr>
      </p:pic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/>
              <a:t>Argenis Bilbao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-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"/>
            <a:ext cx="9144000" cy="914257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0" y="6553200"/>
            <a:ext cx="9144000" cy="301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3837"/>
            <a:ext cx="914400" cy="274320"/>
          </a:xfrm>
        </p:spPr>
        <p:txBody>
          <a:bodyPr tIns="0" bIns="0"/>
          <a:lstStyle>
            <a:lvl1pPr>
              <a:defRPr sz="1400" b="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581775"/>
            <a:ext cx="457200" cy="274320"/>
          </a:xfrm>
        </p:spPr>
        <p:txBody>
          <a:bodyPr tIns="0" bIns="0"/>
          <a:lstStyle>
            <a:lvl1pPr>
              <a:defRPr sz="1400" b="1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0" y="6553200"/>
            <a:ext cx="9144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09" y="82326"/>
            <a:ext cx="3882831" cy="749746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4572000" y="981075"/>
            <a:ext cx="0" cy="5457825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77042" y="3543300"/>
            <a:ext cx="8989916" cy="0"/>
          </a:xfrm>
          <a:prstGeom prst="line">
            <a:avLst/>
          </a:prstGeom>
          <a:ln w="19050">
            <a:solidFill>
              <a:schemeClr val="tx1"/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161925" y="981075"/>
            <a:ext cx="4257675" cy="2438400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4"/>
          </p:nvPr>
        </p:nvSpPr>
        <p:spPr>
          <a:xfrm>
            <a:off x="87313" y="3709988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18"/>
          <p:cNvSpPr>
            <a:spLocks noGrp="1"/>
          </p:cNvSpPr>
          <p:nvPr>
            <p:ph type="body" sz="quarter" idx="15"/>
          </p:nvPr>
        </p:nvSpPr>
        <p:spPr>
          <a:xfrm>
            <a:off x="4734671" y="3709987"/>
            <a:ext cx="4332287" cy="2652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8"/>
          <p:cNvSpPr>
            <a:spLocks noGrp="1"/>
          </p:cNvSpPr>
          <p:nvPr>
            <p:ph type="body" sz="quarter" idx="16"/>
          </p:nvPr>
        </p:nvSpPr>
        <p:spPr>
          <a:xfrm>
            <a:off x="4734671" y="981075"/>
            <a:ext cx="4332287" cy="24288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24125" y="6583680"/>
            <a:ext cx="4114800" cy="274320"/>
          </a:xfrm>
        </p:spPr>
        <p:txBody>
          <a:bodyPr/>
          <a:lstStyle>
            <a:lvl1pPr>
              <a:defRPr sz="1400" b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</p:spTree>
    <p:extLst>
      <p:ext uri="{BB962C8B-B14F-4D97-AF65-F5344CB8AC3E}">
        <p14:creationId xmlns:p14="http://schemas.microsoft.com/office/powerpoint/2010/main" val="1613562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1143000"/>
            <a:ext cx="7848600" cy="350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373063" y="6591300"/>
            <a:ext cx="17526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25C08211-4AFA-4DCC-83B4-664F54295857}" type="datetime1">
              <a:rPr lang="en-US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36913" y="6591300"/>
            <a:ext cx="2782887" cy="26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Argenis Bilbao – Ph.D. Proposal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2950" y="6551613"/>
            <a:ext cx="2051050" cy="3063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b="1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B77A210C-9675-4AF8-BB4A-75C22F228BA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fiveable.me/introduction-computer-architecture/unit-3/risc-cisc-architectures/study-guide/w3HvrwVqcuP6lBNL" TargetMode="External"/><Relationship Id="rId2" Type="http://schemas.openxmlformats.org/officeDocument/2006/relationships/hyperlink" Target="https://www.stromasys.com/resources/breaking-down-the-features-and-architecture-of-cisc-processo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ages.hmc.edu/harris/class/e85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903672"/>
            <a:ext cx="73152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Microprocessor Architecture ECE4375 / 5375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Argenis Bilbao</a:t>
            </a: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2026</a:t>
            </a:r>
          </a:p>
        </p:txBody>
      </p:sp>
    </p:spTree>
    <p:extLst>
      <p:ext uri="{BB962C8B-B14F-4D97-AF65-F5344CB8AC3E}">
        <p14:creationId xmlns:p14="http://schemas.microsoft.com/office/powerpoint/2010/main" val="30143576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Presentation Outline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47700" y="1766046"/>
            <a:ext cx="78485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Word / Byte addressing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Register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Registers and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Immediate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Logical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Shift operations</a:t>
            </a:r>
          </a:p>
        </p:txBody>
      </p:sp>
    </p:spTree>
    <p:extLst>
      <p:ext uri="{BB962C8B-B14F-4D97-AF65-F5344CB8AC3E}">
        <p14:creationId xmlns:p14="http://schemas.microsoft.com/office/powerpoint/2010/main" val="3887821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0844B9-C711-D745-BA42-F7938522F227}"/>
              </a:ext>
            </a:extLst>
          </p:cNvPr>
          <p:cNvSpPr txBox="1"/>
          <p:nvPr/>
        </p:nvSpPr>
        <p:spPr>
          <a:xfrm>
            <a:off x="326571" y="1128152"/>
            <a:ext cx="85146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202124"/>
                </a:solidFill>
                <a:latin typeface="+mj-lt"/>
              </a:rPr>
              <a:t>Operand location: Physical location in computer.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Registers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Memory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  <a:latin typeface="+mj-lt"/>
              </a:rPr>
              <a:t>Constants (also called </a:t>
            </a:r>
            <a:r>
              <a:rPr lang="en-US" sz="2000" dirty="0" err="1">
                <a:solidFill>
                  <a:srgbClr val="202124"/>
                </a:solidFill>
                <a:latin typeface="+mj-lt"/>
              </a:rPr>
              <a:t>immediates</a:t>
            </a:r>
            <a:r>
              <a:rPr lang="en-US" sz="2000" dirty="0">
                <a:solidFill>
                  <a:srgbClr val="202124"/>
                </a:solidFill>
                <a:latin typeface="+mj-lt"/>
              </a:rPr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C7123-3357-1C9E-7011-95CD07BC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Operands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9FC0A4-16A4-9886-AA3E-0F3B7337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DF9A8-37C1-EA0E-DF11-B3DA5E811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6666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F115-F149-AD5A-954C-6E7ABCA8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8D4855-01B0-BEBC-06AF-99DCF44A40AC}"/>
              </a:ext>
            </a:extLst>
          </p:cNvPr>
          <p:cNvSpPr txBox="1"/>
          <p:nvPr/>
        </p:nvSpPr>
        <p:spPr>
          <a:xfrm>
            <a:off x="326571" y="1128152"/>
            <a:ext cx="85146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RISC V has 32 32-bit registers.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Registers are faster than memory.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RISC V called “32-bit architecture” because it operates on 32-bit data.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6455FC-86E4-1185-AB21-15247F64C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Registers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262518-4F10-5F7B-EC70-C8C22B3DF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52B38-0F5A-0E5A-A499-BCA7A470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887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448F-0C9B-FC28-25C6-005FF22C4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3713-6EB2-9EFF-0D37-5566412B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CPU Registers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26BCD-7329-7F43-B247-1258D4C49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635FD-0419-ED59-B38A-9D74BCEB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0BFB8A-F061-2AFB-B604-E17A517AF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273" y="1420558"/>
            <a:ext cx="5918504" cy="428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251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59E7-9E8C-D087-3B72-43CF920E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C4DB35-2F4A-AB5B-9CC4-6051C617960E}"/>
              </a:ext>
            </a:extLst>
          </p:cNvPr>
          <p:cNvSpPr txBox="1"/>
          <p:nvPr/>
        </p:nvSpPr>
        <p:spPr>
          <a:xfrm>
            <a:off x="326571" y="1128152"/>
            <a:ext cx="85146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Registers: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Can use either name (i.e., </a:t>
            </a:r>
            <a:r>
              <a:rPr lang="en-US" sz="2000" dirty="0" err="1">
                <a:solidFill>
                  <a:srgbClr val="202124"/>
                </a:solidFill>
              </a:rPr>
              <a:t>ra</a:t>
            </a:r>
            <a:r>
              <a:rPr lang="en-US" sz="2000" dirty="0">
                <a:solidFill>
                  <a:srgbClr val="202124"/>
                </a:solidFill>
              </a:rPr>
              <a:t>, zero) or x0, x1, etc.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Using name is preferred. </a:t>
            </a:r>
          </a:p>
          <a:p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Registers used for specific purposes: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zero always holds the </a:t>
            </a:r>
            <a:r>
              <a:rPr lang="en-US" sz="2000" b="1" dirty="0">
                <a:solidFill>
                  <a:srgbClr val="202124"/>
                </a:solidFill>
              </a:rPr>
              <a:t>constant value 0</a:t>
            </a:r>
            <a:r>
              <a:rPr lang="en-US" sz="2000" dirty="0">
                <a:solidFill>
                  <a:srgbClr val="202124"/>
                </a:solidFill>
              </a:rPr>
              <a:t>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The </a:t>
            </a:r>
            <a:r>
              <a:rPr lang="en-US" sz="2000" b="1" dirty="0">
                <a:solidFill>
                  <a:srgbClr val="202124"/>
                </a:solidFill>
              </a:rPr>
              <a:t>saved registers</a:t>
            </a:r>
            <a:r>
              <a:rPr lang="en-US" sz="2000" dirty="0">
                <a:solidFill>
                  <a:srgbClr val="202124"/>
                </a:solidFill>
              </a:rPr>
              <a:t>, s0-s11, used to hold variables.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The </a:t>
            </a:r>
            <a:r>
              <a:rPr lang="en-US" sz="2000" b="1" dirty="0">
                <a:solidFill>
                  <a:srgbClr val="202124"/>
                </a:solidFill>
              </a:rPr>
              <a:t>temporary registers</a:t>
            </a:r>
            <a:r>
              <a:rPr lang="en-US" sz="2000" dirty="0">
                <a:solidFill>
                  <a:srgbClr val="202124"/>
                </a:solidFill>
              </a:rPr>
              <a:t>, t0-t6, used to hold intermediate values during a larger computation.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Will discuss others later.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4B3819-F36D-9263-2877-C278B55F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Registers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27F392-62AF-E27F-9EF0-C4699FCC3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657FF-F94E-B988-9A51-DF4FACE67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918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C36DA-C448-E784-EB72-9BC8141A9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EF5F5C-379D-BCF0-294F-334C9CB0295B}"/>
              </a:ext>
            </a:extLst>
          </p:cNvPr>
          <p:cNvSpPr txBox="1"/>
          <p:nvPr/>
        </p:nvSpPr>
        <p:spPr>
          <a:xfrm>
            <a:off x="326571" y="1128152"/>
            <a:ext cx="8514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The add instruction.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7AD01-AD28-AAF0-D409-1DD56E074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RISC V Architecture: Instructions with Registers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70EC1-2019-3B4B-E8E6-6556FD268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42E91-E000-0671-2188-EAC93D92A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50C6F-7B9C-3969-CFBE-644880D47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098" y="2533604"/>
            <a:ext cx="5905804" cy="89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73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66CF-2C8D-E675-A36F-03FD3CC33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6B5128-E781-BB65-6B2A-8C5BFD6D4E15}"/>
              </a:ext>
            </a:extLst>
          </p:cNvPr>
          <p:cNvSpPr txBox="1"/>
          <p:nvPr/>
        </p:nvSpPr>
        <p:spPr>
          <a:xfrm>
            <a:off x="326571" y="1128152"/>
            <a:ext cx="8514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The </a:t>
            </a:r>
            <a:r>
              <a:rPr lang="en-US" sz="2000" dirty="0" err="1">
                <a:solidFill>
                  <a:srgbClr val="202124"/>
                </a:solidFill>
              </a:rPr>
              <a:t>addi</a:t>
            </a:r>
            <a:r>
              <a:rPr lang="en-US" sz="2000" dirty="0">
                <a:solidFill>
                  <a:srgbClr val="202124"/>
                </a:solidFill>
              </a:rPr>
              <a:t> instruction.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A4ABE-A255-6171-0044-13E8FDD0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dirty="0"/>
              <a:t>RISC V Architecture: Instructions with Constants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A8D7EC-B4C2-EFE5-AD14-5EA327879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89E59-F6AA-2576-8473-84E557AF2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3EE43F-C39C-44F9-F8A1-70E324697C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2455" y="3155653"/>
            <a:ext cx="5518139" cy="89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68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E7202-4B00-43CE-B0F8-061026FAC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E244A2-7C99-9F79-508D-B792627C6102}"/>
              </a:ext>
            </a:extLst>
          </p:cNvPr>
          <p:cNvSpPr txBox="1"/>
          <p:nvPr/>
        </p:nvSpPr>
        <p:spPr>
          <a:xfrm>
            <a:off x="326571" y="1128152"/>
            <a:ext cx="85146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Too much data to fit in only 32 registers.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Store more data in memory.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Memory is large, but slow.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Commonly used variables kept in registers.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06AFC0-08D1-F09F-1CC9-984CBD93D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82450B-F56F-2D5D-FFF2-FC6FD6AA0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1BECF-BF5F-A5A7-E920-02CD5AA61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161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71C2A-1537-FF19-7614-1A645DDD7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24D99F-65AE-4808-815D-4C51A8761E8E}"/>
              </a:ext>
            </a:extLst>
          </p:cNvPr>
          <p:cNvSpPr txBox="1"/>
          <p:nvPr/>
        </p:nvSpPr>
        <p:spPr>
          <a:xfrm>
            <a:off x="326571" y="1128152"/>
            <a:ext cx="85146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First, we’ll discuss word-addressable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Then we’ll discuss byte-addressable memory.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r>
              <a:rPr lang="en-US" sz="2000" dirty="0">
                <a:solidFill>
                  <a:srgbClr val="202124"/>
                </a:solidFill>
              </a:rPr>
              <a:t>RISC V is Byte-addressable!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0FB92-7D3F-6256-9422-31ED2091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708BDE-7281-1F7D-C0D1-B17702BA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409AA-46F2-C7F2-153E-31B2E3892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17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D5A6-E416-C0E9-70F5-9FB865315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ED7479-5942-01D5-0454-2A7C3ADCFE8C}"/>
              </a:ext>
            </a:extLst>
          </p:cNvPr>
          <p:cNvSpPr txBox="1"/>
          <p:nvPr/>
        </p:nvSpPr>
        <p:spPr>
          <a:xfrm>
            <a:off x="326571" y="1128152"/>
            <a:ext cx="85146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Each 32-bit data word has a unique address.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27D8BC-83D9-CCA6-B86E-36E35CDE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 (Word)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A0C21-8899-1521-E589-F0E218442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B33EF-340E-7D02-0079-F717D33D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E49029-610B-75A8-6D8C-C8AF5DEBE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195" y="2060504"/>
            <a:ext cx="4089610" cy="273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37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8ECD6-3599-2DCE-A3C8-7470690C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07A432-FE0A-41D1-A628-54074A0FD864}"/>
              </a:ext>
            </a:extLst>
          </p:cNvPr>
          <p:cNvSpPr txBox="1"/>
          <p:nvPr/>
        </p:nvSpPr>
        <p:spPr>
          <a:xfrm>
            <a:off x="326571" y="1128152"/>
            <a:ext cx="851460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Memory read called load.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202124"/>
                </a:solidFill>
              </a:rPr>
              <a:t>Mnemonic:</a:t>
            </a:r>
            <a:r>
              <a:rPr lang="en-US" sz="2000" dirty="0">
                <a:solidFill>
                  <a:srgbClr val="202124"/>
                </a:solidFill>
              </a:rPr>
              <a:t> load word (</a:t>
            </a:r>
            <a:r>
              <a:rPr lang="en-US" sz="2000" dirty="0" err="1">
                <a:solidFill>
                  <a:srgbClr val="202124"/>
                </a:solidFill>
              </a:rPr>
              <a:t>lw</a:t>
            </a:r>
            <a:r>
              <a:rPr lang="en-US" sz="2000" dirty="0">
                <a:solidFill>
                  <a:srgbClr val="202124"/>
                </a:solidFill>
              </a:rPr>
              <a:t>)</a:t>
            </a:r>
          </a:p>
          <a:p>
            <a:r>
              <a:rPr lang="en-US" sz="2000" dirty="0">
                <a:solidFill>
                  <a:srgbClr val="202124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Format: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202124"/>
                </a:solidFill>
              </a:rPr>
              <a:t>lw</a:t>
            </a:r>
            <a:r>
              <a:rPr lang="en-US" sz="2000" dirty="0">
                <a:solidFill>
                  <a:srgbClr val="202124"/>
                </a:solidFill>
              </a:rPr>
              <a:t> t1, 5(s0)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202124"/>
                </a:solidFill>
              </a:rPr>
              <a:t>lw</a:t>
            </a:r>
            <a:r>
              <a:rPr lang="en-US" sz="2000" dirty="0">
                <a:solidFill>
                  <a:srgbClr val="202124"/>
                </a:solidFill>
              </a:rPr>
              <a:t> destination, offset(base)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Address calculation: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Add base address (s0) to the offset (5)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Address = (s0 + 5)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Result: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t1 holds the data value at address (s0 + 5)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202124"/>
              </a:solidFill>
            </a:endParaRPr>
          </a:p>
          <a:p>
            <a:pPr algn="ctr"/>
            <a:r>
              <a:rPr lang="en-US" sz="2000" b="1" dirty="0">
                <a:solidFill>
                  <a:srgbClr val="202124"/>
                </a:solidFill>
              </a:rPr>
              <a:t>ANY REGISTER </a:t>
            </a:r>
            <a:r>
              <a:rPr lang="en-US" sz="2000" dirty="0">
                <a:solidFill>
                  <a:srgbClr val="202124"/>
                </a:solidFill>
              </a:rPr>
              <a:t>can be used as base address!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D6867-022A-3B83-C1CC-B1D9C9526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 (Word)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84C36-3297-1F5F-A328-612506864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540E6-8FCA-BA7D-A4EB-963ED6198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409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C9377-802B-89F8-C77B-E0A848BE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DD2A7A-8CD5-DDDD-CADC-99BED6CB557A}"/>
              </a:ext>
            </a:extLst>
          </p:cNvPr>
          <p:cNvSpPr txBox="1"/>
          <p:nvPr/>
        </p:nvSpPr>
        <p:spPr>
          <a:xfrm>
            <a:off x="326571" y="1128152"/>
            <a:ext cx="85146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Example: Read a word of data at memory address 1 into s3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Address = (0 + 1) = 1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s3 = 0xF2F1AC07 after load </a:t>
            </a:r>
          </a:p>
          <a:p>
            <a:endParaRPr lang="en-US" sz="2000" dirty="0">
              <a:solidFill>
                <a:srgbClr val="202124"/>
              </a:solidFill>
            </a:endParaRPr>
          </a:p>
          <a:p>
            <a:r>
              <a:rPr lang="en-US" sz="2000" dirty="0">
                <a:solidFill>
                  <a:srgbClr val="202124"/>
                </a:solidFill>
              </a:rPr>
              <a:t>Assembly code: </a:t>
            </a:r>
          </a:p>
          <a:p>
            <a:r>
              <a:rPr lang="en-US" sz="2000" dirty="0" err="1">
                <a:solidFill>
                  <a:srgbClr val="202124"/>
                </a:solidFill>
              </a:rPr>
              <a:t>lw</a:t>
            </a:r>
            <a:r>
              <a:rPr lang="en-US" sz="2000" dirty="0">
                <a:solidFill>
                  <a:srgbClr val="202124"/>
                </a:solidFill>
              </a:rPr>
              <a:t> s3, 1(zero) 		# read memory word 1 into s3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4F3238-92B9-B0A2-CCE0-549771C83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 (Word)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7560D6-FCEE-F916-45C6-37B167E8A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89BEF-6F6D-101A-AE4F-5B0BC116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112A55-B9C0-CFAB-8182-1A76F8F90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185" y="3429000"/>
            <a:ext cx="3473629" cy="2070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01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ABA59-AC1E-7456-8F5D-136E3FF9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9BCF798-8FAE-87C1-AC4A-2E01CFF0A817}"/>
              </a:ext>
            </a:extLst>
          </p:cNvPr>
          <p:cNvSpPr txBox="1"/>
          <p:nvPr/>
        </p:nvSpPr>
        <p:spPr>
          <a:xfrm>
            <a:off x="326571" y="1128152"/>
            <a:ext cx="8514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Memory write is called a store.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Mnemonic: store word (</a:t>
            </a:r>
            <a:r>
              <a:rPr lang="en-US" sz="2000" dirty="0" err="1">
                <a:solidFill>
                  <a:srgbClr val="202124"/>
                </a:solidFill>
              </a:rPr>
              <a:t>sw</a:t>
            </a:r>
            <a:r>
              <a:rPr lang="en-US" sz="2000" dirty="0">
                <a:solidFill>
                  <a:srgbClr val="202124"/>
                </a:solidFill>
              </a:rPr>
              <a:t>).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119EF-18E1-15AB-FF1A-7474459D6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 (Word)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7B1946-7758-5BB7-C635-B891FE8D4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74ECA-CE16-7AB9-2D32-27706AB1D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3645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1ECC8-15FA-815B-EB2F-A86720C72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563D0F-E037-AF3D-6732-9602E40004F5}"/>
              </a:ext>
            </a:extLst>
          </p:cNvPr>
          <p:cNvSpPr txBox="1"/>
          <p:nvPr/>
        </p:nvSpPr>
        <p:spPr>
          <a:xfrm>
            <a:off x="326571" y="1128152"/>
            <a:ext cx="85146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The address of a memory word must now be multiplied by 4.  For example: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The address of memory word 2 is 2 × 4 = 8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The address of memory word 10 is 10 × 4 = 40  (0x28)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RISC-V is </a:t>
            </a:r>
            <a:r>
              <a:rPr lang="en-US" sz="2000" b="1" dirty="0">
                <a:solidFill>
                  <a:srgbClr val="202124"/>
                </a:solidFill>
              </a:rPr>
              <a:t>byte-addressed</a:t>
            </a:r>
            <a:r>
              <a:rPr lang="en-US" sz="2000" dirty="0">
                <a:solidFill>
                  <a:srgbClr val="202124"/>
                </a:solidFill>
              </a:rPr>
              <a:t>, not word addressed.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FEDEDD-64B2-4FD8-C949-4627DF4C6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 (Byte)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6A00C3-EB13-61AD-F6D8-4C674F9A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6"/>
            <a:ext cx="1136073" cy="339581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73DFCA-3CE0-E22F-5D91-2E498E569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0491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C782-AA90-538D-F99C-1866F631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B06966-0B9F-ABB5-E050-5A8D91FC7F74}"/>
              </a:ext>
            </a:extLst>
          </p:cNvPr>
          <p:cNvSpPr txBox="1"/>
          <p:nvPr/>
        </p:nvSpPr>
        <p:spPr>
          <a:xfrm>
            <a:off x="326571" y="1128152"/>
            <a:ext cx="85146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Example: Load a word of data at memory address 8 into s3.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s3 holds the value 0x1EE2842 after load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r>
              <a:rPr lang="en-US" sz="2000" dirty="0">
                <a:solidFill>
                  <a:srgbClr val="202124"/>
                </a:solidFill>
              </a:rPr>
              <a:t>RISC V assembly code: </a:t>
            </a:r>
          </a:p>
          <a:p>
            <a:r>
              <a:rPr lang="en-US" sz="2000" dirty="0" err="1">
                <a:solidFill>
                  <a:srgbClr val="202124"/>
                </a:solidFill>
              </a:rPr>
              <a:t>lw</a:t>
            </a:r>
            <a:r>
              <a:rPr lang="en-US" sz="2000" dirty="0">
                <a:solidFill>
                  <a:srgbClr val="202124"/>
                </a:solidFill>
              </a:rPr>
              <a:t> s3, 8(zero)  		# read word at address 8 into s3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25FD3-76CD-4688-1202-D7B94F617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 (Byte)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6EFE41-19F4-A9CA-85CD-7D8EF1999C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6"/>
            <a:ext cx="1039091" cy="284163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F0EA7-A353-0E7D-1DDD-4921C164A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5184C5-2FEA-2BCA-7F35-D1C1F735D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578" y="3193986"/>
            <a:ext cx="6269893" cy="307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01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5BC88-7F07-FE58-0CFC-A25450B4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E02AAB-C548-347C-8009-25394BE15C66}"/>
              </a:ext>
            </a:extLst>
          </p:cNvPr>
          <p:cNvSpPr txBox="1"/>
          <p:nvPr/>
        </p:nvSpPr>
        <p:spPr>
          <a:xfrm>
            <a:off x="326571" y="1128152"/>
            <a:ext cx="851460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Example: store the value held in t7 into memory address 0x10 (16)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If t7 holds the value 0xAABBCCDD, then after the </a:t>
            </a:r>
            <a:r>
              <a:rPr lang="en-US" sz="2000" dirty="0" err="1">
                <a:solidFill>
                  <a:srgbClr val="202124"/>
                </a:solidFill>
              </a:rPr>
              <a:t>sw</a:t>
            </a:r>
            <a:r>
              <a:rPr lang="en-US" sz="2000" dirty="0">
                <a:solidFill>
                  <a:srgbClr val="202124"/>
                </a:solidFill>
              </a:rPr>
              <a:t> completes, word 4 (at address 0x10) in memory will contain that value</a:t>
            </a:r>
          </a:p>
          <a:p>
            <a:pPr lvl="1"/>
            <a:endParaRPr lang="en-US" sz="2000" dirty="0">
              <a:solidFill>
                <a:srgbClr val="202124"/>
              </a:solidFill>
            </a:endParaRPr>
          </a:p>
          <a:p>
            <a:r>
              <a:rPr lang="en-US" sz="2000" dirty="0">
                <a:solidFill>
                  <a:srgbClr val="202124"/>
                </a:solidFill>
              </a:rPr>
              <a:t>RISC-V assembly code: </a:t>
            </a:r>
          </a:p>
          <a:p>
            <a:r>
              <a:rPr lang="en-US" sz="2000" dirty="0" err="1">
                <a:solidFill>
                  <a:srgbClr val="202124"/>
                </a:solidFill>
              </a:rPr>
              <a:t>sw</a:t>
            </a:r>
            <a:r>
              <a:rPr lang="en-US" sz="2000" dirty="0">
                <a:solidFill>
                  <a:srgbClr val="202124"/>
                </a:solidFill>
              </a:rPr>
              <a:t> t7, 0x10(zero)  		# write t7 into address 16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4F7B7-8BD7-1320-6347-16E5A3DCF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Memory Ops (Byte)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5228C1-52E2-7755-6A53-5C0AA67BFB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F077-5590-1D51-7F23-F2CFA34F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8903C4-46CD-E6C7-8342-F10165D34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294" y="3232376"/>
            <a:ext cx="6128462" cy="300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17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32F74-BA25-B9CC-0536-424B10B4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EE9DF9-60B9-7F96-2D82-3CE5ED770031}"/>
              </a:ext>
            </a:extLst>
          </p:cNvPr>
          <p:cNvSpPr txBox="1"/>
          <p:nvPr/>
        </p:nvSpPr>
        <p:spPr>
          <a:xfrm>
            <a:off x="326571" y="1128152"/>
            <a:ext cx="85146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12-bit signed constants (</a:t>
            </a:r>
            <a:r>
              <a:rPr lang="en-US" sz="2000" dirty="0" err="1">
                <a:solidFill>
                  <a:srgbClr val="202124"/>
                </a:solidFill>
              </a:rPr>
              <a:t>immediates</a:t>
            </a:r>
            <a:r>
              <a:rPr lang="en-US" sz="2000" dirty="0">
                <a:solidFill>
                  <a:srgbClr val="202124"/>
                </a:solidFill>
              </a:rPr>
              <a:t>) using </a:t>
            </a:r>
            <a:r>
              <a:rPr lang="en-US" sz="2000" dirty="0" err="1">
                <a:solidFill>
                  <a:srgbClr val="202124"/>
                </a:solidFill>
              </a:rPr>
              <a:t>addi</a:t>
            </a:r>
            <a:r>
              <a:rPr lang="en-US" sz="2000" dirty="0">
                <a:solidFill>
                  <a:srgbClr val="202124"/>
                </a:solidFill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r>
              <a:rPr lang="en-US" sz="2000" dirty="0">
                <a:solidFill>
                  <a:srgbClr val="202124"/>
                </a:solidFill>
              </a:rPr>
              <a:t>Any immediate value that requires </a:t>
            </a:r>
            <a:r>
              <a:rPr lang="en-US" sz="2000" b="1" dirty="0">
                <a:solidFill>
                  <a:srgbClr val="202124"/>
                </a:solidFill>
              </a:rPr>
              <a:t>more than 12-bits cannot use this method!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A8FD4-F43D-12A7-188B-ABDD3BA02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12-bit Constants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9752D-B015-31FF-5651-5CEC53616F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212A8-3225-A469-2395-C670529B8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EF7BF1-FA30-070E-4986-EB1971A3E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798" y="2033706"/>
            <a:ext cx="5899453" cy="1003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35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9130F-5477-EC4D-3584-05FC6D97D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C73B22-12E7-CDF4-166C-8512F8B71A3E}"/>
              </a:ext>
            </a:extLst>
          </p:cNvPr>
          <p:cNvSpPr txBox="1"/>
          <p:nvPr/>
        </p:nvSpPr>
        <p:spPr>
          <a:xfrm>
            <a:off x="326571" y="1128152"/>
            <a:ext cx="85146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Use load upper immediate (</a:t>
            </a:r>
            <a:r>
              <a:rPr lang="en-US" sz="2000" dirty="0" err="1">
                <a:solidFill>
                  <a:srgbClr val="202124"/>
                </a:solidFill>
              </a:rPr>
              <a:t>lui</a:t>
            </a:r>
            <a:r>
              <a:rPr lang="en-US" sz="2000" dirty="0">
                <a:solidFill>
                  <a:srgbClr val="202124"/>
                </a:solidFill>
              </a:rPr>
              <a:t>) and </a:t>
            </a:r>
            <a:r>
              <a:rPr lang="en-US" sz="2000" dirty="0" err="1">
                <a:solidFill>
                  <a:srgbClr val="202124"/>
                </a:solidFill>
              </a:rPr>
              <a:t>addi</a:t>
            </a:r>
            <a:r>
              <a:rPr lang="en-US" sz="2000" dirty="0">
                <a:solidFill>
                  <a:srgbClr val="202124"/>
                </a:solidFill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202124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</a:rPr>
              <a:t>lui</a:t>
            </a:r>
            <a:r>
              <a:rPr lang="en-US" sz="2000" dirty="0">
                <a:solidFill>
                  <a:srgbClr val="202124"/>
                </a:solidFill>
              </a:rPr>
              <a:t>: Puts an immediate in the upper 20-bits of destination register and 0’s in lower 12 bits.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E0B952-50D3-D805-A980-6C73A4484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32-bit Constants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C034A-29D2-330E-42DC-AB55F4E1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7AF52-F122-A92A-6CC5-DE1C0533B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DDA3CA-4D1E-3812-27FE-3AD752322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076" y="2933674"/>
            <a:ext cx="5797848" cy="99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6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C0A54-C068-4AE9-FBBE-1D74924A6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D72FD8-1FB4-0F45-08CD-CD01B08C2458}"/>
              </a:ext>
            </a:extLst>
          </p:cNvPr>
          <p:cNvSpPr txBox="1"/>
          <p:nvPr/>
        </p:nvSpPr>
        <p:spPr>
          <a:xfrm>
            <a:off x="326571" y="1128152"/>
            <a:ext cx="85146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4"/>
                </a:solidFill>
              </a:rPr>
              <a:t>and, or, </a:t>
            </a:r>
            <a:r>
              <a:rPr lang="en-US" sz="2000" dirty="0" err="1">
                <a:solidFill>
                  <a:srgbClr val="202124"/>
                </a:solidFill>
              </a:rPr>
              <a:t>xor</a:t>
            </a:r>
            <a:endParaRPr lang="en-US" sz="2000" dirty="0">
              <a:solidFill>
                <a:srgbClr val="202124"/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and: useful for masking bits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02124"/>
                </a:solidFill>
              </a:rPr>
              <a:t>Masking  all but the least significant byte of a value: 0xF234012F AND 0x000000FF = 0x0000002F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02124"/>
              </a:solidFill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or: useful for combining bit fields 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rgbClr val="202124"/>
                </a:solidFill>
              </a:rPr>
              <a:t>Combine 0xF2340000 with 0x000012BC: 0xF2340000 OR 0x000012BC = 0xF23412BC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rgbClr val="202124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202124"/>
                </a:solidFill>
              </a:rPr>
              <a:t>xor</a:t>
            </a:r>
            <a:r>
              <a:rPr lang="en-US" sz="2000" dirty="0">
                <a:solidFill>
                  <a:srgbClr val="202124"/>
                </a:solidFill>
              </a:rPr>
              <a:t>: useful for inverting bits: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202124"/>
                </a:solidFill>
              </a:rPr>
              <a:t>A XOR -1 = NOT A   (remember that -1 = 0xFFFFFFFF)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0AC790-2179-2071-EC04-C44FB4897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Logical Operations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89008F-DA65-BD96-9F37-71FF716D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1C8C4-94F2-4C5B-8C59-3EC9DD76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54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3CD3A-4AA7-C514-91B6-C54FB8106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B3EB3-4940-5104-A6E3-620BE9FD8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Logical Operations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C2424-2074-9D3A-3AE9-0FECFC3017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72F51-B0FE-2839-838B-66F87255F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9CDBD5-D52C-7349-B2F9-82115FFA4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982" y="1937872"/>
            <a:ext cx="7674036" cy="2982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65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4F932-D0CB-A853-EDCB-A31CB93EE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0CF10-90B6-8E4F-761B-07F701A73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Shift Instructions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64CE4C-B703-8D57-1594-CF15A30048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CFD0B-8F5A-C99D-5BEA-B630071F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DBC14E-9480-9F09-0354-2EE8F0629A35}"/>
              </a:ext>
            </a:extLst>
          </p:cNvPr>
          <p:cNvSpPr txBox="1"/>
          <p:nvPr/>
        </p:nvSpPr>
        <p:spPr>
          <a:xfrm>
            <a:off x="657224" y="1246909"/>
            <a:ext cx="81404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Shift amount is in (lower 5 bits of) a register.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sll</a:t>
            </a:r>
            <a:r>
              <a:rPr lang="en-US" sz="2000" dirty="0"/>
              <a:t>: shift left logical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Example:  </a:t>
            </a:r>
            <a:r>
              <a:rPr lang="en-US" sz="2000" dirty="0" err="1"/>
              <a:t>sll</a:t>
            </a:r>
            <a:r>
              <a:rPr lang="en-US" sz="2000" dirty="0"/>
              <a:t> t0, t1, t2 	# t0 = t1 &lt;&lt; t2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dirty="0" err="1"/>
              <a:t>srl</a:t>
            </a:r>
            <a:r>
              <a:rPr lang="en-US" sz="2000" dirty="0"/>
              <a:t>: shift right logical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Example:  </a:t>
            </a:r>
            <a:r>
              <a:rPr lang="en-US" sz="2000" dirty="0" err="1"/>
              <a:t>srl</a:t>
            </a:r>
            <a:r>
              <a:rPr lang="en-US" sz="2000" dirty="0"/>
              <a:t> t0, t1, t2 	# t0 = t1 &gt;&gt; t2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000" dirty="0"/>
          </a:p>
          <a:p>
            <a:r>
              <a:rPr lang="en-US" sz="2000" dirty="0"/>
              <a:t>• </a:t>
            </a:r>
            <a:r>
              <a:rPr lang="en-US" sz="2000" dirty="0" err="1"/>
              <a:t>sra</a:t>
            </a:r>
            <a:r>
              <a:rPr lang="en-US" sz="2000" dirty="0"/>
              <a:t>: shift right arithmetic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Example:  </a:t>
            </a:r>
            <a:r>
              <a:rPr lang="en-US" sz="2000" dirty="0" err="1"/>
              <a:t>sra</a:t>
            </a:r>
            <a:r>
              <a:rPr lang="en-US" sz="2000" dirty="0"/>
              <a:t> t0, t1, t2 	# t0 = t1 &gt;&gt;&gt; t2</a:t>
            </a:r>
          </a:p>
        </p:txBody>
      </p:sp>
    </p:spTree>
    <p:extLst>
      <p:ext uri="{BB962C8B-B14F-4D97-AF65-F5344CB8AC3E}">
        <p14:creationId xmlns:p14="http://schemas.microsoft.com/office/powerpoint/2010/main" val="2615387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0A0E4-14FC-768F-740D-DAECE66C8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B6FE0-C3FF-E292-54EA-9370AEB40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Shift Instructions (IMM)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A76D78-9965-352E-750A-AF975E00B5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13515-8800-FE6D-A1A0-61215CB1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C1A155-9A96-1875-0D95-CA9007458C10}"/>
              </a:ext>
            </a:extLst>
          </p:cNvPr>
          <p:cNvSpPr txBox="1"/>
          <p:nvPr/>
        </p:nvSpPr>
        <p:spPr>
          <a:xfrm>
            <a:off x="657224" y="1246909"/>
            <a:ext cx="81404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Shift amount is an immediate between 0 to 31.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• </a:t>
            </a:r>
            <a:r>
              <a:rPr lang="en-US" sz="2000" dirty="0" err="1"/>
              <a:t>slli</a:t>
            </a:r>
            <a:r>
              <a:rPr lang="en-US" sz="2000" dirty="0"/>
              <a:t>: shift left logical immediate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Example:  </a:t>
            </a:r>
            <a:r>
              <a:rPr lang="en-US" sz="2000" dirty="0" err="1"/>
              <a:t>slli</a:t>
            </a:r>
            <a:r>
              <a:rPr lang="en-US" sz="2000" dirty="0"/>
              <a:t> t0, t1, 23 	# t0 = t1 &lt;&lt; 23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• </a:t>
            </a:r>
            <a:r>
              <a:rPr lang="en-US" sz="2000" dirty="0" err="1"/>
              <a:t>srli</a:t>
            </a:r>
            <a:r>
              <a:rPr lang="en-US" sz="2000" dirty="0"/>
              <a:t>: shift right logical immediate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Example:  </a:t>
            </a:r>
            <a:r>
              <a:rPr lang="en-US" sz="2000" dirty="0" err="1"/>
              <a:t>srli</a:t>
            </a:r>
            <a:r>
              <a:rPr lang="en-US" sz="2000" dirty="0"/>
              <a:t> t0, t1, 18 	# t0 = t1 &gt;&gt; 18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• </a:t>
            </a:r>
            <a:r>
              <a:rPr lang="en-US" sz="2000" dirty="0" err="1"/>
              <a:t>srai</a:t>
            </a:r>
            <a:r>
              <a:rPr lang="en-US" sz="2000" dirty="0"/>
              <a:t>: shift right arithmetic immediate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/>
              <a:t>Example:  </a:t>
            </a:r>
            <a:r>
              <a:rPr lang="en-US" sz="2000" dirty="0" err="1"/>
              <a:t>srai</a:t>
            </a:r>
            <a:r>
              <a:rPr lang="en-US" sz="2000" dirty="0"/>
              <a:t> t0, t1, 5 	# t0 = t1 &gt;&gt; 5</a:t>
            </a:r>
          </a:p>
        </p:txBody>
      </p:sp>
    </p:spTree>
    <p:extLst>
      <p:ext uri="{BB962C8B-B14F-4D97-AF65-F5344CB8AC3E}">
        <p14:creationId xmlns:p14="http://schemas.microsoft.com/office/powerpoint/2010/main" val="2847716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B5744-3084-50EF-E2B4-22A6CEFB8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68D3A-6C50-5A7F-6191-95C1E689C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Multiplication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28ECE-B167-544F-6E18-C51AFEF5DE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125960-783B-2475-19AE-8C1C27CD3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EC0F7-B850-29E8-D81B-34ED158D3BC9}"/>
              </a:ext>
            </a:extLst>
          </p:cNvPr>
          <p:cNvSpPr txBox="1"/>
          <p:nvPr/>
        </p:nvSpPr>
        <p:spPr>
          <a:xfrm>
            <a:off x="657224" y="1246909"/>
            <a:ext cx="81404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32 × 32 multiplication → 64-bit result </a:t>
            </a:r>
          </a:p>
          <a:p>
            <a:r>
              <a:rPr lang="en-US" sz="2000" dirty="0" err="1"/>
              <a:t>mul</a:t>
            </a:r>
            <a:r>
              <a:rPr lang="en-US" sz="2000" dirty="0"/>
              <a:t> s3, s1, s2 </a:t>
            </a:r>
          </a:p>
          <a:p>
            <a:r>
              <a:rPr lang="en-US" sz="2000" dirty="0"/>
              <a:t>	s3 = lower 32 bits of result </a:t>
            </a:r>
          </a:p>
          <a:p>
            <a:r>
              <a:rPr lang="en-US" sz="2000" dirty="0" err="1"/>
              <a:t>mulh</a:t>
            </a:r>
            <a:r>
              <a:rPr lang="en-US" sz="2000" dirty="0"/>
              <a:t> s4, s1, s2   </a:t>
            </a:r>
          </a:p>
          <a:p>
            <a:r>
              <a:rPr lang="en-US" sz="2000" dirty="0"/>
              <a:t>	s4 = upper 32 bits of result, treats operands as signed </a:t>
            </a:r>
          </a:p>
          <a:p>
            <a:endParaRPr lang="en-US" sz="2000" dirty="0"/>
          </a:p>
          <a:p>
            <a:r>
              <a:rPr lang="en-US" sz="2000" dirty="0"/>
              <a:t>{s4, s3} = s1 x s2 </a:t>
            </a:r>
          </a:p>
          <a:p>
            <a:endParaRPr lang="en-US" sz="2000" dirty="0"/>
          </a:p>
          <a:p>
            <a:r>
              <a:rPr lang="en-US" sz="2000" dirty="0"/>
              <a:t>Example: </a:t>
            </a:r>
          </a:p>
          <a:p>
            <a:r>
              <a:rPr lang="en-US" sz="2000" dirty="0"/>
              <a:t>s1 = 0x40000000 = 2</a:t>
            </a:r>
            <a:r>
              <a:rPr lang="en-US" sz="2000" baseline="30000" dirty="0"/>
              <a:t>30</a:t>
            </a:r>
            <a:r>
              <a:rPr lang="en-US" sz="2000" dirty="0"/>
              <a:t>; s2 = 0x80000000 = -2</a:t>
            </a:r>
            <a:r>
              <a:rPr lang="en-US" sz="2000" baseline="30000" dirty="0"/>
              <a:t>31</a:t>
            </a:r>
            <a:r>
              <a:rPr lang="en-US" sz="2000" dirty="0"/>
              <a:t> </a:t>
            </a:r>
          </a:p>
          <a:p>
            <a:r>
              <a:rPr lang="en-US" sz="2000" dirty="0"/>
              <a:t>s1 x s2 = -2</a:t>
            </a:r>
            <a:r>
              <a:rPr lang="en-US" sz="2000" baseline="30000" dirty="0"/>
              <a:t>61</a:t>
            </a:r>
            <a:r>
              <a:rPr lang="en-US" sz="2000" dirty="0"/>
              <a:t> = 0xE0000000 00000000 </a:t>
            </a:r>
          </a:p>
          <a:p>
            <a:r>
              <a:rPr lang="en-US" sz="2000" dirty="0"/>
              <a:t>s4  = 0xE0000000; s3 = 0x00000000</a:t>
            </a:r>
          </a:p>
        </p:txBody>
      </p:sp>
    </p:spTree>
    <p:extLst>
      <p:ext uri="{BB962C8B-B14F-4D97-AF65-F5344CB8AC3E}">
        <p14:creationId xmlns:p14="http://schemas.microsoft.com/office/powerpoint/2010/main" val="29492294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F5F2B-E82D-9BFF-B705-1BE3516CC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0FE2-AFCA-85A7-01C9-2EE388D4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Division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3611E-96D4-E454-68BD-A48C605AEE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C3E06-D12A-4CF6-A86C-C02F798E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D783B6-8B99-F3D4-0CC5-CAB02621FE76}"/>
              </a:ext>
            </a:extLst>
          </p:cNvPr>
          <p:cNvSpPr txBox="1"/>
          <p:nvPr/>
        </p:nvSpPr>
        <p:spPr>
          <a:xfrm>
            <a:off x="657224" y="1246909"/>
            <a:ext cx="814041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32-bit division → 32-bit quotient &amp; remainder</a:t>
            </a:r>
          </a:p>
          <a:p>
            <a:r>
              <a:rPr lang="en-US" sz="2000" dirty="0"/>
              <a:t>div  s3, s1, s2  		# s3 = s1 / s2</a:t>
            </a:r>
          </a:p>
          <a:p>
            <a:r>
              <a:rPr lang="en-US" sz="2000" dirty="0"/>
              <a:t>rem  s4, s1, s2  		# s4 = s1 % s2 </a:t>
            </a:r>
          </a:p>
          <a:p>
            <a:endParaRPr lang="en-US" sz="2000" dirty="0"/>
          </a:p>
          <a:p>
            <a:r>
              <a:rPr lang="en-US" sz="2000" dirty="0"/>
              <a:t>Example: </a:t>
            </a:r>
          </a:p>
          <a:p>
            <a:r>
              <a:rPr lang="en-US" sz="2000" dirty="0"/>
              <a:t>s1 = 0x00000011 = 17; s2 = 0x00000003 = 3 </a:t>
            </a:r>
          </a:p>
          <a:p>
            <a:r>
              <a:rPr lang="en-US" sz="2000" dirty="0"/>
              <a:t>s1 / s2 = 5 </a:t>
            </a:r>
          </a:p>
          <a:p>
            <a:r>
              <a:rPr lang="en-US" sz="2000" dirty="0"/>
              <a:t>s1 % s2 = 2 </a:t>
            </a:r>
          </a:p>
          <a:p>
            <a:r>
              <a:rPr lang="en-US" sz="2000" dirty="0"/>
              <a:t>s3  = 0x00000005; s4 = 0x00000002</a:t>
            </a:r>
          </a:p>
        </p:txBody>
      </p:sp>
    </p:spTree>
    <p:extLst>
      <p:ext uri="{BB962C8B-B14F-4D97-AF65-F5344CB8AC3E}">
        <p14:creationId xmlns:p14="http://schemas.microsoft.com/office/powerpoint/2010/main" val="5341824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0939D-E764-EB8D-FC09-2C69A9ABA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FBF0A-63F6-BBFB-360D-E70D9397E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6E2312-71BE-8643-B3E4-FFCD172E4F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E6495-0AAC-0F08-AE25-1DF2D2FD5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F63D4F-428E-A0C0-76FD-A6849324C961}"/>
              </a:ext>
            </a:extLst>
          </p:cNvPr>
          <p:cNvSpPr txBox="1"/>
          <p:nvPr/>
        </p:nvSpPr>
        <p:spPr>
          <a:xfrm>
            <a:off x="657224" y="1246909"/>
            <a:ext cx="814041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Execute instructions out of sequence.</a:t>
            </a:r>
          </a:p>
          <a:p>
            <a:r>
              <a:rPr lang="en-US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Types of branches: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Conditional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Branch if equal (</a:t>
            </a:r>
            <a:r>
              <a:rPr lang="en-US" sz="2000" dirty="0" err="1"/>
              <a:t>beq</a:t>
            </a:r>
            <a:r>
              <a:rPr lang="en-US" sz="2000" dirty="0"/>
              <a:t>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Branch if not equal (</a:t>
            </a:r>
            <a:r>
              <a:rPr lang="en-US" sz="2000" dirty="0" err="1"/>
              <a:t>bne</a:t>
            </a:r>
            <a:r>
              <a:rPr lang="en-US" sz="2000" dirty="0"/>
              <a:t>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Branch if less than (</a:t>
            </a:r>
            <a:r>
              <a:rPr lang="en-US" sz="2000" dirty="0" err="1"/>
              <a:t>blt</a:t>
            </a:r>
            <a:r>
              <a:rPr lang="en-US" sz="2000" dirty="0"/>
              <a:t>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Branch if greater than or equal (</a:t>
            </a:r>
            <a:r>
              <a:rPr lang="en-US" sz="2000" dirty="0" err="1"/>
              <a:t>bge</a:t>
            </a:r>
            <a:r>
              <a:rPr lang="en-US" sz="20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Unconditional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Jump (j)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Jump register (</a:t>
            </a:r>
            <a:r>
              <a:rPr lang="en-US" sz="2000" dirty="0" err="1"/>
              <a:t>jr</a:t>
            </a:r>
            <a:r>
              <a:rPr lang="en-US" sz="2000" dirty="0"/>
              <a:t>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Jump and link (</a:t>
            </a:r>
            <a:r>
              <a:rPr lang="en-US" sz="2000" dirty="0" err="1"/>
              <a:t>jal</a:t>
            </a:r>
            <a:r>
              <a:rPr lang="en-US" sz="2000" dirty="0"/>
              <a:t>)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Jump and link register (</a:t>
            </a:r>
            <a:r>
              <a:rPr lang="en-US" sz="2000" dirty="0" err="1"/>
              <a:t>jalr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465865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A2A2E-1288-B0D2-999A-A6F80F3B5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17FB0-D091-ACE3-AF4B-50C002DE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</a:t>
            </a:r>
            <a:r>
              <a:rPr lang="en-US" sz="3200" dirty="0" err="1"/>
              <a:t>beq</a:t>
            </a:r>
            <a:r>
              <a:rPr lang="en-US" sz="320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9DC26-D7D2-2C3E-7C3C-B3C5212C60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0E8166-8C0F-5A38-0C87-34A00764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6D3A3-1595-038B-B67B-944FF73D1D95}"/>
              </a:ext>
            </a:extLst>
          </p:cNvPr>
          <p:cNvSpPr txBox="1"/>
          <p:nvPr/>
        </p:nvSpPr>
        <p:spPr>
          <a:xfrm>
            <a:off x="657224" y="1246909"/>
            <a:ext cx="814041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RISC-V assembly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s0, zero, 4 		# s0 = 0 + 4 = 4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s1, zero, 1 		# s1 = 0 + 1 = 1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slli</a:t>
            </a:r>
            <a:r>
              <a:rPr lang="en-US" sz="2000" dirty="0"/>
              <a:t> s1, s1, 2 		# s1 = 1 &lt;&lt; 2 = 4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beq</a:t>
            </a:r>
            <a:r>
              <a:rPr lang="en-US" sz="2000" dirty="0"/>
              <a:t> s0, s1, target 	# branch is taken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s1, s1, 1 		# not executed </a:t>
            </a:r>
          </a:p>
          <a:p>
            <a:r>
              <a:rPr lang="en-US" sz="2000" dirty="0"/>
              <a:t>	sub s1, s1, s0 		# not executed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target: 				# label </a:t>
            </a:r>
          </a:p>
          <a:p>
            <a:r>
              <a:rPr lang="en-US" sz="2000" dirty="0"/>
              <a:t>	add s1, s1, s0 		# s1 = 4 + 4 = 8 </a:t>
            </a:r>
          </a:p>
          <a:p>
            <a:endParaRPr lang="en-US" sz="2000" dirty="0"/>
          </a:p>
          <a:p>
            <a:r>
              <a:rPr lang="en-US" sz="2000" dirty="0"/>
              <a:t>Labels indicate instruction location. They can’t be reserved words and must be followed by a colon (:)</a:t>
            </a:r>
          </a:p>
        </p:txBody>
      </p:sp>
    </p:spTree>
    <p:extLst>
      <p:ext uri="{BB962C8B-B14F-4D97-AF65-F5344CB8AC3E}">
        <p14:creationId xmlns:p14="http://schemas.microsoft.com/office/powerpoint/2010/main" val="2196855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9EEA8-9751-38E8-3512-0591DD8C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80F21-C96A-D41A-4FED-ABAE68E50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</a:t>
            </a:r>
            <a:r>
              <a:rPr lang="en-US" sz="3200" dirty="0" err="1"/>
              <a:t>bne</a:t>
            </a:r>
            <a:r>
              <a:rPr lang="en-US" sz="320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00C836-515D-A46D-E341-9E3ADF6006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DF641-87AC-7C65-722A-B33F9E22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88552B-F91E-0F02-936F-BECCAFE3F309}"/>
              </a:ext>
            </a:extLst>
          </p:cNvPr>
          <p:cNvSpPr txBox="1"/>
          <p:nvPr/>
        </p:nvSpPr>
        <p:spPr>
          <a:xfrm>
            <a:off x="657224" y="1246909"/>
            <a:ext cx="8140411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RISC-V assembly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s0, zero, 4 		# s0 = 0 + 4 = 4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s1, zero, 1 		# s1 = 0 + 1 = 1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slli</a:t>
            </a:r>
            <a:r>
              <a:rPr lang="en-US" sz="2000" dirty="0"/>
              <a:t> s1, s1, 2 		# s1 = 1 &lt;&lt; 2 = 4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bne</a:t>
            </a:r>
            <a:r>
              <a:rPr lang="en-US" sz="2000" dirty="0"/>
              <a:t> s0, s1, target 	# branch not taken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s1, s1, 1 		# s1 = 4 + 1 = 5 </a:t>
            </a:r>
          </a:p>
          <a:p>
            <a:r>
              <a:rPr lang="en-US" sz="2000" dirty="0"/>
              <a:t>	sub s1, s1, s0 		# s1 = 5 – 4 = 1 </a:t>
            </a:r>
          </a:p>
          <a:p>
            <a:endParaRPr lang="en-US" sz="2000" dirty="0"/>
          </a:p>
          <a:p>
            <a:r>
              <a:rPr lang="en-US" sz="2000" dirty="0"/>
              <a:t>target: </a:t>
            </a:r>
          </a:p>
          <a:p>
            <a:r>
              <a:rPr lang="en-US" sz="2000" dirty="0"/>
              <a:t>	add s1, s1, s0 		# s1 = 1 + 4 = 5</a:t>
            </a:r>
          </a:p>
        </p:txBody>
      </p:sp>
    </p:spTree>
    <p:extLst>
      <p:ext uri="{BB962C8B-B14F-4D97-AF65-F5344CB8AC3E}">
        <p14:creationId xmlns:p14="http://schemas.microsoft.com/office/powerpoint/2010/main" val="8346756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1273-AD74-2169-981E-19EFB5367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CB2D-C6D5-D01D-11A0-808DB8BC4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(j)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DAA31A-6371-BAC7-7742-01C879BB5A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477DE6-F960-7CC1-B77B-202FE7187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DFA324-0DA3-94BD-FF9E-F040DB98BEFC}"/>
              </a:ext>
            </a:extLst>
          </p:cNvPr>
          <p:cNvSpPr txBox="1"/>
          <p:nvPr/>
        </p:nvSpPr>
        <p:spPr>
          <a:xfrm>
            <a:off x="657224" y="1246909"/>
            <a:ext cx="81404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RISC-V assembly </a:t>
            </a:r>
          </a:p>
          <a:p>
            <a:r>
              <a:rPr lang="en-US" sz="2000" dirty="0"/>
              <a:t>	j target 			# jump to target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srai</a:t>
            </a:r>
            <a:r>
              <a:rPr lang="en-US" sz="2000" dirty="0"/>
              <a:t> s1, s1, 2 		# not executed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s1, s1, 1 		# not executed </a:t>
            </a:r>
          </a:p>
          <a:p>
            <a:r>
              <a:rPr lang="en-US" sz="2000" dirty="0"/>
              <a:t>	sub s1, s1, s0 		# not executed </a:t>
            </a:r>
          </a:p>
          <a:p>
            <a:endParaRPr lang="en-US" sz="2000" dirty="0"/>
          </a:p>
          <a:p>
            <a:r>
              <a:rPr lang="en-US" sz="2000" dirty="0"/>
              <a:t>target: </a:t>
            </a:r>
          </a:p>
          <a:p>
            <a:r>
              <a:rPr lang="en-US" sz="2000" dirty="0"/>
              <a:t>	add s1, s1, s0 		# s1 = 1 + 4 = 5</a:t>
            </a:r>
          </a:p>
        </p:txBody>
      </p:sp>
    </p:spTree>
    <p:extLst>
      <p:ext uri="{BB962C8B-B14F-4D97-AF65-F5344CB8AC3E}">
        <p14:creationId xmlns:p14="http://schemas.microsoft.com/office/powerpoint/2010/main" val="33821418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2F324-D024-F270-D1DE-136556BFE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46FF2-E19D-EACC-6558-2C1A195CB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(for loop)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B6AE5B-798D-53B7-07F9-2E5F31CF5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50F8D-5F2F-01DD-AE17-15F0559F7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993B0D-06DE-EF0F-C3E3-D2CC5B84B81E}"/>
              </a:ext>
            </a:extLst>
          </p:cNvPr>
          <p:cNvSpPr txBox="1"/>
          <p:nvPr/>
        </p:nvSpPr>
        <p:spPr>
          <a:xfrm>
            <a:off x="657224" y="1160410"/>
            <a:ext cx="814041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RISC-V assembly code </a:t>
            </a:r>
          </a:p>
          <a:p>
            <a:r>
              <a:rPr lang="en-US" sz="2000" dirty="0"/>
              <a:t>	# s0 = array base address, s1 = i </a:t>
            </a:r>
          </a:p>
          <a:p>
            <a:r>
              <a:rPr lang="en-US" sz="2000" dirty="0"/>
              <a:t>	# initialization code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lui</a:t>
            </a:r>
            <a:r>
              <a:rPr lang="en-US" sz="2000" dirty="0"/>
              <a:t> s0, 0x23B8F 		# s0 = 0x23B8F000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ori</a:t>
            </a:r>
            <a:r>
              <a:rPr lang="en-US" sz="2000" dirty="0"/>
              <a:t> s0, s0, 0x400 	# s0 = 0x23B8F400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s1, zero, 0 		# i = 0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t2, zero, 1000 	# t2 = 1000 </a:t>
            </a:r>
          </a:p>
          <a:p>
            <a:r>
              <a:rPr lang="en-US" sz="2000" dirty="0"/>
              <a:t>loop: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bge</a:t>
            </a:r>
            <a:r>
              <a:rPr lang="en-US" sz="2000" dirty="0"/>
              <a:t> s1, t2, done 	# if not then done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slli</a:t>
            </a:r>
            <a:r>
              <a:rPr lang="en-US" sz="2000" dirty="0"/>
              <a:t> t0, s1, 2 		# t0 = i * 4 (byte offset) </a:t>
            </a:r>
          </a:p>
          <a:p>
            <a:r>
              <a:rPr lang="en-US" sz="2000" dirty="0"/>
              <a:t>	add t0, t0, s0 		# address of array[i]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lw</a:t>
            </a:r>
            <a:r>
              <a:rPr lang="en-US" sz="2000" dirty="0"/>
              <a:t> t1, 0(t0) 		# t1 = array[i]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slli</a:t>
            </a:r>
            <a:r>
              <a:rPr lang="en-US" sz="2000" dirty="0"/>
              <a:t> t1, t1, 3 		# t1 = array[i] * 8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sw</a:t>
            </a:r>
            <a:r>
              <a:rPr lang="en-US" sz="2000" dirty="0"/>
              <a:t> t1, 0(t0) 		# array[i] = array[i] * 8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s1, s1, 1 		# i = i + 1 </a:t>
            </a:r>
          </a:p>
          <a:p>
            <a:r>
              <a:rPr lang="en-US" sz="2000" dirty="0"/>
              <a:t>	j loop 			# repeat </a:t>
            </a:r>
          </a:p>
          <a:p>
            <a:r>
              <a:rPr lang="en-US" sz="2000" dirty="0"/>
              <a:t>done:</a:t>
            </a:r>
          </a:p>
        </p:txBody>
      </p:sp>
    </p:spTree>
    <p:extLst>
      <p:ext uri="{BB962C8B-B14F-4D97-AF65-F5344CB8AC3E}">
        <p14:creationId xmlns:p14="http://schemas.microsoft.com/office/powerpoint/2010/main" val="31588499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C232-7E14-5754-CB8F-F04150D40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E0D2B-BD4D-3816-79A1-31469E697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</a:t>
            </a:r>
            <a:r>
              <a:rPr lang="en-US" sz="3200" dirty="0" err="1"/>
              <a:t>jal</a:t>
            </a:r>
            <a:r>
              <a:rPr lang="en-US" sz="320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3ABF41-E740-BCB9-F714-C189798D64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901B3-36BE-E985-121D-617D7DED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96A314-838E-76AD-F847-2380DB106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4" y="1228372"/>
            <a:ext cx="7589447" cy="22006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DF0A1D7-B87D-0C71-E7F3-96D4B3CD6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784" y="3866720"/>
            <a:ext cx="5701482" cy="207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574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68F09-8B96-D3C5-2F6F-6AAF878D7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B53A8-C0D6-3D3C-C254-12955FD4C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</a:t>
            </a:r>
            <a:r>
              <a:rPr lang="en-US" sz="3200" dirty="0" err="1"/>
              <a:t>jal</a:t>
            </a:r>
            <a:r>
              <a:rPr lang="en-US" sz="320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4EA97-ECA1-74CB-BC26-FB9B5CBF84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07ADB-6199-797F-E684-3F664E8E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DE3703-2068-9306-1A7E-10266304CDA0}"/>
              </a:ext>
            </a:extLst>
          </p:cNvPr>
          <p:cNvSpPr txBox="1"/>
          <p:nvPr/>
        </p:nvSpPr>
        <p:spPr>
          <a:xfrm>
            <a:off x="657224" y="1160410"/>
            <a:ext cx="814041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Conventions: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Call Function: jump and link (</a:t>
            </a:r>
            <a:r>
              <a:rPr lang="en-US" sz="2000" dirty="0" err="1"/>
              <a:t>jal</a:t>
            </a:r>
            <a:r>
              <a:rPr lang="en-US" sz="2000" dirty="0"/>
              <a:t> </a:t>
            </a:r>
            <a:r>
              <a:rPr lang="en-US" sz="2000" dirty="0" err="1"/>
              <a:t>func</a:t>
            </a:r>
            <a:r>
              <a:rPr lang="en-US" sz="20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Return from function: jump register (</a:t>
            </a:r>
            <a:r>
              <a:rPr lang="en-US" sz="2000" dirty="0" err="1"/>
              <a:t>jr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Arguments: a0 – a7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Return value: a0</a:t>
            </a:r>
          </a:p>
        </p:txBody>
      </p:sp>
    </p:spTree>
    <p:extLst>
      <p:ext uri="{BB962C8B-B14F-4D97-AF65-F5344CB8AC3E}">
        <p14:creationId xmlns:p14="http://schemas.microsoft.com/office/powerpoint/2010/main" val="42941807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BA707-52D9-A5E6-B64A-2AA4ACDB1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686F-1EC6-C3D5-597D-E965D8B44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</a:t>
            </a:r>
            <a:r>
              <a:rPr lang="en-US" sz="3200" dirty="0" err="1"/>
              <a:t>jal</a:t>
            </a:r>
            <a:r>
              <a:rPr lang="en-US" sz="320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5835CA-4D87-97FD-70B0-50B43A4EFF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5EC73-9E2B-DDF5-FDFF-E701EABA1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54F273-BF6A-FECF-1ACD-4F0668917AA1}"/>
              </a:ext>
            </a:extLst>
          </p:cNvPr>
          <p:cNvSpPr txBox="1"/>
          <p:nvPr/>
        </p:nvSpPr>
        <p:spPr>
          <a:xfrm>
            <a:off x="657224" y="1160410"/>
            <a:ext cx="8140411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 Code </a:t>
            </a:r>
          </a:p>
          <a:p>
            <a:r>
              <a:rPr lang="en-US" sz="2000" dirty="0"/>
              <a:t>int main() { </a:t>
            </a:r>
          </a:p>
          <a:p>
            <a:r>
              <a:rPr lang="en-US" sz="2000" dirty="0"/>
              <a:t>	int y; </a:t>
            </a:r>
          </a:p>
          <a:p>
            <a:r>
              <a:rPr lang="en-US" sz="2000" dirty="0"/>
              <a:t>	... </a:t>
            </a:r>
          </a:p>
          <a:p>
            <a:r>
              <a:rPr lang="en-US" sz="2000" dirty="0"/>
              <a:t>	y = </a:t>
            </a:r>
            <a:r>
              <a:rPr lang="en-US" sz="2000" dirty="0" err="1"/>
              <a:t>diffofsums</a:t>
            </a:r>
            <a:r>
              <a:rPr lang="en-US" sz="2000" dirty="0"/>
              <a:t>(2, 3, 4, 5); 	// 4 arguments </a:t>
            </a:r>
          </a:p>
          <a:p>
            <a:r>
              <a:rPr lang="en-US" sz="2000" dirty="0"/>
              <a:t>	... </a:t>
            </a:r>
          </a:p>
          <a:p>
            <a:r>
              <a:rPr lang="en-US" sz="2000" dirty="0"/>
              <a:t>} </a:t>
            </a:r>
          </a:p>
          <a:p>
            <a:endParaRPr lang="en-US" sz="2000" dirty="0"/>
          </a:p>
          <a:p>
            <a:r>
              <a:rPr lang="en-US" sz="2000" dirty="0"/>
              <a:t>int </a:t>
            </a:r>
            <a:r>
              <a:rPr lang="en-US" sz="2000" dirty="0" err="1"/>
              <a:t>diffofsums</a:t>
            </a:r>
            <a:r>
              <a:rPr lang="en-US" sz="2000" dirty="0"/>
              <a:t>(int f, int g, int h, int i) { </a:t>
            </a:r>
          </a:p>
          <a:p>
            <a:r>
              <a:rPr lang="en-US" sz="2000" dirty="0"/>
              <a:t>	int result; </a:t>
            </a:r>
          </a:p>
          <a:p>
            <a:r>
              <a:rPr lang="en-US" sz="2000" dirty="0"/>
              <a:t>	result = (f + g) - (h + i); </a:t>
            </a:r>
          </a:p>
          <a:p>
            <a:r>
              <a:rPr lang="en-US" sz="2000" dirty="0"/>
              <a:t>	return result; 			// return value 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390976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18976-0559-CFC1-CDEE-989CF362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D91EE-7FE5-8851-E50A-0AB15883F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Branches (</a:t>
            </a:r>
            <a:r>
              <a:rPr lang="en-US" sz="3200" dirty="0" err="1"/>
              <a:t>jal</a:t>
            </a:r>
            <a:r>
              <a:rPr lang="en-US" sz="3200" dirty="0"/>
              <a:t>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77751-C981-DD06-CA2B-0D9A3526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737104-7A01-E930-CC9F-9F9D073EE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8E0240-989A-379C-E55B-FF75A7F7BFC5}"/>
              </a:ext>
            </a:extLst>
          </p:cNvPr>
          <p:cNvSpPr txBox="1"/>
          <p:nvPr/>
        </p:nvSpPr>
        <p:spPr>
          <a:xfrm>
            <a:off x="657224" y="975055"/>
            <a:ext cx="814041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RISC-V assembly code </a:t>
            </a:r>
          </a:p>
          <a:p>
            <a:r>
              <a:rPr lang="en-US" sz="2000" dirty="0"/>
              <a:t># s7 = y main: </a:t>
            </a:r>
          </a:p>
          <a:p>
            <a:pPr lvl="1"/>
            <a:r>
              <a:rPr lang="en-US" sz="2000" dirty="0"/>
              <a:t>. . . </a:t>
            </a:r>
          </a:p>
          <a:p>
            <a:pPr lvl="1"/>
            <a:r>
              <a:rPr lang="en-US" sz="2000" dirty="0" err="1"/>
              <a:t>addi</a:t>
            </a:r>
            <a:r>
              <a:rPr lang="en-US" sz="2000" dirty="0"/>
              <a:t> a0, zero, 2 	# argument 0 = 2 </a:t>
            </a:r>
          </a:p>
          <a:p>
            <a:pPr lvl="1"/>
            <a:r>
              <a:rPr lang="en-US" sz="2000" dirty="0" err="1"/>
              <a:t>addi</a:t>
            </a:r>
            <a:r>
              <a:rPr lang="en-US" sz="2000" dirty="0"/>
              <a:t> a1, zero, 3 	# argument 1 = 3 </a:t>
            </a:r>
          </a:p>
          <a:p>
            <a:pPr lvl="1"/>
            <a:r>
              <a:rPr lang="en-US" sz="2000" dirty="0" err="1"/>
              <a:t>addi</a:t>
            </a:r>
            <a:r>
              <a:rPr lang="en-US" sz="2000" dirty="0"/>
              <a:t> a2, zero, 4 	# argument 2 = 4 </a:t>
            </a:r>
          </a:p>
          <a:p>
            <a:pPr lvl="1"/>
            <a:r>
              <a:rPr lang="en-US" sz="2000" dirty="0" err="1"/>
              <a:t>addi</a:t>
            </a:r>
            <a:r>
              <a:rPr lang="en-US" sz="2000" dirty="0"/>
              <a:t> a3, zero, 5 	# argument 3 = 5 </a:t>
            </a:r>
          </a:p>
          <a:p>
            <a:pPr lvl="1"/>
            <a:r>
              <a:rPr lang="en-US" sz="2000" dirty="0" err="1"/>
              <a:t>jal</a:t>
            </a:r>
            <a:r>
              <a:rPr lang="en-US" sz="2000" dirty="0"/>
              <a:t> </a:t>
            </a:r>
            <a:r>
              <a:rPr lang="en-US" sz="2000" dirty="0" err="1"/>
              <a:t>diffofsums</a:t>
            </a:r>
            <a:r>
              <a:rPr lang="en-US" sz="2000" dirty="0"/>
              <a:t> 	# call function </a:t>
            </a:r>
          </a:p>
          <a:p>
            <a:pPr lvl="1"/>
            <a:r>
              <a:rPr lang="en-US" sz="2000" dirty="0"/>
              <a:t>add s7, a0, zero 	# y = returned value </a:t>
            </a:r>
          </a:p>
          <a:p>
            <a:r>
              <a:rPr lang="en-US" sz="2000" dirty="0"/>
              <a:t>       . . . </a:t>
            </a:r>
          </a:p>
          <a:p>
            <a:r>
              <a:rPr lang="en-US" sz="2000" dirty="0"/>
              <a:t># s3 = result </a:t>
            </a:r>
          </a:p>
          <a:p>
            <a:r>
              <a:rPr lang="en-US" sz="2000" dirty="0" err="1"/>
              <a:t>diffofsums</a:t>
            </a:r>
            <a:r>
              <a:rPr lang="en-US" sz="2000" dirty="0"/>
              <a:t>: </a:t>
            </a:r>
          </a:p>
          <a:p>
            <a:pPr lvl="1"/>
            <a:r>
              <a:rPr lang="en-US" sz="2000" dirty="0"/>
              <a:t>add t0, a0, a1 	# t0 = f + g </a:t>
            </a:r>
          </a:p>
          <a:p>
            <a:pPr lvl="1"/>
            <a:r>
              <a:rPr lang="en-US" sz="2000" dirty="0"/>
              <a:t>add t1, a2, a3 	# t1 = h + i </a:t>
            </a:r>
          </a:p>
          <a:p>
            <a:pPr lvl="1"/>
            <a:r>
              <a:rPr lang="en-US" sz="2000" dirty="0"/>
              <a:t>sub s3, t0, t1 	# result = (f + g) − (h + i) </a:t>
            </a:r>
          </a:p>
          <a:p>
            <a:pPr lvl="1"/>
            <a:r>
              <a:rPr lang="en-US" sz="2000" dirty="0"/>
              <a:t>add a0, s3, zero 	# put return value in a0 </a:t>
            </a:r>
          </a:p>
          <a:p>
            <a:pPr lvl="1"/>
            <a:r>
              <a:rPr lang="en-US" sz="2000" dirty="0" err="1"/>
              <a:t>jr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		# 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18361391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8E51-7AE9-612E-2976-12981C12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CFCD9-3A70-4C1C-D4DC-1384695C8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The Stack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DDFC1-FC99-DD24-31E7-AB209353AF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AEC51-F5EA-0BF6-6FDD-BE13F925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740C9-B583-FDAB-9F64-39ED77DD441A}"/>
              </a:ext>
            </a:extLst>
          </p:cNvPr>
          <p:cNvSpPr txBox="1"/>
          <p:nvPr/>
        </p:nvSpPr>
        <p:spPr>
          <a:xfrm>
            <a:off x="657224" y="975055"/>
            <a:ext cx="814041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Memory used to temporarily save variables.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Like stack of dishes, last-</a:t>
            </a:r>
            <a:r>
              <a:rPr lang="en-US" sz="2000" dirty="0" err="1"/>
              <a:t>infirst</a:t>
            </a:r>
            <a:r>
              <a:rPr lang="en-US" sz="2000" dirty="0"/>
              <a:t>-out (LIFO) queue.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Expands: uses more memory when more space needed.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Contracts: Uses less memory when the space is no longer needed.</a:t>
            </a:r>
          </a:p>
        </p:txBody>
      </p:sp>
    </p:spTree>
    <p:extLst>
      <p:ext uri="{BB962C8B-B14F-4D97-AF65-F5344CB8AC3E}">
        <p14:creationId xmlns:p14="http://schemas.microsoft.com/office/powerpoint/2010/main" val="9501923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52AAD-EFB7-33F9-F517-9CC038079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3EEAA-9D10-F4CF-BCD8-E14CFDAE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The Stack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818FE1-4456-25F4-334A-C38EFB69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B44D3-FF79-449C-857F-AAAB8F1CB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63A680-9B87-3625-FDF7-BC13176C0364}"/>
              </a:ext>
            </a:extLst>
          </p:cNvPr>
          <p:cNvSpPr txBox="1"/>
          <p:nvPr/>
        </p:nvSpPr>
        <p:spPr>
          <a:xfrm>
            <a:off x="657224" y="975055"/>
            <a:ext cx="814041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Grows down (from higher to lower memory addresses).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Stack pointer: </a:t>
            </a:r>
            <a:r>
              <a:rPr lang="en-US" sz="2000" dirty="0" err="1"/>
              <a:t>sp</a:t>
            </a:r>
            <a:r>
              <a:rPr lang="en-US" sz="2000" dirty="0"/>
              <a:t> points to top of the stack.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87A7F-F8FB-3C4E-1DF5-FC79EEC55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93" y="2326106"/>
            <a:ext cx="6750013" cy="264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312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0535-2198-279E-0BC8-6DC5C59AF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3CE7E-497C-A095-017B-4A0F74E5D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The Stack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F7094-EE3A-800E-5D7D-3FE575A6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94DD1-FCF1-50C7-0DA3-D7C1135A5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1B456-60F3-1B16-95C6-893C845F4376}"/>
              </a:ext>
            </a:extLst>
          </p:cNvPr>
          <p:cNvSpPr txBox="1"/>
          <p:nvPr/>
        </p:nvSpPr>
        <p:spPr>
          <a:xfrm>
            <a:off x="657224" y="975055"/>
            <a:ext cx="814041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Called functions must have no unintended side effects.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But </a:t>
            </a:r>
            <a:r>
              <a:rPr lang="en-US" sz="2000" dirty="0" err="1"/>
              <a:t>diffofsums</a:t>
            </a:r>
            <a:r>
              <a:rPr lang="en-US" sz="2000" dirty="0"/>
              <a:t> overwrites 3 registers: t0, t1, s3.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# RISC-V assembly </a:t>
            </a:r>
          </a:p>
          <a:p>
            <a:r>
              <a:rPr lang="en-US" sz="2000" dirty="0"/>
              <a:t># s3 = result </a:t>
            </a:r>
          </a:p>
          <a:p>
            <a:r>
              <a:rPr lang="en-US" sz="2000" dirty="0" err="1"/>
              <a:t>diffofsums</a:t>
            </a:r>
            <a:r>
              <a:rPr lang="en-US" sz="2000" dirty="0"/>
              <a:t>: </a:t>
            </a:r>
          </a:p>
          <a:p>
            <a:r>
              <a:rPr lang="en-US" sz="2000" dirty="0"/>
              <a:t>	add </a:t>
            </a:r>
            <a:r>
              <a:rPr lang="en-US" sz="2000" b="1" dirty="0"/>
              <a:t>t0</a:t>
            </a:r>
            <a:r>
              <a:rPr lang="en-US" sz="2000" dirty="0"/>
              <a:t>, a0, a1 		# t0 = f + g </a:t>
            </a:r>
          </a:p>
          <a:p>
            <a:r>
              <a:rPr lang="en-US" sz="2000" dirty="0"/>
              <a:t>	add </a:t>
            </a:r>
            <a:r>
              <a:rPr lang="en-US" sz="2000" b="1" dirty="0"/>
              <a:t>t1</a:t>
            </a:r>
            <a:r>
              <a:rPr lang="en-US" sz="2000" dirty="0"/>
              <a:t>, a2, a3 		# t1 = h + i </a:t>
            </a:r>
          </a:p>
          <a:p>
            <a:r>
              <a:rPr lang="en-US" sz="2000" dirty="0"/>
              <a:t>	sub </a:t>
            </a:r>
            <a:r>
              <a:rPr lang="en-US" sz="2000" b="1" dirty="0"/>
              <a:t>s3</a:t>
            </a:r>
            <a:r>
              <a:rPr lang="en-US" sz="2000" dirty="0"/>
              <a:t>, t0, t1 		# result = (f + g) − (h + i) </a:t>
            </a:r>
          </a:p>
          <a:p>
            <a:r>
              <a:rPr lang="en-US" sz="2000" dirty="0"/>
              <a:t>	add </a:t>
            </a:r>
            <a:r>
              <a:rPr lang="en-US" sz="2000" b="1" dirty="0"/>
              <a:t>a0</a:t>
            </a:r>
            <a:r>
              <a:rPr lang="en-US" sz="2000" dirty="0"/>
              <a:t>, s3, zero 	# put return value in a0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jr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			# 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4287987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769B-8477-348C-ECCF-5CF932B8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65229-C9DD-31D6-742A-BD9AD8D03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The Stack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2B4D33-C423-E21D-4BA1-2BC5E11A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B52B5-467C-C9F8-5CC7-4FDE4B789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A14446-3FF1-5F37-1B8A-EF662C8FB6E0}"/>
              </a:ext>
            </a:extLst>
          </p:cNvPr>
          <p:cNvSpPr txBox="1"/>
          <p:nvPr/>
        </p:nvSpPr>
        <p:spPr>
          <a:xfrm>
            <a:off x="657224" y="975055"/>
            <a:ext cx="814041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s3 = result </a:t>
            </a:r>
          </a:p>
          <a:p>
            <a:r>
              <a:rPr lang="en-US" sz="2000" dirty="0" err="1"/>
              <a:t>diffofsums</a:t>
            </a:r>
            <a:r>
              <a:rPr lang="en-US" sz="2000" dirty="0"/>
              <a:t>: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</a:t>
            </a:r>
            <a:r>
              <a:rPr lang="en-US" sz="2000" dirty="0" err="1"/>
              <a:t>sp</a:t>
            </a:r>
            <a:r>
              <a:rPr lang="en-US" sz="2000" dirty="0"/>
              <a:t>, </a:t>
            </a:r>
            <a:r>
              <a:rPr lang="en-US" sz="2000" dirty="0" err="1"/>
              <a:t>sp</a:t>
            </a:r>
            <a:r>
              <a:rPr lang="en-US" sz="2000" dirty="0"/>
              <a:t>, -12 		# make space on stack to </a:t>
            </a:r>
          </a:p>
          <a:p>
            <a:r>
              <a:rPr lang="en-US" sz="2000" dirty="0"/>
              <a:t>				# store three registers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sw</a:t>
            </a:r>
            <a:r>
              <a:rPr lang="en-US" sz="2000" b="1" dirty="0"/>
              <a:t> s3, 8(</a:t>
            </a:r>
            <a:r>
              <a:rPr lang="en-US" sz="2000" b="1" dirty="0" err="1"/>
              <a:t>sp</a:t>
            </a:r>
            <a:r>
              <a:rPr lang="en-US" sz="2000" b="1" dirty="0"/>
              <a:t>) 		# save s3 on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sw</a:t>
            </a:r>
            <a:r>
              <a:rPr lang="en-US" sz="2000" b="1" dirty="0"/>
              <a:t> t0, 4(</a:t>
            </a:r>
            <a:r>
              <a:rPr lang="en-US" sz="2000" b="1" dirty="0" err="1"/>
              <a:t>sp</a:t>
            </a:r>
            <a:r>
              <a:rPr lang="en-US" sz="2000" b="1" dirty="0"/>
              <a:t>) 		# save t0 on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sw</a:t>
            </a:r>
            <a:r>
              <a:rPr lang="en-US" sz="2000" b="1" dirty="0"/>
              <a:t> t1, 0(</a:t>
            </a:r>
            <a:r>
              <a:rPr lang="en-US" sz="2000" b="1" dirty="0" err="1"/>
              <a:t>sp</a:t>
            </a:r>
            <a:r>
              <a:rPr lang="en-US" sz="2000" b="1" dirty="0"/>
              <a:t>) 		# save t1 on stack </a:t>
            </a:r>
          </a:p>
          <a:p>
            <a:r>
              <a:rPr lang="en-US" sz="2000" dirty="0"/>
              <a:t>	add t0, a0, a1 		# t0 = f + g </a:t>
            </a:r>
          </a:p>
          <a:p>
            <a:r>
              <a:rPr lang="en-US" sz="2000" dirty="0"/>
              <a:t>	add t1, a2, a3 		# t1 = h + i </a:t>
            </a:r>
          </a:p>
          <a:p>
            <a:r>
              <a:rPr lang="en-US" sz="2000" dirty="0"/>
              <a:t>	sub s3, t0, t1 		# result = (f + g) − (h + i) </a:t>
            </a:r>
          </a:p>
          <a:p>
            <a:r>
              <a:rPr lang="en-US" sz="2000" dirty="0"/>
              <a:t>	add a0, s3, zero 	# put return value in a0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lw</a:t>
            </a:r>
            <a:r>
              <a:rPr lang="en-US" sz="2000" b="1" dirty="0"/>
              <a:t> s3, 8(</a:t>
            </a:r>
            <a:r>
              <a:rPr lang="en-US" sz="2000" b="1" dirty="0" err="1"/>
              <a:t>sp</a:t>
            </a:r>
            <a:r>
              <a:rPr lang="en-US" sz="2000" b="1" dirty="0"/>
              <a:t>) 		# restore s3 from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lw</a:t>
            </a:r>
            <a:r>
              <a:rPr lang="en-US" sz="2000" b="1" dirty="0"/>
              <a:t> t0, 4(</a:t>
            </a:r>
            <a:r>
              <a:rPr lang="en-US" sz="2000" b="1" dirty="0" err="1"/>
              <a:t>sp</a:t>
            </a:r>
            <a:r>
              <a:rPr lang="en-US" sz="2000" b="1" dirty="0"/>
              <a:t>) 		# restore t0 from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lw</a:t>
            </a:r>
            <a:r>
              <a:rPr lang="en-US" sz="2000" b="1" dirty="0"/>
              <a:t> t1, 0(</a:t>
            </a:r>
            <a:r>
              <a:rPr lang="en-US" sz="2000" b="1" dirty="0" err="1"/>
              <a:t>sp</a:t>
            </a:r>
            <a:r>
              <a:rPr lang="en-US" sz="2000" b="1" dirty="0"/>
              <a:t>) 		# restore t1 from stack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</a:t>
            </a:r>
            <a:r>
              <a:rPr lang="en-US" sz="2000" dirty="0" err="1"/>
              <a:t>sp</a:t>
            </a:r>
            <a:r>
              <a:rPr lang="en-US" sz="2000" dirty="0"/>
              <a:t>, </a:t>
            </a:r>
            <a:r>
              <a:rPr lang="en-US" sz="2000" dirty="0" err="1"/>
              <a:t>sp</a:t>
            </a:r>
            <a:r>
              <a:rPr lang="en-US" sz="2000" dirty="0"/>
              <a:t>, 12 		# deallocate stack space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jr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			# 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27128194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C7723-5D4D-59E4-2302-85CD4B8E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8D92E-4040-D976-68FB-35F8A3118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The Stack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972326-457C-7537-E7F4-9931CE3DAC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AC38F-AD76-84DD-B42B-22EF4E87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B85C2-875C-9AEA-38E8-1C3197B03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97" y="1807981"/>
            <a:ext cx="8715606" cy="3242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175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0B756-13F2-F54B-ECC6-FC230342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DF676-F493-05B2-BD1C-D3FA71A14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RISC V Architecture: The Stack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A89BC1-4AC6-216E-7F49-2F29A9D318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" y="6573837"/>
            <a:ext cx="1080655" cy="274320"/>
          </a:xfrm>
        </p:spPr>
        <p:txBody>
          <a:bodyPr/>
          <a:lstStyle/>
          <a:p>
            <a:pPr>
              <a:defRPr/>
            </a:pPr>
            <a:fld id="{42CB018A-15B1-4C22-8FA2-A904A060C299}" type="datetime1">
              <a:rPr lang="en-US" smtClean="0"/>
              <a:pPr>
                <a:defRPr/>
              </a:pPr>
              <a:t>4/13/2026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625EB-87E7-359A-FA0C-AA4390209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A28D0-02EE-4D85-89C2-55FF3BC2206B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B3016E-718A-E437-DB2B-F2148A8F8842}"/>
              </a:ext>
            </a:extLst>
          </p:cNvPr>
          <p:cNvSpPr txBox="1"/>
          <p:nvPr/>
        </p:nvSpPr>
        <p:spPr>
          <a:xfrm>
            <a:off x="657224" y="975055"/>
            <a:ext cx="814041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# s3 = result </a:t>
            </a:r>
          </a:p>
          <a:p>
            <a:r>
              <a:rPr lang="en-US" sz="2000" dirty="0" err="1"/>
              <a:t>diffofsums</a:t>
            </a:r>
            <a:r>
              <a:rPr lang="en-US" sz="2000" dirty="0"/>
              <a:t>: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</a:t>
            </a:r>
            <a:r>
              <a:rPr lang="en-US" sz="2000" dirty="0" err="1"/>
              <a:t>sp</a:t>
            </a:r>
            <a:r>
              <a:rPr lang="en-US" sz="2000" dirty="0"/>
              <a:t>, </a:t>
            </a:r>
            <a:r>
              <a:rPr lang="en-US" sz="2000" dirty="0" err="1"/>
              <a:t>sp</a:t>
            </a:r>
            <a:r>
              <a:rPr lang="en-US" sz="2000" dirty="0"/>
              <a:t>, -12 		# make space on stack to </a:t>
            </a:r>
          </a:p>
          <a:p>
            <a:r>
              <a:rPr lang="en-US" sz="2000" dirty="0"/>
              <a:t>				# store three registers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sw</a:t>
            </a:r>
            <a:r>
              <a:rPr lang="en-US" sz="2000" b="1" dirty="0"/>
              <a:t> s3, 8(</a:t>
            </a:r>
            <a:r>
              <a:rPr lang="en-US" sz="2000" b="1" dirty="0" err="1"/>
              <a:t>sp</a:t>
            </a:r>
            <a:r>
              <a:rPr lang="en-US" sz="2000" b="1" dirty="0"/>
              <a:t>) 		# save s3 on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sw</a:t>
            </a:r>
            <a:r>
              <a:rPr lang="en-US" sz="2000" b="1" dirty="0"/>
              <a:t> t0, 4(</a:t>
            </a:r>
            <a:r>
              <a:rPr lang="en-US" sz="2000" b="1" dirty="0" err="1"/>
              <a:t>sp</a:t>
            </a:r>
            <a:r>
              <a:rPr lang="en-US" sz="2000" b="1" dirty="0"/>
              <a:t>) 		# save t0 on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sw</a:t>
            </a:r>
            <a:r>
              <a:rPr lang="en-US" sz="2000" b="1" dirty="0"/>
              <a:t> t1, 0(</a:t>
            </a:r>
            <a:r>
              <a:rPr lang="en-US" sz="2000" b="1" dirty="0" err="1"/>
              <a:t>sp</a:t>
            </a:r>
            <a:r>
              <a:rPr lang="en-US" sz="2000" b="1" dirty="0"/>
              <a:t>) 		# save t1 on stack </a:t>
            </a:r>
          </a:p>
          <a:p>
            <a:r>
              <a:rPr lang="en-US" sz="2000" dirty="0"/>
              <a:t>	add t0, a0, a1 		# t0 = f + g </a:t>
            </a:r>
          </a:p>
          <a:p>
            <a:r>
              <a:rPr lang="en-US" sz="2000" dirty="0"/>
              <a:t>	add t1, a2, a3 		# t1 = h + i </a:t>
            </a:r>
          </a:p>
          <a:p>
            <a:r>
              <a:rPr lang="en-US" sz="2000" dirty="0"/>
              <a:t>	sub s3, t0, t1 		# result = (f + g) − (h + i) </a:t>
            </a:r>
          </a:p>
          <a:p>
            <a:r>
              <a:rPr lang="en-US" sz="2000" dirty="0"/>
              <a:t>	add a0, s3, zero 	# put return value in a0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lw</a:t>
            </a:r>
            <a:r>
              <a:rPr lang="en-US" sz="2000" b="1" dirty="0"/>
              <a:t> s3, 8(</a:t>
            </a:r>
            <a:r>
              <a:rPr lang="en-US" sz="2000" b="1" dirty="0" err="1"/>
              <a:t>sp</a:t>
            </a:r>
            <a:r>
              <a:rPr lang="en-US" sz="2000" b="1" dirty="0"/>
              <a:t>) 		# restore s3 from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lw</a:t>
            </a:r>
            <a:r>
              <a:rPr lang="en-US" sz="2000" b="1" dirty="0"/>
              <a:t> t0, 4(</a:t>
            </a:r>
            <a:r>
              <a:rPr lang="en-US" sz="2000" b="1" dirty="0" err="1"/>
              <a:t>sp</a:t>
            </a:r>
            <a:r>
              <a:rPr lang="en-US" sz="2000" b="1" dirty="0"/>
              <a:t>) 		# restore t0 from stack </a:t>
            </a:r>
          </a:p>
          <a:p>
            <a:r>
              <a:rPr lang="en-US" sz="2000" b="1" dirty="0"/>
              <a:t>	</a:t>
            </a:r>
            <a:r>
              <a:rPr lang="en-US" sz="2000" b="1" dirty="0" err="1"/>
              <a:t>lw</a:t>
            </a:r>
            <a:r>
              <a:rPr lang="en-US" sz="2000" b="1" dirty="0"/>
              <a:t> t1, 0(</a:t>
            </a:r>
            <a:r>
              <a:rPr lang="en-US" sz="2000" b="1" dirty="0" err="1"/>
              <a:t>sp</a:t>
            </a:r>
            <a:r>
              <a:rPr lang="en-US" sz="2000" b="1" dirty="0"/>
              <a:t>) 		# restore t1 from stack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addi</a:t>
            </a:r>
            <a:r>
              <a:rPr lang="en-US" sz="2000" dirty="0"/>
              <a:t> </a:t>
            </a:r>
            <a:r>
              <a:rPr lang="en-US" sz="2000" dirty="0" err="1"/>
              <a:t>sp</a:t>
            </a:r>
            <a:r>
              <a:rPr lang="en-US" sz="2000" dirty="0"/>
              <a:t>, </a:t>
            </a:r>
            <a:r>
              <a:rPr lang="en-US" sz="2000" dirty="0" err="1"/>
              <a:t>sp</a:t>
            </a:r>
            <a:r>
              <a:rPr lang="en-US" sz="2000" dirty="0"/>
              <a:t>, 12 		# deallocate stack space 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jr</a:t>
            </a:r>
            <a:r>
              <a:rPr lang="en-US" sz="2000" dirty="0"/>
              <a:t> </a:t>
            </a:r>
            <a:r>
              <a:rPr lang="en-US" sz="2000" dirty="0" err="1"/>
              <a:t>ra</a:t>
            </a:r>
            <a:r>
              <a:rPr lang="en-US" sz="2000" dirty="0"/>
              <a:t> 			# return to caller</a:t>
            </a:r>
          </a:p>
        </p:txBody>
      </p:sp>
    </p:spTree>
    <p:extLst>
      <p:ext uri="{BB962C8B-B14F-4D97-AF65-F5344CB8AC3E}">
        <p14:creationId xmlns:p14="http://schemas.microsoft.com/office/powerpoint/2010/main" val="6053908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Sources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CB018A-15B1-4C22-8FA2-A904A060C299}" type="datetime1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4/13/2026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BA28D0-02EE-4D85-89C2-55FF3BC2206B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08BA3B-51BE-B3BD-400C-8DF20CBE9832}"/>
              </a:ext>
            </a:extLst>
          </p:cNvPr>
          <p:cNvSpPr txBox="1"/>
          <p:nvPr/>
        </p:nvSpPr>
        <p:spPr>
          <a:xfrm>
            <a:off x="657224" y="1165410"/>
            <a:ext cx="78485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solidFill>
                  <a:prstClr val="black"/>
                </a:solidFill>
                <a:hlinkClick r:id="rId2"/>
              </a:rPr>
              <a:t>https://www.stromasys.com/resources/breaking-down-the-features-and-architecture-of-cisc-processor/</a:t>
            </a:r>
            <a:endParaRPr lang="en-US" dirty="0">
              <a:solidFill>
                <a:prstClr val="black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Assigned Textbook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hlinkClick r:id="rId3"/>
              </a:rPr>
              <a:t>https://fiveable.me/introduction-computer-architecture/unit-3/risc-cisc-architectures/study-guide/w3HvrwVqcuP6lBNL</a:t>
            </a:r>
            <a:endParaRPr lang="en-US" altLang="en-US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lang="en-US" altLang="en-US" dirty="0">
                <a:hlinkClick r:id="rId4"/>
              </a:rPr>
              <a:t>https://pages.hmc.edu/harris/class/e85/</a:t>
            </a:r>
            <a:endParaRPr lang="en-US" altLang="en-US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marL="285750" lvl="0" indent="-285750">
              <a:buFont typeface="Arial" panose="020B0604020202020204" pitchFamily="34" charset="0"/>
              <a:buChar char="•"/>
              <a:defRPr/>
            </a:pPr>
            <a:endParaRPr lang="en-US" altLang="en-US" dirty="0"/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29658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16278</TotalTime>
  <Words>2736</Words>
  <Application>Microsoft Office PowerPoint</Application>
  <PresentationFormat>On-screen Show (4:3)</PresentationFormat>
  <Paragraphs>434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Courier New</vt:lpstr>
      <vt:lpstr>Times New Roman</vt:lpstr>
      <vt:lpstr>Wingdings</vt:lpstr>
      <vt:lpstr>2_Office Theme</vt:lpstr>
      <vt:lpstr>PowerPoint Presentation</vt:lpstr>
      <vt:lpstr>Presentation Outline</vt:lpstr>
      <vt:lpstr>RISC V Architecture: Operands</vt:lpstr>
      <vt:lpstr>RISC V Architecture: Registers</vt:lpstr>
      <vt:lpstr>RISC V Architecture: CPU Registers</vt:lpstr>
      <vt:lpstr>RISC V Architecture: Registers</vt:lpstr>
      <vt:lpstr>RISC V Architecture: Instructions with Registers</vt:lpstr>
      <vt:lpstr>RISC V Architecture: Instructions with Constants</vt:lpstr>
      <vt:lpstr>RISC V Architecture: Memory Ops</vt:lpstr>
      <vt:lpstr>RISC V Architecture: Memory Ops</vt:lpstr>
      <vt:lpstr>RISC V Architecture: Memory Ops (Word)</vt:lpstr>
      <vt:lpstr>RISC V Architecture: Memory Ops (Word)</vt:lpstr>
      <vt:lpstr>RISC V Architecture: Memory Ops (Word)</vt:lpstr>
      <vt:lpstr>RISC V Architecture: Memory Ops (Word)</vt:lpstr>
      <vt:lpstr>RISC V Architecture: Memory Ops (Byte)</vt:lpstr>
      <vt:lpstr>RISC V Architecture: Memory Ops (Byte)</vt:lpstr>
      <vt:lpstr>RISC V Architecture: Memory Ops (Byte)</vt:lpstr>
      <vt:lpstr>RISC V Architecture: 12-bit Constants</vt:lpstr>
      <vt:lpstr>RISC V Architecture: 32-bit Constants</vt:lpstr>
      <vt:lpstr>RISC V Architecture: Logical Operations</vt:lpstr>
      <vt:lpstr>RISC V Architecture: Logical Operations</vt:lpstr>
      <vt:lpstr>RISC V Architecture: Shift Instructions</vt:lpstr>
      <vt:lpstr>RISC V Architecture: Shift Instructions (IMM)</vt:lpstr>
      <vt:lpstr>RISC V Architecture: Multiplication</vt:lpstr>
      <vt:lpstr>RISC V Architecture: Division</vt:lpstr>
      <vt:lpstr>RISC V Architecture: Branches</vt:lpstr>
      <vt:lpstr>RISC V Architecture: Branches (beq)</vt:lpstr>
      <vt:lpstr>RISC V Architecture: Branches (bne)</vt:lpstr>
      <vt:lpstr>RISC V Architecture: Branches (j)</vt:lpstr>
      <vt:lpstr>RISC V Architecture: Branches (for loop)</vt:lpstr>
      <vt:lpstr>RISC V Architecture: Branches (jal)</vt:lpstr>
      <vt:lpstr>RISC V Architecture: Branches (jal)</vt:lpstr>
      <vt:lpstr>RISC V Architecture: Branches (jal)</vt:lpstr>
      <vt:lpstr>RISC V Architecture: Branches (jal)</vt:lpstr>
      <vt:lpstr>RISC V Architecture: The Stack</vt:lpstr>
      <vt:lpstr>RISC V Architecture: The Stack</vt:lpstr>
      <vt:lpstr>RISC V Architecture: The Stack</vt:lpstr>
      <vt:lpstr>RISC V Architecture: The Stack</vt:lpstr>
      <vt:lpstr>RISC V Architecture: The Stack</vt:lpstr>
      <vt:lpstr>RISC V Architecture: The Stack</vt:lpstr>
      <vt:lpstr>Sources</vt:lpstr>
    </vt:vector>
  </TitlesOfParts>
  <Manager>P3E</Manager>
  <Company>Texas Tech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P3E Presentation Template</dc:title>
  <dc:subject>P3E</dc:subject>
  <dc:creator>Kevin Lawson</dc:creator>
  <cp:lastModifiedBy>Bilbao, Argenis</cp:lastModifiedBy>
  <cp:revision>1613</cp:revision>
  <dcterms:created xsi:type="dcterms:W3CDTF">2007-11-05T15:07:41Z</dcterms:created>
  <dcterms:modified xsi:type="dcterms:W3CDTF">2026-04-13T13:38:33Z</dcterms:modified>
</cp:coreProperties>
</file>