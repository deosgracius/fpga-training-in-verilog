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16"/>
  </p:notesMasterIdLst>
  <p:handoutMasterIdLst>
    <p:handoutMasterId r:id="rId17"/>
  </p:handoutMasterIdLst>
  <p:sldIdLst>
    <p:sldId id="262" r:id="rId2"/>
    <p:sldId id="415" r:id="rId3"/>
    <p:sldId id="455" r:id="rId4"/>
    <p:sldId id="456" r:id="rId5"/>
    <p:sldId id="461" r:id="rId6"/>
    <p:sldId id="462" r:id="rId7"/>
    <p:sldId id="463" r:id="rId8"/>
    <p:sldId id="457" r:id="rId9"/>
    <p:sldId id="460" r:id="rId10"/>
    <p:sldId id="458" r:id="rId11"/>
    <p:sldId id="459" r:id="rId12"/>
    <p:sldId id="464" r:id="rId13"/>
    <p:sldId id="465" r:id="rId14"/>
    <p:sldId id="430" r:id="rId15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CBE"/>
    <a:srgbClr val="FF0000"/>
    <a:srgbClr val="66FF33"/>
    <a:srgbClr val="544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terfacebus.com/Design_PCI_Pinout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micro.com/" TargetMode="External"/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ECE4375/5375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CPU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Computer Buses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All devices are connected to the CPU bus (8-bit bus)</a:t>
            </a:r>
          </a:p>
          <a:p>
            <a:endParaRPr lang="en-US" dirty="0">
              <a:solidFill>
                <a:srgbClr val="202124"/>
              </a:solidFill>
              <a:latin typeface="+mj-lt"/>
            </a:endParaRPr>
          </a:p>
          <a:p>
            <a:r>
              <a:rPr lang="en-US" b="1" u="sng" dirty="0">
                <a:solidFill>
                  <a:srgbClr val="202124"/>
                </a:solidFill>
                <a:latin typeface="+mj-lt"/>
              </a:rPr>
              <a:t>Advantages</a:t>
            </a:r>
          </a:p>
          <a:p>
            <a:r>
              <a:rPr lang="en-US" dirty="0">
                <a:solidFill>
                  <a:srgbClr val="202124"/>
                </a:solidFill>
                <a:latin typeface="+mj-lt"/>
              </a:rPr>
              <a:t>Simplicity</a:t>
            </a:r>
          </a:p>
          <a:p>
            <a:endParaRPr lang="en-US" dirty="0">
              <a:solidFill>
                <a:srgbClr val="202124"/>
              </a:solidFill>
              <a:latin typeface="+mj-lt"/>
            </a:endParaRPr>
          </a:p>
          <a:p>
            <a:r>
              <a:rPr lang="en-US" b="1" u="sng" dirty="0">
                <a:solidFill>
                  <a:srgbClr val="202124"/>
                </a:solidFill>
                <a:latin typeface="+mj-lt"/>
              </a:rPr>
              <a:t>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High amounts of congestion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CPU is completely halted if two devices are communicating between each other (DMA, CPU with no cache)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IBM 8086 and 286 used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the same topology but with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a 16-bit bus.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ISA Bus was predominant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8088 Computer Architecture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95182" y="3964669"/>
            <a:ext cx="5091618" cy="177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66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Starting with the original Pentium, a “north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bridge was used between the CPU bus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and the rest of the buses in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32-bit CPU bus from 486 to original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Pentium</a:t>
            </a:r>
          </a:p>
          <a:p>
            <a:endParaRPr lang="en-US" dirty="0">
              <a:solidFill>
                <a:srgbClr val="202124"/>
              </a:solidFill>
              <a:latin typeface="+mj-lt"/>
            </a:endParaRPr>
          </a:p>
          <a:p>
            <a:r>
              <a:rPr lang="en-US" b="1" u="sng" dirty="0">
                <a:solidFill>
                  <a:srgbClr val="202124"/>
                </a:solidFill>
                <a:latin typeface="+mj-lt"/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Allowed for multiple buses to exist within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a computer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These busses could be using DMA to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communicate between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Theoretically unlimited number of CPUs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in the system</a:t>
            </a:r>
          </a:p>
          <a:p>
            <a:endParaRPr lang="en-US" dirty="0">
              <a:solidFill>
                <a:srgbClr val="202124"/>
              </a:solidFill>
              <a:latin typeface="+mj-lt"/>
            </a:endParaRPr>
          </a:p>
          <a:p>
            <a:r>
              <a:rPr lang="en-US" b="1" u="sng" dirty="0">
                <a:solidFill>
                  <a:srgbClr val="202124"/>
                </a:solidFill>
                <a:latin typeface="+mj-lt"/>
              </a:rPr>
              <a:t>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Obviously more complicated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Memory no longer connected directly to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Congestion in the CPU bus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More Complicated System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73917" y="1272600"/>
            <a:ext cx="3867262" cy="489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92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46473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32-bit/64-bit address and data bus</a:t>
            </a:r>
          </a:p>
          <a:p>
            <a:endParaRPr lang="en-US" dirty="0">
              <a:solidFill>
                <a:srgbClr val="202124"/>
              </a:solidFill>
              <a:latin typeface="+mj-lt"/>
            </a:endParaRPr>
          </a:p>
          <a:p>
            <a:r>
              <a:rPr lang="en-US" b="1" u="sng" dirty="0">
                <a:solidFill>
                  <a:srgbClr val="202124"/>
                </a:solidFill>
                <a:latin typeface="+mj-lt"/>
              </a:rPr>
              <a:t>Advantages over ISA 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Increased bandwidth from 16Mb/s to 1067Mb/s for base version to 8.5 Gb/s for PCI-X 133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Platform independent bus (also used in Apple systems and others)</a:t>
            </a:r>
          </a:p>
          <a:p>
            <a:endParaRPr lang="en-US" dirty="0">
              <a:solidFill>
                <a:srgbClr val="202124"/>
              </a:solidFill>
              <a:latin typeface="+mj-lt"/>
            </a:endParaRPr>
          </a:p>
          <a:p>
            <a:r>
              <a:rPr lang="en-US" b="1" u="sng" dirty="0">
                <a:solidFill>
                  <a:srgbClr val="202124"/>
                </a:solidFill>
                <a:latin typeface="+mj-lt"/>
              </a:rPr>
              <a:t>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Still uses a shared bus so only two devices can communicate at the same time if on the same bus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PCI Bus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" name="Picture 6" descr="A close-up of a circuit board&#10;&#10;Description automatically generated with medium confidence">
            <a:extLst>
              <a:ext uri="{FF2B5EF4-FFF2-40B4-BE49-F238E27FC236}">
                <a16:creationId xmlns:a16="http://schemas.microsoft.com/office/drawing/2014/main" id="{8AA466D6-F0F8-E856-A480-624E21AAEE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917" y="3858486"/>
            <a:ext cx="3899139" cy="247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2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PCI Bus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B26BE104-B585-88A3-2002-B67BD7084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07" y="1325727"/>
            <a:ext cx="7806586" cy="474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79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PCI Bus Pins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4C7CE-3C63-530E-7768-6D2456DE222E}"/>
              </a:ext>
            </a:extLst>
          </p:cNvPr>
          <p:cNvSpPr txBox="1"/>
          <p:nvPr/>
        </p:nvSpPr>
        <p:spPr>
          <a:xfrm>
            <a:off x="2277374" y="3148967"/>
            <a:ext cx="4589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http://www.interfacebus.com/Design_PCI_Pinout.html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55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64-bit CPU bus from Pentium 4 to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Still was plagued by the same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“bottlenecking” issue as machines 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before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Manufacturers tried to remedy the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problem by increasing FSB speed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and increasing the number of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memory channels in server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Enough is enough!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 Even More Complicated System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71576" y="1233580"/>
            <a:ext cx="4629905" cy="511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119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 Even More Complicated System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39020" y="1038796"/>
            <a:ext cx="5960853" cy="537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58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Systems We Enjoy Today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93698" y="1058860"/>
            <a:ext cx="5607784" cy="543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35466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4</a:t>
            </a:r>
            <a:r>
              <a:rPr lang="en-US" baseline="30000" dirty="0">
                <a:solidFill>
                  <a:srgbClr val="202124"/>
                </a:solidFill>
                <a:latin typeface="+mj-lt"/>
              </a:rPr>
              <a:t>th</a:t>
            </a:r>
            <a:r>
              <a:rPr lang="en-US" dirty="0">
                <a:solidFill>
                  <a:srgbClr val="202124"/>
                </a:solidFill>
                <a:latin typeface="+mj-lt"/>
              </a:rPr>
              <a:t> Generation Xeon Scalable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No north bridge!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Memory directly attached to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the CPU (internal memory</a:t>
            </a:r>
            <a:br>
              <a:rPr lang="en-US" dirty="0">
                <a:solidFill>
                  <a:srgbClr val="202124"/>
                </a:solidFill>
                <a:latin typeface="+mj-lt"/>
              </a:rPr>
            </a:br>
            <a:r>
              <a:rPr lang="en-US" dirty="0">
                <a:solidFill>
                  <a:srgbClr val="202124"/>
                </a:solidFill>
                <a:latin typeface="+mj-lt"/>
              </a:rPr>
              <a:t>controller)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Ultra path interconnect (UPI) between CPUs to allow other CPUs to access the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UPI also used to keep cache coherency between CPUs</a:t>
            </a:r>
          </a:p>
        </p:txBody>
      </p:sp>
    </p:spTree>
    <p:extLst>
      <p:ext uri="{BB962C8B-B14F-4D97-AF65-F5344CB8AC3E}">
        <p14:creationId xmlns:p14="http://schemas.microsoft.com/office/powerpoint/2010/main" val="146469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Systems We Enjoy Today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70703" y="1058860"/>
            <a:ext cx="4178940" cy="543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337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PCIe Bus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2FDEF2-FBB3-8057-631D-BDFD8061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19352" y="1269808"/>
            <a:ext cx="4761102" cy="4951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354668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Version 1.x: 2.5 GT/s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x1: 250 MB/s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x16: 4 GB/s</a:t>
            </a:r>
          </a:p>
          <a:p>
            <a:endParaRPr lang="en-US" sz="1200" dirty="0">
              <a:solidFill>
                <a:srgbClr val="202124"/>
              </a:solidFill>
              <a:latin typeface="+mj-lt"/>
            </a:endParaRP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Version 2.x: 5 GT/s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x1: 500 MB/s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x16: 8 GB/s</a:t>
            </a:r>
          </a:p>
          <a:p>
            <a:endParaRPr lang="en-US" sz="1200" dirty="0">
              <a:solidFill>
                <a:srgbClr val="202124"/>
              </a:solidFill>
              <a:latin typeface="+mj-lt"/>
            </a:endParaRP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Version 3.x: 8 GT/s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x1: 985 MB/s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x16: 15.75 GB/s</a:t>
            </a:r>
          </a:p>
          <a:p>
            <a:endParaRPr lang="en-US" sz="1200" dirty="0">
              <a:solidFill>
                <a:srgbClr val="202124"/>
              </a:solidFill>
              <a:latin typeface="+mj-lt"/>
            </a:endParaRP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Version 4.0: 16 GT/s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x1: 1.97 GB/s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x16: 31.5 GB/s</a:t>
            </a:r>
          </a:p>
          <a:p>
            <a:endParaRPr lang="en-US" sz="1200" dirty="0">
              <a:solidFill>
                <a:srgbClr val="202124"/>
              </a:solidFill>
              <a:latin typeface="+mj-lt"/>
            </a:endParaRP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Version 5.0: 32 GT/s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x1: 3.94 GB/s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x16: 63 GB/s</a:t>
            </a:r>
          </a:p>
          <a:p>
            <a:endParaRPr lang="en-US" sz="1200" dirty="0">
              <a:solidFill>
                <a:srgbClr val="202124"/>
              </a:solidFill>
              <a:latin typeface="+mj-lt"/>
            </a:endParaRP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Version 6.0: 64 GT/s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x1: 7.56 GB/s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x16: 121 GB/s</a:t>
            </a:r>
          </a:p>
          <a:p>
            <a:endParaRPr lang="en-US" sz="1200" dirty="0">
              <a:solidFill>
                <a:srgbClr val="202124"/>
              </a:solidFill>
              <a:latin typeface="+mj-lt"/>
            </a:endParaRP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Version 7.0: 128 GT/s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x1: 15.13 GB/s</a:t>
            </a:r>
          </a:p>
          <a:p>
            <a:r>
              <a:rPr lang="en-US" sz="1200" dirty="0">
                <a:solidFill>
                  <a:srgbClr val="202124"/>
                </a:solidFill>
                <a:latin typeface="+mj-lt"/>
              </a:rPr>
              <a:t>x16: 242 GB/s</a:t>
            </a:r>
          </a:p>
        </p:txBody>
      </p:sp>
    </p:spTree>
    <p:extLst>
      <p:ext uri="{BB962C8B-B14F-4D97-AF65-F5344CB8AC3E}">
        <p14:creationId xmlns:p14="http://schemas.microsoft.com/office/powerpoint/2010/main" val="2163869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PCIe 1x Slot Pins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07BF6A-B17F-B7ED-02DA-4F7AAC133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996522"/>
              </p:ext>
            </p:extLst>
          </p:nvPr>
        </p:nvGraphicFramePr>
        <p:xfrm>
          <a:off x="547077" y="1043797"/>
          <a:ext cx="3633130" cy="5172674"/>
        </p:xfrm>
        <a:graphic>
          <a:graphicData uri="http://schemas.openxmlformats.org/drawingml/2006/table">
            <a:tbl>
              <a:tblPr/>
              <a:tblGrid>
                <a:gridCol w="726626">
                  <a:extLst>
                    <a:ext uri="{9D8B030D-6E8A-4147-A177-3AD203B41FA5}">
                      <a16:colId xmlns:a16="http://schemas.microsoft.com/office/drawing/2014/main" val="1559613388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1231409005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1533662865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3329502481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1049592526"/>
                    </a:ext>
                  </a:extLst>
                </a:gridCol>
              </a:tblGrid>
              <a:tr h="181922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Pin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Side B Connector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Side A Connector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819028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#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362890"/>
                  </a:ext>
                </a:extLst>
              </a:tr>
              <a:tr h="397879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+12v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PRSNT#1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Hot plug presence detect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570612"/>
                  </a:ext>
                </a:extLst>
              </a:tr>
              <a:tr h="28990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+12v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+12v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521941"/>
                  </a:ext>
                </a:extLst>
              </a:tr>
              <a:tr h="28990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+12v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+12v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+12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82342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438433"/>
                  </a:ext>
                </a:extLst>
              </a:tr>
              <a:tr h="28990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SMCLK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SMBus clock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JTAG2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TCK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680601"/>
                  </a:ext>
                </a:extLst>
              </a:tr>
              <a:tr h="28990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SMDAT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SMBus data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JTAG3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TDI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15293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JTAG4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TDO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300443"/>
                  </a:ext>
                </a:extLst>
              </a:tr>
              <a:tr h="28990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+3.3v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+3.3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JTAG5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TMS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183693"/>
                  </a:ext>
                </a:extLst>
              </a:tr>
              <a:tr h="28990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JTAG1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+TRST#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+3.3v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+3.3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3410"/>
                  </a:ext>
                </a:extLst>
              </a:tr>
              <a:tr h="289901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3.3Vaux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3.3v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+3.3v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+3.3 volt power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894992"/>
                  </a:ext>
                </a:extLst>
              </a:tr>
              <a:tr h="505858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WAKE#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Link Reactivation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PERST#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PCI-Express Reset signal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42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66F130-A337-3596-BAB2-761DD41BB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506346"/>
              </p:ext>
            </p:extLst>
          </p:nvPr>
        </p:nvGraphicFramePr>
        <p:xfrm>
          <a:off x="4872695" y="2678502"/>
          <a:ext cx="3633130" cy="2387388"/>
        </p:xfrm>
        <a:graphic>
          <a:graphicData uri="http://schemas.openxmlformats.org/drawingml/2006/table">
            <a:tbl>
              <a:tblPr/>
              <a:tblGrid>
                <a:gridCol w="726626">
                  <a:extLst>
                    <a:ext uri="{9D8B030D-6E8A-4147-A177-3AD203B41FA5}">
                      <a16:colId xmlns:a16="http://schemas.microsoft.com/office/drawing/2014/main" val="1237619401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932468790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1254220574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3619088341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668583805"/>
                    </a:ext>
                  </a:extLst>
                </a:gridCol>
              </a:tblGrid>
              <a:tr h="181922">
                <a:tc gridSpan="5">
                  <a:txBody>
                    <a:bodyPr/>
                    <a:lstStyle/>
                    <a:p>
                      <a:r>
                        <a:rPr lang="en-US" sz="1100" b="1" dirty="0">
                          <a:effectLst/>
                          <a:latin typeface="+mj-lt"/>
                        </a:rPr>
                        <a:t>Mechanical Key</a:t>
                      </a:r>
                      <a:endParaRPr lang="en-US" sz="1100" dirty="0">
                        <a:effectLst/>
                        <a:latin typeface="+mj-lt"/>
                      </a:endParaRP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279259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RSVD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Reserved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13422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REFCLK+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Reference Clock</a:t>
                      </a:r>
                      <a:br>
                        <a:rPr lang="en-US" sz="1100">
                          <a:effectLst/>
                          <a:latin typeface="+mj-lt"/>
                        </a:rPr>
                      </a:br>
                      <a:r>
                        <a:rPr lang="en-US" sz="1100">
                          <a:effectLst/>
                          <a:latin typeface="+mj-lt"/>
                        </a:rPr>
                        <a:t>Differential pair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315813"/>
                  </a:ext>
                </a:extLst>
              </a:tr>
              <a:tr h="323936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HSOp(0)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Transmitter Lane 0,</a:t>
                      </a:r>
                      <a:br>
                        <a:rPr lang="en-US" sz="1100">
                          <a:effectLst/>
                          <a:latin typeface="+mj-lt"/>
                        </a:rPr>
                      </a:br>
                      <a:r>
                        <a:rPr lang="en-US" sz="1100">
                          <a:effectLst/>
                          <a:latin typeface="+mj-lt"/>
                        </a:rPr>
                        <a:t>Differential pair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REFCLK-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011604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HSOn(0)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13004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HSIp(0)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Receiver Lane 0,</a:t>
                      </a:r>
                      <a:br>
                        <a:rPr lang="en-US" sz="1100">
                          <a:effectLst/>
                          <a:latin typeface="+mj-lt"/>
                        </a:rPr>
                      </a:br>
                      <a:r>
                        <a:rPr lang="en-US" sz="1100">
                          <a:effectLst/>
                          <a:latin typeface="+mj-lt"/>
                        </a:rPr>
                        <a:t>Differential pair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053676"/>
                  </a:ext>
                </a:extLst>
              </a:tr>
              <a:tr h="323936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PRSNT#2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Hotplug detect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  <a:latin typeface="+mj-lt"/>
                        </a:rPr>
                        <a:t>HSIn(0)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76832"/>
                  </a:ext>
                </a:extLst>
              </a:tr>
              <a:tr h="181922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GND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  <a:latin typeface="+mj-lt"/>
                        </a:rPr>
                        <a:t>Ground</a:t>
                      </a:r>
                    </a:p>
                  </a:txBody>
                  <a:tcPr marL="15654" marR="15654" marT="31309" marB="31309" anchor="ctr">
                    <a:lnL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7027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A56D985A-950E-367A-A5FB-E51740335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554" y="1678557"/>
            <a:ext cx="3200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921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1/23/2026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http://www.eecs.harvard.edu/cs146-246/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3"/>
              </a:rPr>
              <a:t>https://www.supermicro.com/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15636</TotalTime>
  <Words>756</Words>
  <Application>Microsoft Office PowerPoint</Application>
  <PresentationFormat>On-screen Show (4:3)</PresentationFormat>
  <Paragraphs>231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2_Office Theme</vt:lpstr>
      <vt:lpstr>PowerPoint Presentation</vt:lpstr>
      <vt:lpstr>Presentation Outline</vt:lpstr>
      <vt:lpstr>The 8088 Computer Architecture</vt:lpstr>
      <vt:lpstr>A More Complicated System</vt:lpstr>
      <vt:lpstr>The PCI Bus</vt:lpstr>
      <vt:lpstr>The PCI Bus</vt:lpstr>
      <vt:lpstr>The PCI Bus Pins</vt:lpstr>
      <vt:lpstr>An Even More Complicated System</vt:lpstr>
      <vt:lpstr>An Even More Complicated System</vt:lpstr>
      <vt:lpstr>Systems We Enjoy Today</vt:lpstr>
      <vt:lpstr>Systems We Enjoy Today</vt:lpstr>
      <vt:lpstr>PCIe Bus</vt:lpstr>
      <vt:lpstr>PCIe 1x Slot Pins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Argenis Bilbao</cp:lastModifiedBy>
  <cp:revision>1486</cp:revision>
  <dcterms:created xsi:type="dcterms:W3CDTF">2007-11-05T15:07:41Z</dcterms:created>
  <dcterms:modified xsi:type="dcterms:W3CDTF">2026-01-23T15:55:42Z</dcterms:modified>
</cp:coreProperties>
</file>