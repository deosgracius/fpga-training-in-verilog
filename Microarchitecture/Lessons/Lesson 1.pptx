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1">
  <p:sldMasterIdLst>
    <p:sldMasterId id="2147483833" r:id="rId1"/>
  </p:sldMasterIdLst>
  <p:notesMasterIdLst>
    <p:notesMasterId r:id="rId19"/>
  </p:notesMasterIdLst>
  <p:handoutMasterIdLst>
    <p:handoutMasterId r:id="rId20"/>
  </p:handoutMasterIdLst>
  <p:sldIdLst>
    <p:sldId id="262" r:id="rId2"/>
    <p:sldId id="415" r:id="rId3"/>
    <p:sldId id="416" r:id="rId4"/>
    <p:sldId id="417" r:id="rId5"/>
    <p:sldId id="418" r:id="rId6"/>
    <p:sldId id="419" r:id="rId7"/>
    <p:sldId id="420" r:id="rId8"/>
    <p:sldId id="421" r:id="rId9"/>
    <p:sldId id="422" r:id="rId10"/>
    <p:sldId id="426" r:id="rId11"/>
    <p:sldId id="423" r:id="rId12"/>
    <p:sldId id="427" r:id="rId13"/>
    <p:sldId id="428" r:id="rId14"/>
    <p:sldId id="429" r:id="rId15"/>
    <p:sldId id="424" r:id="rId16"/>
    <p:sldId id="425" r:id="rId17"/>
    <p:sldId id="430" r:id="rId18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FF33"/>
    <a:srgbClr val="5449E1"/>
    <a:srgbClr val="210C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9548" autoAdjust="0"/>
  </p:normalViewPr>
  <p:slideViewPr>
    <p:cSldViewPr snapToGrid="0">
      <p:cViewPr varScale="1">
        <p:scale>
          <a:sx n="52" d="100"/>
          <a:sy n="52" d="100"/>
        </p:scale>
        <p:origin x="16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85" d="100"/>
          <a:sy n="85" d="100"/>
        </p:scale>
        <p:origin x="-3786" y="-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84709DF-3BD8-402F-80E3-8C612EC5F261}" type="datetimeFigureOut">
              <a:rPr lang="en-US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F4709C4-D4EF-4A59-93AC-CDE74B2DB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17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E4D6C9-0F27-4334-9BAD-4BF9A16E0770}" type="datetimeFigureOut">
              <a:rPr lang="en-US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767"/>
            <a:ext cx="5608320" cy="415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5158B6-2379-4B93-B466-8093E86C68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5300"/>
            <a:ext cx="6400800" cy="7715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91368"/>
            <a:ext cx="7848600" cy="731519"/>
          </a:xfrm>
        </p:spPr>
        <p:txBody>
          <a:bodyPr>
            <a:normAutofit/>
          </a:bodyPr>
          <a:lstStyle>
            <a:lvl1pPr>
              <a:defRPr sz="4000" b="1" kern="3000" spc="-1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97"/>
          <a:stretch/>
        </p:blipFill>
        <p:spPr>
          <a:xfrm>
            <a:off x="87410" y="82255"/>
            <a:ext cx="512666" cy="74974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0" y="981075"/>
            <a:ext cx="0" cy="545782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77042" y="3543300"/>
            <a:ext cx="8989916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161925" y="981075"/>
            <a:ext cx="4257675" cy="2438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7313" y="3709988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4734671" y="3709987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734671" y="981075"/>
            <a:ext cx="4332287" cy="242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  <p:extLst>
      <p:ext uri="{BB962C8B-B14F-4D97-AF65-F5344CB8AC3E}">
        <p14:creationId xmlns:p14="http://schemas.microsoft.com/office/powerpoint/2010/main" val="16135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78486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373063" y="6591300"/>
            <a:ext cx="1752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5C08211-4AFA-4DCC-83B4-664F54295857}" type="datetime1">
              <a:rPr lang="en-US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6913" y="6591300"/>
            <a:ext cx="278288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2950" y="6551613"/>
            <a:ext cx="205105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77A210C-9675-4AF8-BB4A-75C22F228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ecs.harvard.edu/cs146-246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03672"/>
            <a:ext cx="731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Architecture ECE4375/5375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Argenis Bilbao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01435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Course Outline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will you learn?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Computer architecture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Memories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I/O busses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 processor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Microprocessor architecture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Past CPU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RISC/CISC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Pipelines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Caches</a:t>
            </a:r>
          </a:p>
        </p:txBody>
      </p:sp>
    </p:spTree>
    <p:extLst>
      <p:ext uri="{BB962C8B-B14F-4D97-AF65-F5344CB8AC3E}">
        <p14:creationId xmlns:p14="http://schemas.microsoft.com/office/powerpoint/2010/main" val="388782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Expectations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Homeworks</a:t>
            </a:r>
            <a:r>
              <a:rPr lang="en-US" dirty="0"/>
              <a:t>/Quizzes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EXAMS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Project-based grading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Projects mostly. Final 30% of grade.</a:t>
            </a:r>
          </a:p>
        </p:txBody>
      </p:sp>
    </p:spTree>
    <p:extLst>
      <p:ext uri="{BB962C8B-B14F-4D97-AF65-F5344CB8AC3E}">
        <p14:creationId xmlns:p14="http://schemas.microsoft.com/office/powerpoint/2010/main" val="3337337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Impact Areas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407457"/>
            <a:ext cx="78485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General-Purpose Laptop/Desktop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Productivity, interactive graphics, video, audio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Price-performance optimization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Intel 386, Pentium, Core i7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Embedded Computers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PDAs, cell-phones, sensors =&gt; Price, Energy efficiency, 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Intel </a:t>
            </a:r>
            <a:r>
              <a:rPr lang="en-US" dirty="0" err="1"/>
              <a:t>XScale</a:t>
            </a:r>
            <a:r>
              <a:rPr lang="en-US" dirty="0"/>
              <a:t>, </a:t>
            </a:r>
            <a:r>
              <a:rPr lang="en-US" dirty="0" err="1"/>
              <a:t>StrongARM</a:t>
            </a:r>
            <a:r>
              <a:rPr lang="en-US" dirty="0"/>
              <a:t>, Snapdragon, </a:t>
            </a:r>
            <a:r>
              <a:rPr lang="en-US" dirty="0" err="1"/>
              <a:t>Helio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Game Machines, Network </a:t>
            </a:r>
            <a:r>
              <a:rPr lang="en-US" dirty="0" err="1"/>
              <a:t>uPs</a:t>
            </a:r>
            <a:r>
              <a:rPr lang="en-US" dirty="0"/>
              <a:t> =&gt; Price-Performance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Sony Emotion Engine (PS2), IBM 750FX (Game Cube), Cell (PS3)</a:t>
            </a:r>
          </a:p>
        </p:txBody>
      </p:sp>
    </p:spTree>
    <p:extLst>
      <p:ext uri="{BB962C8B-B14F-4D97-AF65-F5344CB8AC3E}">
        <p14:creationId xmlns:p14="http://schemas.microsoft.com/office/powerpoint/2010/main" val="22270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Impact Areas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407457"/>
            <a:ext cx="78485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Commercial 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Database, transaction processing, search engines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Performance, Availability, Scalability, Power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Server downtime could cost a brokerage company more than $6M/hour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Sun Fire 15K, IBM p690, Google Cluster, AWS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Scientific Applications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Protein Folding, Weather Modeling, </a:t>
            </a:r>
            <a:r>
              <a:rPr lang="en-US" dirty="0" err="1"/>
              <a:t>CompBio</a:t>
            </a:r>
            <a:r>
              <a:rPr lang="en-US" dirty="0"/>
              <a:t>, Defense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Floating-point arithmetic, Huge Memories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IBM </a:t>
            </a:r>
            <a:r>
              <a:rPr lang="en-US" dirty="0" err="1"/>
              <a:t>DeepBlue</a:t>
            </a:r>
            <a:r>
              <a:rPr lang="en-US" dirty="0"/>
              <a:t>, </a:t>
            </a:r>
            <a:r>
              <a:rPr lang="en-US" dirty="0" err="1"/>
              <a:t>BlueGene</a:t>
            </a:r>
            <a:r>
              <a:rPr lang="en-US" dirty="0"/>
              <a:t>, Cray, etc.</a:t>
            </a:r>
          </a:p>
        </p:txBody>
      </p:sp>
    </p:spTree>
    <p:extLst>
      <p:ext uri="{BB962C8B-B14F-4D97-AF65-F5344CB8AC3E}">
        <p14:creationId xmlns:p14="http://schemas.microsoft.com/office/powerpoint/2010/main" val="1469725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Software Trends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407457"/>
            <a:ext cx="78485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longer just C and FORTRAN (Fortran still popular for numerical mathematics)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Oriented Programming (OOP)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 / Python / Rust /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now using hardware-based features to assist with security (TPM, AES,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Middleware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Layer between app and hardware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to minimize complexity</a:t>
            </a:r>
          </a:p>
        </p:txBody>
      </p:sp>
    </p:spTree>
    <p:extLst>
      <p:ext uri="{BB962C8B-B14F-4D97-AF65-F5344CB8AC3E}">
        <p14:creationId xmlns:p14="http://schemas.microsoft.com/office/powerpoint/2010/main" val="269392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Moore’s Law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407457"/>
            <a:ext cx="78485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year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Feature size decrease by 0.7x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Number of transistors in a die increase by 2x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Speed increases by 1.35x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are reaching the physical limits!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149274-D6B9-5DC8-1C20-5B6349E0C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915" y="3653118"/>
            <a:ext cx="5389890" cy="2701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4CFE11-0F5A-DF9F-EAFA-3F738F17D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07" y="4240305"/>
            <a:ext cx="3530685" cy="199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45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Moore’s Law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Architectural Innovations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Massive pipelining (good and bad!)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Huge caches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Branch Prediction, Register Renaming, Speculation (hardware/software versions of all of these)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Circuit Innovations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New logic circuit families (dynamic logic)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Better CAD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Advanced computer arithmetic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A36FB7-7325-B9E2-73B2-18784E61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892" y="4061011"/>
            <a:ext cx="4055989" cy="24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0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Dealing With Complexity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an architect, our main job is to deal with tradeoffs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Performance, Power, Die Size, Complexity, Applications Support, Functionality, Compatibility, Reliability,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Technology trends, applications… How do we deal with all of this to make real tradeoffs?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Abstractions allow this to happen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is on metrics of these abstractions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Performance, Cost, Availability, Power</a:t>
            </a:r>
          </a:p>
        </p:txBody>
      </p:sp>
    </p:spTree>
    <p:extLst>
      <p:ext uri="{BB962C8B-B14F-4D97-AF65-F5344CB8AC3E}">
        <p14:creationId xmlns:p14="http://schemas.microsoft.com/office/powerpoint/2010/main" val="124611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Metrics: Performance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Response/Execution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between start and completion of an event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 Throughput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Total amount of work in a given amount of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Execution Time is reciprocal of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“X is N times faster than 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N=Execution </a:t>
            </a:r>
            <a:r>
              <a:rPr lang="en-US" dirty="0" err="1"/>
              <a:t>TimeY</a:t>
            </a:r>
            <a:r>
              <a:rPr lang="en-US" dirty="0"/>
              <a:t>/Execution </a:t>
            </a:r>
            <a:r>
              <a:rPr lang="en-US" dirty="0" err="1"/>
              <a:t>TimeX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Wall-Clock Time, CPU time (no I/O)</a:t>
            </a:r>
          </a:p>
        </p:txBody>
      </p:sp>
    </p:spTree>
    <p:extLst>
      <p:ext uri="{BB962C8B-B14F-4D97-AF65-F5344CB8AC3E}">
        <p14:creationId xmlns:p14="http://schemas.microsoft.com/office/powerpoint/2010/main" val="4260473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Metrics: Performance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Execution Time is often what we target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Throughput (tasks/sec) vs. latency (sec/task)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do we test systems? Benchmarks (best to worse)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What the customer cares about, real applications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Representative programs (SPEC, SYSMARK,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Kernels: Code fragments from real programs (</a:t>
            </a:r>
            <a:r>
              <a:rPr lang="en-US" dirty="0" err="1"/>
              <a:t>Linpack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Toy Programs: Sieve, Quicksort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Synthetic Programs: Just a representative instruction mix (</a:t>
            </a:r>
            <a:r>
              <a:rPr lang="en-US" dirty="0" err="1"/>
              <a:t>Whetsone</a:t>
            </a:r>
            <a:r>
              <a:rPr lang="en-US" dirty="0"/>
              <a:t>, Dhrystone)</a:t>
            </a:r>
          </a:p>
        </p:txBody>
      </p:sp>
    </p:spTree>
    <p:extLst>
      <p:ext uri="{BB962C8B-B14F-4D97-AF65-F5344CB8AC3E}">
        <p14:creationId xmlns:p14="http://schemas.microsoft.com/office/powerpoint/2010/main" val="725451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Metrics: Performance (MIPS)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MIPS  = instruction count/(execution time x 10</a:t>
            </a:r>
            <a:r>
              <a:rPr lang="en-US" baseline="30000" dirty="0"/>
              <a:t>6</a:t>
            </a:r>
            <a:r>
              <a:rPr lang="en-US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Problems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ISAs are not equivalent, e.g. RISC vs. CISC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1 CISC instruction may equal many RISC!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Programs use different instruction mixes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May be ok when comparing same benchmarks, same ISA, same compiler, same OS</a:t>
            </a:r>
          </a:p>
        </p:txBody>
      </p:sp>
    </p:spTree>
    <p:extLst>
      <p:ext uri="{BB962C8B-B14F-4D97-AF65-F5344CB8AC3E}">
        <p14:creationId xmlns:p14="http://schemas.microsoft.com/office/powerpoint/2010/main" val="1202833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Metrics: Performance (MFLOPs)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as MIPS, just floating-point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useful either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FP-intensive apps needed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Traditionally, FP ops were slow, INT can be ignored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However, </a:t>
            </a:r>
            <a:r>
              <a:rPr lang="en-US" dirty="0"/>
              <a:t>now memory ops can be the slowest!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“Peak MFLOPs” is a common marketing fallacy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Basically, it just says #FP-pipes X Clock Rate</a:t>
            </a:r>
          </a:p>
        </p:txBody>
      </p:sp>
    </p:spTree>
    <p:extLst>
      <p:ext uri="{BB962C8B-B14F-4D97-AF65-F5344CB8AC3E}">
        <p14:creationId xmlns:p14="http://schemas.microsoft.com/office/powerpoint/2010/main" val="40147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Metrics: Performance (GHz)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this a metric? Maybe as good as the others…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number, no benchmarks, what can be better?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designs are frequency driven</a:t>
            </a:r>
          </a:p>
        </p:txBody>
      </p:sp>
    </p:spTree>
    <p:extLst>
      <p:ext uri="{BB962C8B-B14F-4D97-AF65-F5344CB8AC3E}">
        <p14:creationId xmlns:p14="http://schemas.microsoft.com/office/powerpoint/2010/main" val="1423419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Metrics: Availability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Availability: Fraction of Time a system is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servers, may be as important as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Time Between Failures (MTBF)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Period that a system is usable (on average)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Typically, 500,000 hours for a PC Hard drive, much worse for SSDs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Time to Repair (MTRR)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Recovery time from a failure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Should approach 0 for a big server (redundancy)</a:t>
            </a:r>
          </a:p>
        </p:txBody>
      </p:sp>
      <p:pic>
        <p:nvPicPr>
          <p:cNvPr id="1026" name="Picture 2" descr="Optane SSD 905p right angle view">
            <a:extLst>
              <a:ext uri="{FF2B5EF4-FFF2-40B4-BE49-F238E27FC236}">
                <a16:creationId xmlns:a16="http://schemas.microsoft.com/office/drawing/2014/main" id="{ACB7DA5A-92C0-B253-051D-B87A71B49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5482" y="4193037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623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Metrics: Power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all understand why energy is important for embedded CPUs…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High-end Server: ~130-470W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High-end Desktop: ~70-170W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High-end Laptop: ~60W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Battery-Optimized Laptop: ~3-10W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Embedded CPUs: ~.5-8W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DSP: ~100mW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Microcontrollers: ~10mW</a:t>
            </a:r>
          </a:p>
        </p:txBody>
      </p:sp>
    </p:spTree>
    <p:extLst>
      <p:ext uri="{BB962C8B-B14F-4D97-AF65-F5344CB8AC3E}">
        <p14:creationId xmlns:p14="http://schemas.microsoft.com/office/powerpoint/2010/main" val="212952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http://www.eecs.harvard.edu/cs146-246/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Assigned Textbook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Wikipedia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https://www.google.com/</a:t>
            </a:r>
          </a:p>
        </p:txBody>
      </p:sp>
    </p:spTree>
    <p:extLst>
      <p:ext uri="{BB962C8B-B14F-4D97-AF65-F5344CB8AC3E}">
        <p14:creationId xmlns:p14="http://schemas.microsoft.com/office/powerpoint/2010/main" val="928329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14173</TotalTime>
  <Words>875</Words>
  <Application>Microsoft Office PowerPoint</Application>
  <PresentationFormat>On-screen Show (4:3)</PresentationFormat>
  <Paragraphs>230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2_Office Theme</vt:lpstr>
      <vt:lpstr>PowerPoint Presentation</vt:lpstr>
      <vt:lpstr>Course Outline</vt:lpstr>
      <vt:lpstr>Expectations</vt:lpstr>
      <vt:lpstr>Impact Areas</vt:lpstr>
      <vt:lpstr>Impact Areas</vt:lpstr>
      <vt:lpstr>Software Trends</vt:lpstr>
      <vt:lpstr>Moore’s Law</vt:lpstr>
      <vt:lpstr>Moore’s Law</vt:lpstr>
      <vt:lpstr>Dealing With Complexity</vt:lpstr>
      <vt:lpstr>Metrics: Performance</vt:lpstr>
      <vt:lpstr>Metrics: Performance</vt:lpstr>
      <vt:lpstr>Metrics: Performance (MIPS)</vt:lpstr>
      <vt:lpstr>Metrics: Performance (MFLOPs)</vt:lpstr>
      <vt:lpstr>Metrics: Performance (GHz)</vt:lpstr>
      <vt:lpstr>Metrics: Availability</vt:lpstr>
      <vt:lpstr>Metrics: Power</vt:lpstr>
      <vt:lpstr>Sources</vt:lpstr>
    </vt:vector>
  </TitlesOfParts>
  <Manager>P3E</Manager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P3E Presentation Template</dc:title>
  <dc:subject>P3E</dc:subject>
  <dc:creator>Kevin Lawson</dc:creator>
  <cp:lastModifiedBy>Argenis Bilbao</cp:lastModifiedBy>
  <cp:revision>1480</cp:revision>
  <dcterms:created xsi:type="dcterms:W3CDTF">2007-11-05T15:07:41Z</dcterms:created>
  <dcterms:modified xsi:type="dcterms:W3CDTF">2026-01-21T15:10:14Z</dcterms:modified>
</cp:coreProperties>
</file>