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17"/>
  </p:notesMasterIdLst>
  <p:handoutMasterIdLst>
    <p:handoutMasterId r:id="rId18"/>
  </p:handoutMasterIdLst>
  <p:sldIdLst>
    <p:sldId id="262" r:id="rId2"/>
    <p:sldId id="415" r:id="rId3"/>
    <p:sldId id="449" r:id="rId4"/>
    <p:sldId id="450" r:id="rId5"/>
    <p:sldId id="451" r:id="rId6"/>
    <p:sldId id="461" r:id="rId7"/>
    <p:sldId id="452" r:id="rId8"/>
    <p:sldId id="453" r:id="rId9"/>
    <p:sldId id="455" r:id="rId10"/>
    <p:sldId id="456" r:id="rId11"/>
    <p:sldId id="457" r:id="rId12"/>
    <p:sldId id="458" r:id="rId13"/>
    <p:sldId id="459" r:id="rId14"/>
    <p:sldId id="460" r:id="rId15"/>
    <p:sldId id="430" r:id="rId16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5449E1"/>
    <a:srgbClr val="210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 / ECE5375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Branch Prediction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Correlating predictor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Gshare</a:t>
            </a:r>
            <a:r>
              <a:rPr lang="en-US" dirty="0"/>
              <a:t> predictor.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Perceptron predictor.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Prediction, Why?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beyond branch boundaries before the branch is resolved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 Speculation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Avoid stall, performance increases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Incorrect Speculation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Abort/squash/flush incorrect instructions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Undo any incorrect state changes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types: </a:t>
            </a:r>
            <a:r>
              <a:rPr lang="en-US" b="1" dirty="0"/>
              <a:t>Static</a:t>
            </a:r>
            <a:r>
              <a:rPr lang="en-US" dirty="0"/>
              <a:t> and </a:t>
            </a:r>
            <a:r>
              <a:rPr lang="en-US" b="1" dirty="0"/>
              <a:t>dynamic</a:t>
            </a:r>
            <a:r>
              <a:rPr lang="en-US" dirty="0"/>
              <a:t> branch 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6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Branch Prediction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Simplest branch prediction 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 assume forward branches not taken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E.g. assume backward branches are taken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Branch Prediction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 behavior is monitored during program execution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History data can influence prediction of future executions of the branch instruction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Branches instruction execution has two tasks/predictions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evaluation (taken or not-taken)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Target address calculation (where to go when taken)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prediction also applies to unconditional branches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 Target Prediction: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Tries to guess to which address the PC must be set to before evaluation is completed.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Branch history tables, 2-bit predictor, hybrid predictors</a:t>
            </a:r>
          </a:p>
        </p:txBody>
      </p:sp>
    </p:spTree>
    <p:extLst>
      <p:ext uri="{BB962C8B-B14F-4D97-AF65-F5344CB8AC3E}">
        <p14:creationId xmlns:p14="http://schemas.microsoft.com/office/powerpoint/2010/main" val="296727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 and 2-bit branch predictors exploit most recent history of the current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Realization! Branches are often correlated. This fact may be exploited to gain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branch outcome may be correlated with past outcomes of the same branch, not just the most recent outcome!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branch outcome may be correlated with past outcomes of other branches.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Correlating Branch Predictors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73554"/>
            <a:ext cx="7848600" cy="731519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Branch Prediction Table</a:t>
            </a:r>
            <a:br>
              <a:rPr lang="en-US" dirty="0"/>
            </a:br>
            <a:r>
              <a:rPr lang="en-US" dirty="0"/>
              <a:t>1-bit predictor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1-bit values to indicate whether the branch is predicted to be taken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lower N bits of the branch address are used to index this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prediction fails, the CPU flips this bit and flushes</a:t>
            </a:r>
            <a:br>
              <a:rPr lang="en-US" dirty="0"/>
            </a:br>
            <a:r>
              <a:rPr lang="en-US" dirty="0"/>
              <a:t>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Somewhat accurate for long loops.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very accurate for short loops or</a:t>
            </a:r>
            <a:br>
              <a:rPr lang="en-US" dirty="0"/>
            </a:br>
            <a:r>
              <a:rPr lang="en-US" dirty="0"/>
              <a:t>if statements.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Ex: Loop that repeats 3 times.</a:t>
            </a:r>
            <a:br>
              <a:rPr lang="en-US" dirty="0"/>
            </a:br>
            <a:r>
              <a:rPr lang="en-US" dirty="0"/>
              <a:t>First and last iteration will be wrong.</a:t>
            </a:r>
          </a:p>
          <a:p>
            <a:r>
              <a:rPr lang="en-US" dirty="0"/>
              <a:t>33% accuracy</a:t>
            </a:r>
          </a:p>
        </p:txBody>
      </p:sp>
      <p:pic>
        <p:nvPicPr>
          <p:cNvPr id="6" name="Picture 2" descr="lecture646-week-8">
            <a:extLst>
              <a:ext uri="{FF2B5EF4-FFF2-40B4-BE49-F238E27FC236}">
                <a16:creationId xmlns:a16="http://schemas.microsoft.com/office/drawing/2014/main" id="{03F455BA-5A5C-0488-9A12-A7DF632F2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450" y="4294092"/>
            <a:ext cx="4939356" cy="191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00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prediction mechanism changes a prediction only if two successive mispredictions occur.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2-bits are stored in the prediction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states correspond to a taken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states correspond to a not taken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Advantage: a few atypical branches will not influence the prediction.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Especially useful when multiple branches share the same counter/</a:t>
            </a:r>
            <a:r>
              <a:rPr lang="en-US"/>
              <a:t>table index.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practice misprediction rates for 2-bit predictors with 4096 entries in the table range from 1% to 18%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26AD19-3BA0-83F8-8819-843999535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88" y="5192769"/>
            <a:ext cx="57150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Branch 2-Bit Predictor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939EE-4BEC-EBC3-251F-95ACAB68009A}"/>
              </a:ext>
            </a:extLst>
          </p:cNvPr>
          <p:cNvSpPr txBox="1"/>
          <p:nvPr/>
        </p:nvSpPr>
        <p:spPr>
          <a:xfrm>
            <a:off x="4598825" y="5543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6FD49-E018-8C53-4E22-2DE9DFC662A5}"/>
              </a:ext>
            </a:extLst>
          </p:cNvPr>
          <p:cNvSpPr txBox="1"/>
          <p:nvPr/>
        </p:nvSpPr>
        <p:spPr>
          <a:xfrm>
            <a:off x="5761515" y="550298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2CB64-CFB7-CF9A-A697-52FA5AA84086}"/>
              </a:ext>
            </a:extLst>
          </p:cNvPr>
          <p:cNvSpPr txBox="1"/>
          <p:nvPr/>
        </p:nvSpPr>
        <p:spPr>
          <a:xfrm>
            <a:off x="8076056" y="5501821"/>
            <a:ext cx="42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FDFDA-8231-4D5A-D600-B16B1C325514}"/>
              </a:ext>
            </a:extLst>
          </p:cNvPr>
          <p:cNvSpPr txBox="1"/>
          <p:nvPr/>
        </p:nvSpPr>
        <p:spPr>
          <a:xfrm>
            <a:off x="6926255" y="55434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8074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level: Global branch history table (BHT)/GHR - N bits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Describes the direction of the last N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level: A table of saturating counters indexed by each of the entries in </a:t>
            </a:r>
            <a:r>
              <a:rPr lang="en-US"/>
              <a:t>the GHR </a:t>
            </a:r>
            <a:r>
              <a:rPr lang="en-US" dirty="0"/>
              <a:t>– Pattern History Table (PHT)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Correlating Branch Predictors (Two-level)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C68692-F3C5-357A-A370-00C5569CC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2605480"/>
            <a:ext cx="8598342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1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Sharing PHTs between histories or branches leads to interference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branches map to the same PHT entry and modify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Interference can be positive, negative, or neutral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Interference can be</a:t>
            </a:r>
            <a:br>
              <a:rPr lang="en-US" dirty="0"/>
            </a:br>
            <a:r>
              <a:rPr lang="en-US" dirty="0"/>
              <a:t>eliminated by dedicating</a:t>
            </a:r>
            <a:br>
              <a:rPr lang="en-US" dirty="0"/>
            </a:br>
            <a:r>
              <a:rPr lang="en-US" dirty="0"/>
              <a:t>a PHT per 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 expensive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else can we eliminate</a:t>
            </a:r>
            <a:br>
              <a:rPr lang="en-US" dirty="0"/>
            </a:br>
            <a:r>
              <a:rPr lang="en-US" dirty="0"/>
              <a:t>or reduce interference?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Interference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FB9D6-E620-C904-B49A-8F03B238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987" y="2341935"/>
            <a:ext cx="5531134" cy="39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1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size </a:t>
            </a:r>
            <a:r>
              <a:rPr lang="en-US"/>
              <a:t>of BHT / PHT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 filtering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Detect biased branches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Use static prediction as previously mentioned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Hashing / Index-randomization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Gshare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Gskew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Agree prediction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Reducing Interference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5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Randomize the indexing function into the PHT such that probability of two branches mapping to the same entry reduces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Gshare</a:t>
            </a:r>
            <a:r>
              <a:rPr lang="en-US" dirty="0"/>
              <a:t> predictor: BHT hashed with the Branch address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Better utilization of PHT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More context information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Increases access latency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Gshare</a:t>
            </a:r>
            <a:r>
              <a:rPr lang="en-US" sz="3200" dirty="0"/>
              <a:t> Predictor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43AA5-CD12-F675-31A2-DB3DC071B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646" y="3516005"/>
            <a:ext cx="5397777" cy="2978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BC8C30-7A0C-BB17-59EB-0248A4FD44F0}"/>
              </a:ext>
            </a:extLst>
          </p:cNvPr>
          <p:cNvSpPr txBox="1"/>
          <p:nvPr/>
        </p:nvSpPr>
        <p:spPr>
          <a:xfrm>
            <a:off x="3155646" y="5159829"/>
            <a:ext cx="230935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Branch History Table</a:t>
            </a:r>
          </a:p>
        </p:txBody>
      </p:sp>
    </p:spTree>
    <p:extLst>
      <p:ext uri="{BB962C8B-B14F-4D97-AF65-F5344CB8AC3E}">
        <p14:creationId xmlns:p14="http://schemas.microsoft.com/office/powerpoint/2010/main" val="175631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0844B9-C711-D745-BA42-F7938522F227}"/>
                  </a:ext>
                </a:extLst>
              </p:cNvPr>
              <p:cNvSpPr txBox="1"/>
              <p:nvPr/>
            </p:nvSpPr>
            <p:spPr>
              <a:xfrm>
                <a:off x="326571" y="1128152"/>
                <a:ext cx="851460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Perceptron (2001)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Basis in AI (1962)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Computes Boolean result based on multiple weighted inputs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Adapted for branch prediction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from branch history (1 for taken, -1 for not taken)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incremented whenever branch outcome matches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Find correlation between current branch and prior branches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0844B9-C711-D745-BA42-F7938522F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" y="1128152"/>
                <a:ext cx="8514608" cy="3139321"/>
              </a:xfrm>
              <a:prstGeom prst="rect">
                <a:avLst/>
              </a:prstGeom>
              <a:blipFill>
                <a:blip r:embed="rId2"/>
                <a:stretch>
                  <a:fillRect l="-501" t="-971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Perceptron Branch Prediction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78AA72-CCA3-E6BA-2618-6152673369E6}"/>
                  </a:ext>
                </a:extLst>
              </p:cNvPr>
              <p:cNvSpPr txBox="1"/>
              <p:nvPr/>
            </p:nvSpPr>
            <p:spPr>
              <a:xfrm>
                <a:off x="5177642" y="5143655"/>
                <a:ext cx="192648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78AA72-CCA3-E6BA-2618-61526733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642" y="5143655"/>
                <a:ext cx="1926488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89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Perceptron </a:t>
            </a:r>
            <a:r>
              <a:rPr lang="en-US" sz="3200"/>
              <a:t>- Performance</a:t>
            </a:r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3/2/2026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3741A1-12B5-AAB9-72D4-BAA8E124F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26" y="1001366"/>
            <a:ext cx="4901148" cy="54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25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https://course.ece.cmu.edu/~ece740/f15/lib/exe/fetch.php?media=18-740-fall15-lecture05-branch-prediction-afterlecture.pdf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14999</TotalTime>
  <Words>732</Words>
  <Application>Microsoft Office PowerPoint</Application>
  <PresentationFormat>On-screen Show (4:3)</PresentationFormat>
  <Paragraphs>172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2_Office Theme</vt:lpstr>
      <vt:lpstr>PowerPoint Presentation</vt:lpstr>
      <vt:lpstr>Presentation Outline</vt:lpstr>
      <vt:lpstr>Branch Prediction, Why?</vt:lpstr>
      <vt:lpstr>Static Branch Prediction</vt:lpstr>
      <vt:lpstr>Dynamic Branch Prediction</vt:lpstr>
      <vt:lpstr>Correlating Branch Predictors</vt:lpstr>
      <vt:lpstr>Dynamic Branch Prediction Table 1-bit predictor</vt:lpstr>
      <vt:lpstr>Dynamic Branch 2-Bit Predictor</vt:lpstr>
      <vt:lpstr>Correlating Branch Predictors (Two-level)</vt:lpstr>
      <vt:lpstr>Interference</vt:lpstr>
      <vt:lpstr>Reducing Interference</vt:lpstr>
      <vt:lpstr>Gshare Predictor</vt:lpstr>
      <vt:lpstr>Perceptron Branch Prediction</vt:lpstr>
      <vt:lpstr>Perceptron - Performance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1482</cp:revision>
  <dcterms:created xsi:type="dcterms:W3CDTF">2007-11-05T15:07:41Z</dcterms:created>
  <dcterms:modified xsi:type="dcterms:W3CDTF">2026-03-02T14:53:52Z</dcterms:modified>
</cp:coreProperties>
</file>