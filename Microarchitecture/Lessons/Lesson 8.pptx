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1">
  <p:sldMasterIdLst>
    <p:sldMasterId id="2147483833" r:id="rId1"/>
  </p:sldMasterIdLst>
  <p:notesMasterIdLst>
    <p:notesMasterId r:id="rId23"/>
  </p:notesMasterIdLst>
  <p:handoutMasterIdLst>
    <p:handoutMasterId r:id="rId24"/>
  </p:handoutMasterIdLst>
  <p:sldIdLst>
    <p:sldId id="262" r:id="rId2"/>
    <p:sldId id="415" r:id="rId3"/>
    <p:sldId id="454" r:id="rId4"/>
    <p:sldId id="455" r:id="rId5"/>
    <p:sldId id="456" r:id="rId6"/>
    <p:sldId id="457" r:id="rId7"/>
    <p:sldId id="458" r:id="rId8"/>
    <p:sldId id="459" r:id="rId9"/>
    <p:sldId id="460" r:id="rId10"/>
    <p:sldId id="461" r:id="rId11"/>
    <p:sldId id="462" r:id="rId12"/>
    <p:sldId id="463" r:id="rId13"/>
    <p:sldId id="464" r:id="rId14"/>
    <p:sldId id="465" r:id="rId15"/>
    <p:sldId id="466" r:id="rId16"/>
    <p:sldId id="467" r:id="rId17"/>
    <p:sldId id="468" r:id="rId18"/>
    <p:sldId id="469" r:id="rId19"/>
    <p:sldId id="470" r:id="rId20"/>
    <p:sldId id="471" r:id="rId21"/>
    <p:sldId id="430" r:id="rId22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FF33"/>
    <a:srgbClr val="5449E1"/>
    <a:srgbClr val="210C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99548" autoAdjust="0"/>
  </p:normalViewPr>
  <p:slideViewPr>
    <p:cSldViewPr snapToGrid="0">
      <p:cViewPr varScale="1">
        <p:scale>
          <a:sx n="52" d="100"/>
          <a:sy n="52" d="100"/>
        </p:scale>
        <p:origin x="16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480"/>
    </p:cViewPr>
  </p:sorterViewPr>
  <p:notesViewPr>
    <p:cSldViewPr snapToGrid="0">
      <p:cViewPr varScale="1">
        <p:scale>
          <a:sx n="85" d="100"/>
          <a:sy n="85" d="100"/>
        </p:scale>
        <p:origin x="-3786" y="-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D84709DF-3BD8-402F-80E3-8C612EC5F261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F4709C4-D4EF-4A59-93AC-CDE74B2DB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17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E4D6C9-0F27-4334-9BAD-4BF9A16E0770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767"/>
            <a:ext cx="5608320" cy="415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45158B6-2379-4B93-B466-8093E86C68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05300"/>
            <a:ext cx="6400800" cy="7715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91368"/>
            <a:ext cx="7848600" cy="731519"/>
          </a:xfrm>
        </p:spPr>
        <p:txBody>
          <a:bodyPr>
            <a:normAutofit/>
          </a:bodyPr>
          <a:lstStyle>
            <a:lvl1pPr>
              <a:defRPr sz="4000" b="1" kern="3000" spc="-1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797"/>
          <a:stretch/>
        </p:blipFill>
        <p:spPr>
          <a:xfrm>
            <a:off x="87410" y="82255"/>
            <a:ext cx="512666" cy="749746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4572000" y="981075"/>
            <a:ext cx="0" cy="545782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77042" y="3543300"/>
            <a:ext cx="8989916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161925" y="981075"/>
            <a:ext cx="4257675" cy="2438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87313" y="3709988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4734671" y="3709987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734671" y="981075"/>
            <a:ext cx="4332287" cy="242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  <p:extLst>
      <p:ext uri="{BB962C8B-B14F-4D97-AF65-F5344CB8AC3E}">
        <p14:creationId xmlns:p14="http://schemas.microsoft.com/office/powerpoint/2010/main" val="161356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78486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373063" y="6591300"/>
            <a:ext cx="1752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5C08211-4AFA-4DCC-83B4-664F54295857}" type="datetime1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6913" y="6591300"/>
            <a:ext cx="2782887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2950" y="6551613"/>
            <a:ext cx="205105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B77A210C-9675-4AF8-BB4A-75C22F228B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ocality_of_reference#:~:text=There%20are%20two%20basic%20types,within%20relatively%20close%20storage%20locations" TargetMode="External"/><Relationship Id="rId2" Type="http://schemas.openxmlformats.org/officeDocument/2006/relationships/hyperlink" Target="http://www.eecs.harvard.edu/cs146-246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DDR5_SDRA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903672"/>
            <a:ext cx="7315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ECE4375 / ECE5375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Argenis Bilbao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01435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Presentation Outline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766046"/>
            <a:ext cx="7848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Introduction to Caches and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82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CPU is much, much faster than the bulk of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Ideally memory is unlimited and extremely fast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Fast memory is very expensive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Large amounts of memory can be slow due to propagation delay accumulation and other factors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Tradeoffs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Cost-speed and Size-speed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Solution: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Smaller, faster expensive memory close to CPU or “cache”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Most caches are made with SRAM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Larger, slower, cheaper memory farther away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Most cheap memory is made with DRAM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Hierarchical Memory Model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37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Small, fast storage used to improve average access time to slow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Holds a subset of the instructions and data used by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Exploits spatial and temporal locality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Temporal locality refers to the reuse of specific data and/or resources within a relatively small-time duration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Spatial locality (also termed </a:t>
            </a: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data locality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refers to the use of data elements within relatively close storage locations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Cache Memory?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DA9451-B9E2-5B73-BAD4-31B9BB336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54" y="4120046"/>
            <a:ext cx="6629741" cy="232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2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computer architecture, almost everything is a cache of some sort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CPU registers are often used as cache on variables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First-level cache is a cache for second-level cache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Second-level cache is a cache for third-level cache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Third-level cache is a cache for main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Main memory is a cache to the disk storage sub-system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Caches are Everywhere!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05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Program Locality is Why Caches Work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539CE-94E4-26D8-8542-616B9D73FA63}"/>
              </a:ext>
            </a:extLst>
          </p:cNvPr>
          <p:cNvSpPr txBox="1"/>
          <p:nvPr/>
        </p:nvSpPr>
        <p:spPr>
          <a:xfrm>
            <a:off x="326571" y="1128152"/>
            <a:ext cx="85146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hierarchy exploit program locality: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Programs tend to reference parts of their address space that are local in time and space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Temporal locality: recently referenced addresses are likely to be referenced again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Spatial locality: If an address is referenced, nearby addresses are likely to be referenced soon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Programs that don’t exploit locality wont benefit from caches!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703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Terminology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539CE-94E4-26D8-8542-616B9D73FA63}"/>
              </a:ext>
            </a:extLst>
          </p:cNvPr>
          <p:cNvSpPr txBox="1"/>
          <p:nvPr/>
        </p:nvSpPr>
        <p:spPr>
          <a:xfrm>
            <a:off x="326571" y="1128152"/>
            <a:ext cx="851460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Levels in the hierarchy are physically closer to the 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each level a </a:t>
            </a:r>
            <a:r>
              <a:rPr lang="en-US" b="1" dirty="0"/>
              <a:t>block</a:t>
            </a:r>
            <a:r>
              <a:rPr lang="en-US" dirty="0"/>
              <a:t> is the minimum amount of data whose presence is checked at each 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Blocks are also often called </a:t>
            </a:r>
            <a:r>
              <a:rPr lang="en-US" b="1" dirty="0"/>
              <a:t>lines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Block size is always a power of 2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Block sizes of the lower levels are usually fixed multiples of block sizes of the higher levels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reference is said to </a:t>
            </a:r>
            <a:r>
              <a:rPr lang="en-US" b="1" dirty="0"/>
              <a:t>hit</a:t>
            </a:r>
            <a:r>
              <a:rPr lang="en-US" dirty="0"/>
              <a:t> a particular level if the block is found at that 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Hit Rate (HR) = hits/references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Miss Rate (MR) = </a:t>
            </a:r>
            <a:r>
              <a:rPr lang="en-US"/>
              <a:t>misses/references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time of a hit is the </a:t>
            </a:r>
            <a:r>
              <a:rPr lang="en-US" b="1" dirty="0"/>
              <a:t>hit time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additional time to fetch a block on a miss is called the </a:t>
            </a:r>
            <a:r>
              <a:rPr lang="en-US" b="1" dirty="0"/>
              <a:t>miss penalty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040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Terminology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539CE-94E4-26D8-8542-616B9D73FA63}"/>
              </a:ext>
            </a:extLst>
          </p:cNvPr>
          <p:cNvSpPr txBox="1"/>
          <p:nvPr/>
        </p:nvSpPr>
        <p:spPr>
          <a:xfrm>
            <a:off x="326571" y="1128152"/>
            <a:ext cx="85146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 Penalty = Access Time + Transfer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time is a function of latency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for memory to get request and process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Transfer time is a function of bandwidth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for all of block to get back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Miss penalty = A + B + C</a:t>
            </a:r>
          </a:p>
          <a:p>
            <a:endParaRPr lang="en-US" dirty="0"/>
          </a:p>
          <a:p>
            <a:r>
              <a:rPr lang="en-US" dirty="0"/>
              <a:t>Access time = A + B</a:t>
            </a:r>
          </a:p>
          <a:p>
            <a:endParaRPr lang="en-US" dirty="0"/>
          </a:p>
          <a:p>
            <a:r>
              <a:rPr lang="en-US" dirty="0"/>
              <a:t>Transfer time =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059225-C581-72EF-FB84-96965F65E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35" y="3159477"/>
            <a:ext cx="4643635" cy="19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98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Latency vs. Bandwidth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539CE-94E4-26D8-8542-616B9D73FA63}"/>
              </a:ext>
            </a:extLst>
          </p:cNvPr>
          <p:cNvSpPr txBox="1"/>
          <p:nvPr/>
        </p:nvSpPr>
        <p:spPr>
          <a:xfrm>
            <a:off x="326571" y="2060369"/>
            <a:ext cx="85146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Recall pipelining: We improved instruction bandwidth/throughput, but made latency worse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memory, to improve bandwidth we 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Use/make/design wider buses, larger block sizes, new DRAM organizations and technologies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Latency is much harder: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Must get request from cache to memory (off-chip)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Must do memory lookup (internal to memory module)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Must have information travel back on wire onto the on-chip cache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BD9B9F-3413-7D45-A87F-12B93E453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21" y="1041085"/>
            <a:ext cx="6578938" cy="10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71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DDR5 Module Bandwidth (32 GB):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Specification Says bandwidth is 4.8 Gb per second for base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scale up to 8.4 Gbps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 transistor and one capacitor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$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SRAM Bandwidth (18 Mb):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36 bits every 450ps </a:t>
            </a:r>
            <a:r>
              <a:rPr lang="en-US" b="1" dirty="0"/>
              <a:t>or</a:t>
            </a:r>
            <a:r>
              <a:rPr lang="en-US" dirty="0"/>
              <a:t> 36 bits 2.23 giga times per second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Chip bandwidth = 80 Gb per second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we use 2 chips for a 64-bit bus, we get a module bandwidth of 160 Gb per second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6-7 transistors per bit (flip-flop)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$$$$$$$$$$$$$$$$$$$$$$$$$$$$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SRAM vs. DRAM Bandwidth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302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DDR5 Module Latency: 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SRAM Latency (18 Mb):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450 </a:t>
            </a:r>
            <a:r>
              <a:rPr lang="en-US" dirty="0" err="1"/>
              <a:t>ps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SRAM vs. DRAM Latency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1F2CCC-628C-3035-FBF4-50A2AA75A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740803"/>
              </p:ext>
            </p:extLst>
          </p:nvPr>
        </p:nvGraphicFramePr>
        <p:xfrm>
          <a:off x="883420" y="1454285"/>
          <a:ext cx="6248745" cy="4389120"/>
        </p:xfrm>
        <a:graphic>
          <a:graphicData uri="http://schemas.openxmlformats.org/drawingml/2006/table">
            <a:tbl>
              <a:tblPr/>
              <a:tblGrid>
                <a:gridCol w="1249749">
                  <a:extLst>
                    <a:ext uri="{9D8B030D-6E8A-4147-A177-3AD203B41FA5}">
                      <a16:colId xmlns:a16="http://schemas.microsoft.com/office/drawing/2014/main" val="4022917061"/>
                    </a:ext>
                  </a:extLst>
                </a:gridCol>
                <a:gridCol w="1249749">
                  <a:extLst>
                    <a:ext uri="{9D8B030D-6E8A-4147-A177-3AD203B41FA5}">
                      <a16:colId xmlns:a16="http://schemas.microsoft.com/office/drawing/2014/main" val="1699623894"/>
                    </a:ext>
                  </a:extLst>
                </a:gridCol>
                <a:gridCol w="1249749">
                  <a:extLst>
                    <a:ext uri="{9D8B030D-6E8A-4147-A177-3AD203B41FA5}">
                      <a16:colId xmlns:a16="http://schemas.microsoft.com/office/drawing/2014/main" val="2324322801"/>
                    </a:ext>
                  </a:extLst>
                </a:gridCol>
                <a:gridCol w="1249749">
                  <a:extLst>
                    <a:ext uri="{9D8B030D-6E8A-4147-A177-3AD203B41FA5}">
                      <a16:colId xmlns:a16="http://schemas.microsoft.com/office/drawing/2014/main" val="336870761"/>
                    </a:ext>
                  </a:extLst>
                </a:gridCol>
                <a:gridCol w="1249749">
                  <a:extLst>
                    <a:ext uri="{9D8B030D-6E8A-4147-A177-3AD203B41FA5}">
                      <a16:colId xmlns:a16="http://schemas.microsoft.com/office/drawing/2014/main" val="1024931224"/>
                    </a:ext>
                  </a:extLst>
                </a:gridCol>
              </a:tblGrid>
              <a:tr h="688274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effectLst/>
                          <a:latin typeface="Barlow" panose="00000500000000000000" pitchFamily="2" charset="0"/>
                        </a:rPr>
                        <a:t>Technology</a:t>
                      </a:r>
                      <a:br>
                        <a:rPr lang="en-US" sz="1600" b="0" i="0" dirty="0">
                          <a:effectLst/>
                          <a:latin typeface="Barlow" panose="00000500000000000000" pitchFamily="2" charset="0"/>
                        </a:rPr>
                      </a:br>
                      <a:endParaRPr lang="en-US" sz="1600" b="0" i="0" dirty="0">
                        <a:effectLst/>
                        <a:latin typeface="Barlow" panose="00000500000000000000" pitchFamily="2" charset="0"/>
                      </a:endParaRP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effectLst/>
                          <a:latin typeface="Barlow" panose="00000500000000000000" pitchFamily="2" charset="0"/>
                        </a:rPr>
                        <a:t>Module Speed (MT/s)</a:t>
                      </a:r>
                      <a:br>
                        <a:rPr lang="en-US" sz="1600" b="0" i="0" dirty="0">
                          <a:effectLst/>
                          <a:latin typeface="Barlow" panose="00000500000000000000" pitchFamily="2" charset="0"/>
                        </a:rPr>
                      </a:br>
                      <a:endParaRPr lang="en-US" sz="1600" b="0" i="0" dirty="0">
                        <a:effectLst/>
                        <a:latin typeface="Barlow" panose="00000500000000000000" pitchFamily="2" charset="0"/>
                      </a:endParaRP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>
                          <a:effectLst/>
                          <a:latin typeface="Barlow" panose="00000500000000000000" pitchFamily="2" charset="0"/>
                        </a:rPr>
                        <a:t>Clock Cycle Time(ns)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>
                          <a:effectLst/>
                          <a:latin typeface="Barlow" panose="00000500000000000000" pitchFamily="2" charset="0"/>
                        </a:rPr>
                        <a:t>CAS Latency</a:t>
                      </a:r>
                      <a:br>
                        <a:rPr lang="en-US" sz="1600" b="0" i="0">
                          <a:effectLst/>
                          <a:latin typeface="Barlow" panose="00000500000000000000" pitchFamily="2" charset="0"/>
                        </a:rPr>
                      </a:br>
                      <a:endParaRPr lang="en-US" sz="1600" b="0" i="0">
                        <a:effectLst/>
                        <a:latin typeface="Barlow" panose="00000500000000000000" pitchFamily="2" charset="0"/>
                      </a:endParaRP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>
                          <a:effectLst/>
                          <a:latin typeface="Barlow" panose="00000500000000000000" pitchFamily="2" charset="0"/>
                        </a:rPr>
                        <a:t>Latency (ns)</a:t>
                      </a:r>
                      <a:br>
                        <a:rPr lang="en-US" sz="1600" b="0" i="0">
                          <a:effectLst/>
                          <a:latin typeface="Barlow" panose="00000500000000000000" pitchFamily="2" charset="0"/>
                        </a:rPr>
                      </a:br>
                      <a:endParaRPr lang="en-US" sz="1600" b="0" i="0">
                        <a:effectLst/>
                        <a:latin typeface="Barlow" panose="00000500000000000000" pitchFamily="2" charset="0"/>
                      </a:endParaRP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59601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SDR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8.00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24.00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919324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SDR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7.50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22.50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335037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DDR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333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6.00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2.5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15.00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530236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DDR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400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5.00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15.00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685410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DDR2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667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3.00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5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15.00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502653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DDR2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800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2.50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6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15.00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95862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DDR3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1333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1.50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9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13.50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362765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DDR3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1.25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13.75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837298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DDR4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1866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1.07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13.93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746416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DDR4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2133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0.94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15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14.06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684019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DDR4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2400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0.83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14.17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268693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DDR4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2666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0.75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19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14.25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891352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DDR4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2933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0.68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21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14.32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610452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DDR4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3200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0.62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22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13.75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90377"/>
                  </a:ext>
                </a:extLst>
              </a:tr>
              <a:tr h="2294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DDR5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4800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0.42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40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16.67</a:t>
                      </a:r>
                    </a:p>
                  </a:txBody>
                  <a:tcPr marL="0" marR="0" marT="0" marB="0" anchor="ctr">
                    <a:lnL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ED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483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262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DDR5 Module Latency: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Without cache CPU running at </a:t>
            </a:r>
            <a:r>
              <a:rPr lang="en-US"/>
              <a:t>5.8 GHz would </a:t>
            </a:r>
            <a:r>
              <a:rPr lang="en-US" dirty="0"/>
              <a:t>have to sit and wait for memory for ~96 cycles per transfer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Equivalent to cutting down the CPU frequency to 60 MHz if one transfer is performed per instruction fetched!!!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SRAM vs. DRAM Latency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13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Most basic caching questions: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How do we know if data item is in the cache?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If it is, how do we find it?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If it isn’t, how to we get it?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Caching Basics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832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Block placement policy?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Where does a block go when it is fetched?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Block identification policy?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How do we find a block in the cache?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Block replacement policy?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When fetching new information and the cache is full, under what conditions do we get another block kicked out?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Write strategy?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Does any of the above change for reads vs. writes?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More Detailed Questions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79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Direct-mapped cache: Each block has a specific spot in the cache. If it is in the cache, only one place for it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Makes block placement, ID, and replacement policies easy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Block Placement: Where does a block go when fetched?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goes to its one assigned spot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Block ID: How do we find a block in the cache?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look at the tags for that one assigned spot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Block replacement: What gets kicked out?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Whatever is in its assigned spot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8 locations in our cache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Block Size = 1 byte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Simple Cache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808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reference stream: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References to memory locations: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0,1,2,3,4,5,6,7,8,9,0,0,0,2,2,2,4,9,1,9,1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Entry = </a:t>
            </a:r>
            <a:r>
              <a:rPr lang="en-US" dirty="0" err="1"/>
              <a:t>address%cacheSize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Simple Cache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BD7952-E542-4D9A-7B18-368852F34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828" y="1594219"/>
            <a:ext cx="2004234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09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Simple Cache Example: Cycles 1 - 5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FE21A9-52A6-E4F0-5B4F-D1CD6A6A6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79287"/>
            <a:ext cx="7335819" cy="38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741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Simple Cache Example: Cycles 6 - 10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99D906-C67D-BD0C-A089-802647B37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77" y="1902252"/>
            <a:ext cx="6997446" cy="359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71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Simple Cache Example: Cycles 11 - 15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CBB230-5ECE-DFA5-CBB8-BCF7441AF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61" y="1758203"/>
            <a:ext cx="7569278" cy="388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25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Simple Cache Example: Cycles 16 - 21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432F0-7E7D-1F87-0710-DA771052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62" y="1651184"/>
            <a:ext cx="8041676" cy="409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04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CB018A-15B1-4C22-8FA2-A904A060C299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3/6/2026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BA28D0-02EE-4D85-89C2-55FF3BC2206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2"/>
              </a:rPr>
              <a:t>http://www.eecs.harvard.edu/cs146-246/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Assigned Textbook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3"/>
              </a:rPr>
              <a:t>https://en.wikipedia.org/wiki/Locality_of_reference#:~:text=There%20are%20two%20basic%20types,within%20relatively%20close%20storage%20locations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4"/>
              </a:rPr>
              <a:t>https://en.wikipedia.org/wiki/DDR5_SDRAM</a:t>
            </a:r>
            <a:endParaRPr lang="en-US" dirty="0">
              <a:solidFill>
                <a:prstClr val="black"/>
              </a:solidFill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32965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15257</TotalTime>
  <Words>1178</Words>
  <Application>Microsoft Office PowerPoint</Application>
  <PresentationFormat>On-screen Show (4:3)</PresentationFormat>
  <Paragraphs>322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Barlow</vt:lpstr>
      <vt:lpstr>Calibri</vt:lpstr>
      <vt:lpstr>Times New Roman</vt:lpstr>
      <vt:lpstr>2_Office Theme</vt:lpstr>
      <vt:lpstr>PowerPoint Presentation</vt:lpstr>
      <vt:lpstr>Presentation Outline</vt:lpstr>
      <vt:lpstr>Hierarchical Memory Model</vt:lpstr>
      <vt:lpstr>What is Cache Memory?</vt:lpstr>
      <vt:lpstr>Caches are Everywhere!</vt:lpstr>
      <vt:lpstr>Program Locality is Why Caches Work</vt:lpstr>
      <vt:lpstr>Terminology</vt:lpstr>
      <vt:lpstr>Terminology</vt:lpstr>
      <vt:lpstr>Latency vs. Bandwidth</vt:lpstr>
      <vt:lpstr>SRAM vs. DRAM Bandwidth</vt:lpstr>
      <vt:lpstr>SRAM vs. DRAM Latency</vt:lpstr>
      <vt:lpstr>SRAM vs. DRAM Latency</vt:lpstr>
      <vt:lpstr>Caching Basics</vt:lpstr>
      <vt:lpstr>More Detailed Questions</vt:lpstr>
      <vt:lpstr>Simple Cache Example</vt:lpstr>
      <vt:lpstr>Simple Cache Example</vt:lpstr>
      <vt:lpstr>Simple Cache Example: Cycles 1 - 5</vt:lpstr>
      <vt:lpstr>Simple Cache Example: Cycles 6 - 10</vt:lpstr>
      <vt:lpstr>Simple Cache Example: Cycles 11 - 15</vt:lpstr>
      <vt:lpstr>Simple Cache Example: Cycles 16 - 21</vt:lpstr>
      <vt:lpstr>Sources</vt:lpstr>
    </vt:vector>
  </TitlesOfParts>
  <Manager>P3E</Manager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P3E Presentation Template</dc:title>
  <dc:subject>P3E</dc:subject>
  <dc:creator>Kevin Lawson</dc:creator>
  <cp:lastModifiedBy>Argenis Bilbao</cp:lastModifiedBy>
  <cp:revision>1492</cp:revision>
  <dcterms:created xsi:type="dcterms:W3CDTF">2007-11-05T15:07:41Z</dcterms:created>
  <dcterms:modified xsi:type="dcterms:W3CDTF">2026-03-06T14:39:01Z</dcterms:modified>
</cp:coreProperties>
</file>